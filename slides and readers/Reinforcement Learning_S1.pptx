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notesMasterIdLst>
    <p:notesMasterId r:id="rId38"/>
  </p:notesMasterIdLst>
  <p:sldIdLst>
    <p:sldId id="309" r:id="rId5"/>
    <p:sldId id="321" r:id="rId6"/>
    <p:sldId id="263" r:id="rId7"/>
    <p:sldId id="313" r:id="rId8"/>
    <p:sldId id="260" r:id="rId9"/>
    <p:sldId id="323" r:id="rId10"/>
    <p:sldId id="326" r:id="rId11"/>
    <p:sldId id="344" r:id="rId12"/>
    <p:sldId id="423" r:id="rId13"/>
    <p:sldId id="347" r:id="rId14"/>
    <p:sldId id="274" r:id="rId15"/>
    <p:sldId id="275" r:id="rId16"/>
    <p:sldId id="357" r:id="rId17"/>
    <p:sldId id="358" r:id="rId18"/>
    <p:sldId id="354" r:id="rId19"/>
    <p:sldId id="512" r:id="rId20"/>
    <p:sldId id="489" r:id="rId21"/>
    <p:sldId id="392" r:id="rId22"/>
    <p:sldId id="399" r:id="rId23"/>
    <p:sldId id="393" r:id="rId24"/>
    <p:sldId id="394" r:id="rId25"/>
    <p:sldId id="396" r:id="rId26"/>
    <p:sldId id="395" r:id="rId27"/>
    <p:sldId id="397" r:id="rId28"/>
    <p:sldId id="398" r:id="rId29"/>
    <p:sldId id="494" r:id="rId30"/>
    <p:sldId id="352" r:id="rId31"/>
    <p:sldId id="491" r:id="rId32"/>
    <p:sldId id="493" r:id="rId33"/>
    <p:sldId id="492" r:id="rId34"/>
    <p:sldId id="442" r:id="rId35"/>
    <p:sldId id="502" r:id="rId36"/>
    <p:sldId id="361" r:id="rId37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4ADC"/>
    <a:srgbClr val="2F3245"/>
    <a:srgbClr val="518F6A"/>
    <a:srgbClr val="4472C4"/>
    <a:srgbClr val="CBCBCB"/>
    <a:srgbClr val="EE96C0"/>
    <a:srgbClr val="FBDAEB"/>
    <a:srgbClr val="75674F"/>
    <a:srgbClr val="8F4717"/>
    <a:srgbClr val="F0A3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88" autoAdjust="0"/>
    <p:restoredTop sz="82123" autoAdjust="0"/>
  </p:normalViewPr>
  <p:slideViewPr>
    <p:cSldViewPr snapToGrid="0">
      <p:cViewPr varScale="1">
        <p:scale>
          <a:sx n="103" d="100"/>
          <a:sy n="103" d="100"/>
        </p:scale>
        <p:origin x="16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ssavat,Iman S.I." userId="2fc35bef-1e74-4f2a-8cd9-22dc0d049874" providerId="ADAL" clId="{51D11529-0CF3-57D3-80A7-4BCA470D3E3A}"/>
    <pc:docChg chg="undo custSel addSld delSld modSld sldOrd">
      <pc:chgData name="Mossavat,Iman S.I." userId="2fc35bef-1e74-4f2a-8cd9-22dc0d049874" providerId="ADAL" clId="{51D11529-0CF3-57D3-80A7-4BCA470D3E3A}" dt="2026-06-17T08:36:44.508" v="2184" actId="2696"/>
      <pc:docMkLst>
        <pc:docMk/>
      </pc:docMkLst>
      <pc:sldChg chg="del">
        <pc:chgData name="Mossavat,Iman S.I." userId="2fc35bef-1e74-4f2a-8cd9-22dc0d049874" providerId="ADAL" clId="{51D11529-0CF3-57D3-80A7-4BCA470D3E3A}" dt="2026-06-17T08:36:44.508" v="2184" actId="2696"/>
        <pc:sldMkLst>
          <pc:docMk/>
          <pc:sldMk cId="4277543027" sldId="319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hyperlink" Target="https://fhict.instructure.com/courses/13057/modules/items/921378" TargetMode="External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image" Target="../media/image28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svg"/><Relationship Id="rId1" Type="http://schemas.openxmlformats.org/officeDocument/2006/relationships/image" Target="../media/image30.svg"/><Relationship Id="rId5" Type="http://schemas.openxmlformats.org/officeDocument/2006/relationships/image" Target="../media/image34.svg"/><Relationship Id="rId4" Type="http://schemas.openxmlformats.org/officeDocument/2006/relationships/image" Target="../media/image33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svg"/><Relationship Id="rId1" Type="http://schemas.openxmlformats.org/officeDocument/2006/relationships/image" Target="../media/image36.svg"/><Relationship Id="rId4" Type="http://schemas.openxmlformats.org/officeDocument/2006/relationships/image" Target="../media/image3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Relationship Id="rId5" Type="http://schemas.openxmlformats.org/officeDocument/2006/relationships/hyperlink" Target="https://fhict.instructure.com/courses/13057/modules/items/921378" TargetMode="External"/><Relationship Id="rId4" Type="http://schemas.openxmlformats.org/officeDocument/2006/relationships/image" Target="../media/image24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image" Target="../media/image28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svg"/><Relationship Id="rId1" Type="http://schemas.openxmlformats.org/officeDocument/2006/relationships/image" Target="../media/image30.svg"/><Relationship Id="rId5" Type="http://schemas.openxmlformats.org/officeDocument/2006/relationships/image" Target="../media/image34.svg"/><Relationship Id="rId4" Type="http://schemas.openxmlformats.org/officeDocument/2006/relationships/image" Target="../media/image33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svg"/><Relationship Id="rId1" Type="http://schemas.openxmlformats.org/officeDocument/2006/relationships/image" Target="../media/image36.svg"/><Relationship Id="rId4" Type="http://schemas.openxmlformats.org/officeDocument/2006/relationships/image" Target="../media/image3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1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1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#10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87D9C8-BC35-4752-902B-7AB02A3A95C3}" type="doc">
      <dgm:prSet loTypeId="urn:microsoft.com/office/officeart/2018/2/layout/IconCircleList" loCatId="icon" qsTypeId="urn:microsoft.com/office/officeart/2005/8/quickstyle/simple1#78" qsCatId="simple" csTypeId="urn:microsoft.com/office/officeart/2005/8/colors/accent1_2#13" csCatId="accent1" phldr="1"/>
      <dgm:spPr/>
      <dgm:t>
        <a:bodyPr/>
        <a:lstStyle/>
        <a:p>
          <a:endParaRPr lang="en-US"/>
        </a:p>
      </dgm:t>
    </dgm:pt>
    <dgm:pt modelId="{3FB2E239-21F3-4588-A35A-1CD9E7C92F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Reinforcement learning from human feedback (RLHF): use in </a:t>
          </a:r>
          <a:r>
            <a:rPr lang="en-US" b="0" i="0" dirty="0" err="1"/>
            <a:t>ChatGPT</a:t>
          </a:r>
          <a:endParaRPr lang="en-US" dirty="0"/>
        </a:p>
      </dgm:t>
    </dgm:pt>
    <dgm:pt modelId="{54F93929-954F-426D-AD96-FF2B1F3AF26E}" type="parTrans" cxnId="{6967E31A-8101-452D-AC6B-389FAD34457D}">
      <dgm:prSet/>
      <dgm:spPr/>
      <dgm:t>
        <a:bodyPr/>
        <a:lstStyle/>
        <a:p>
          <a:endParaRPr lang="en-US"/>
        </a:p>
      </dgm:t>
    </dgm:pt>
    <dgm:pt modelId="{D3329A29-639D-4B6D-8DB9-F57EBC725805}" type="sibTrans" cxnId="{6967E31A-8101-452D-AC6B-389FAD34457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AC26216-16E0-4141-8741-D4831F48837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Accelerating fusion science through learned plasma control</a:t>
          </a:r>
          <a:endParaRPr lang="en-US"/>
        </a:p>
      </dgm:t>
    </dgm:pt>
    <dgm:pt modelId="{CFD2ED10-D334-468F-B70E-091D46F07339}" type="parTrans" cxnId="{07033854-2D75-4C16-8DEA-CF3DF18229F1}">
      <dgm:prSet/>
      <dgm:spPr/>
      <dgm:t>
        <a:bodyPr/>
        <a:lstStyle/>
        <a:p>
          <a:endParaRPr lang="en-US"/>
        </a:p>
      </dgm:t>
    </dgm:pt>
    <dgm:pt modelId="{5C7769CF-2C01-434B-A18E-2B700E1DC68F}" type="sibTrans" cxnId="{07033854-2D75-4C16-8DEA-CF3DF18229F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1A3A41F-B148-4255-A40D-163494862AC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Alpha Tensor: </a:t>
          </a:r>
          <a:r>
            <a:rPr lang="en-US" b="0" i="1" dirty="0"/>
            <a:t>discovering new algorithms </a:t>
          </a:r>
          <a:endParaRPr lang="en-US" dirty="0"/>
        </a:p>
      </dgm:t>
    </dgm:pt>
    <dgm:pt modelId="{DAC9983B-6D4D-475C-99A7-8C7AFAAABB6C}" type="parTrans" cxnId="{392DAADE-5A19-4AE0-B850-D1EB9FE28013}">
      <dgm:prSet/>
      <dgm:spPr/>
      <dgm:t>
        <a:bodyPr/>
        <a:lstStyle/>
        <a:p>
          <a:endParaRPr lang="en-US"/>
        </a:p>
      </dgm:t>
    </dgm:pt>
    <dgm:pt modelId="{BA589476-7401-45B5-AA04-B9C544C44060}" type="sibTrans" cxnId="{392DAADE-5A19-4AE0-B850-D1EB9FE2801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02D3B73-A448-4123-A8BD-B30EF99FFF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References in </a:t>
          </a:r>
          <a:r>
            <a:rPr lang="en-US" b="0" i="0" dirty="0">
              <a:hlinkClick xmlns:r="http://schemas.openxmlformats.org/officeDocument/2006/relationships" r:id="rId1"/>
            </a:rPr>
            <a:t>RL - Theoretical background</a:t>
          </a:r>
          <a:endParaRPr lang="en-US" dirty="0"/>
        </a:p>
      </dgm:t>
    </dgm:pt>
    <dgm:pt modelId="{2E5E27E3-A2AD-45C0-BC1D-A10518634D07}" type="parTrans" cxnId="{19E81C08-9A78-4AD4-84D4-8F0DF2A4E8F3}">
      <dgm:prSet/>
      <dgm:spPr/>
      <dgm:t>
        <a:bodyPr/>
        <a:lstStyle/>
        <a:p>
          <a:endParaRPr lang="en-US"/>
        </a:p>
      </dgm:t>
    </dgm:pt>
    <dgm:pt modelId="{03F6625B-140D-4EDA-9CE6-640952CDFE34}" type="sibTrans" cxnId="{19E81C08-9A78-4AD4-84D4-8F0DF2A4E8F3}">
      <dgm:prSet/>
      <dgm:spPr/>
      <dgm:t>
        <a:bodyPr/>
        <a:lstStyle/>
        <a:p>
          <a:endParaRPr lang="en-US"/>
        </a:p>
      </dgm:t>
    </dgm:pt>
    <dgm:pt modelId="{A8702B94-67EA-4E6F-968F-11958DBF0E0E}" type="pres">
      <dgm:prSet presAssocID="{D787D9C8-BC35-4752-902B-7AB02A3A95C3}" presName="root" presStyleCnt="0">
        <dgm:presLayoutVars>
          <dgm:dir/>
          <dgm:resizeHandles val="exact"/>
        </dgm:presLayoutVars>
      </dgm:prSet>
      <dgm:spPr/>
    </dgm:pt>
    <dgm:pt modelId="{C8332950-9B48-4C90-9325-4F10CE3BF498}" type="pres">
      <dgm:prSet presAssocID="{D787D9C8-BC35-4752-902B-7AB02A3A95C3}" presName="container" presStyleCnt="0">
        <dgm:presLayoutVars>
          <dgm:dir/>
          <dgm:resizeHandles val="exact"/>
        </dgm:presLayoutVars>
      </dgm:prSet>
      <dgm:spPr/>
    </dgm:pt>
    <dgm:pt modelId="{6E1173EF-C0C7-4C94-9F17-5629B69159DB}" type="pres">
      <dgm:prSet presAssocID="{3FB2E239-21F3-4588-A35A-1CD9E7C92F30}" presName="compNode" presStyleCnt="0"/>
      <dgm:spPr/>
    </dgm:pt>
    <dgm:pt modelId="{1F5A836D-F42C-45F3-9553-0A8756F976FE}" type="pres">
      <dgm:prSet presAssocID="{3FB2E239-21F3-4588-A35A-1CD9E7C92F30}" presName="iconBgRect" presStyleLbl="bgShp" presStyleIdx="0" presStyleCnt="4"/>
      <dgm:spPr/>
    </dgm:pt>
    <dgm:pt modelId="{0FE4D669-57A2-4EB9-84CE-FF5CCC85326A}" type="pres">
      <dgm:prSet presAssocID="{3FB2E239-21F3-4588-A35A-1CD9E7C92F3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D7931931-C2FB-409B-8A78-A78EA5503292}" type="pres">
      <dgm:prSet presAssocID="{3FB2E239-21F3-4588-A35A-1CD9E7C92F30}" presName="spaceRect" presStyleCnt="0"/>
      <dgm:spPr/>
    </dgm:pt>
    <dgm:pt modelId="{117C5672-0280-4FE2-89C0-EB3975300C12}" type="pres">
      <dgm:prSet presAssocID="{3FB2E239-21F3-4588-A35A-1CD9E7C92F30}" presName="textRect" presStyleLbl="revTx" presStyleIdx="0" presStyleCnt="4">
        <dgm:presLayoutVars>
          <dgm:chMax val="1"/>
          <dgm:chPref val="1"/>
        </dgm:presLayoutVars>
      </dgm:prSet>
      <dgm:spPr/>
    </dgm:pt>
    <dgm:pt modelId="{DAC9A711-524A-48E4-B1D2-29E4A4928597}" type="pres">
      <dgm:prSet presAssocID="{D3329A29-639D-4B6D-8DB9-F57EBC725805}" presName="sibTrans" presStyleLbl="sibTrans2D1" presStyleIdx="0" presStyleCnt="0"/>
      <dgm:spPr/>
    </dgm:pt>
    <dgm:pt modelId="{264A31CC-CBD8-42D2-9EB7-0A5DB137AEB6}" type="pres">
      <dgm:prSet presAssocID="{7AC26216-16E0-4141-8741-D4831F48837F}" presName="compNode" presStyleCnt="0"/>
      <dgm:spPr/>
    </dgm:pt>
    <dgm:pt modelId="{688BD7FF-6888-43D7-A4D3-E6449EAADD7D}" type="pres">
      <dgm:prSet presAssocID="{7AC26216-16E0-4141-8741-D4831F48837F}" presName="iconBgRect" presStyleLbl="bgShp" presStyleIdx="1" presStyleCnt="4"/>
      <dgm:spPr/>
    </dgm:pt>
    <dgm:pt modelId="{0E5883F4-3359-49BA-BD7F-7E14613DAD6E}" type="pres">
      <dgm:prSet presAssocID="{7AC26216-16E0-4141-8741-D4831F48837F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B22711AD-5A5A-4B72-87B3-93BD92473914}" type="pres">
      <dgm:prSet presAssocID="{7AC26216-16E0-4141-8741-D4831F48837F}" presName="spaceRect" presStyleCnt="0"/>
      <dgm:spPr/>
    </dgm:pt>
    <dgm:pt modelId="{6662BDF2-95C2-481A-9389-909ABADB87DC}" type="pres">
      <dgm:prSet presAssocID="{7AC26216-16E0-4141-8741-D4831F48837F}" presName="textRect" presStyleLbl="revTx" presStyleIdx="1" presStyleCnt="4">
        <dgm:presLayoutVars>
          <dgm:chMax val="1"/>
          <dgm:chPref val="1"/>
        </dgm:presLayoutVars>
      </dgm:prSet>
      <dgm:spPr/>
    </dgm:pt>
    <dgm:pt modelId="{6B16FF77-F847-4EF6-BFFE-77ABA86D463D}" type="pres">
      <dgm:prSet presAssocID="{5C7769CF-2C01-434B-A18E-2B700E1DC68F}" presName="sibTrans" presStyleLbl="sibTrans2D1" presStyleIdx="0" presStyleCnt="0"/>
      <dgm:spPr/>
    </dgm:pt>
    <dgm:pt modelId="{517C55CD-C9AD-4D71-BFAC-C99EE2660FC8}" type="pres">
      <dgm:prSet presAssocID="{01A3A41F-B148-4255-A40D-163494862ACD}" presName="compNode" presStyleCnt="0"/>
      <dgm:spPr/>
    </dgm:pt>
    <dgm:pt modelId="{10CA9AEA-C90A-449C-A352-086D3CA7A004}" type="pres">
      <dgm:prSet presAssocID="{01A3A41F-B148-4255-A40D-163494862ACD}" presName="iconBgRect" presStyleLbl="bgShp" presStyleIdx="2" presStyleCnt="4"/>
      <dgm:spPr/>
    </dgm:pt>
    <dgm:pt modelId="{50E053F9-AE74-45CD-84D3-558B20ABB6B3}" type="pres">
      <dgm:prSet presAssocID="{01A3A41F-B148-4255-A40D-163494862AC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E36589D-09F4-462E-820C-B653FCA7F55C}" type="pres">
      <dgm:prSet presAssocID="{01A3A41F-B148-4255-A40D-163494862ACD}" presName="spaceRect" presStyleCnt="0"/>
      <dgm:spPr/>
    </dgm:pt>
    <dgm:pt modelId="{782EACA6-8786-4FA1-8C3B-096B9FB99E7C}" type="pres">
      <dgm:prSet presAssocID="{01A3A41F-B148-4255-A40D-163494862ACD}" presName="textRect" presStyleLbl="revTx" presStyleIdx="2" presStyleCnt="4">
        <dgm:presLayoutVars>
          <dgm:chMax val="1"/>
          <dgm:chPref val="1"/>
        </dgm:presLayoutVars>
      </dgm:prSet>
      <dgm:spPr/>
    </dgm:pt>
    <dgm:pt modelId="{DF47DC43-C523-40D9-8A74-F3961D8775E5}" type="pres">
      <dgm:prSet presAssocID="{BA589476-7401-45B5-AA04-B9C544C44060}" presName="sibTrans" presStyleLbl="sibTrans2D1" presStyleIdx="0" presStyleCnt="0"/>
      <dgm:spPr/>
    </dgm:pt>
    <dgm:pt modelId="{E2E026AE-FC03-456D-99BB-ABD78289ECCD}" type="pres">
      <dgm:prSet presAssocID="{902D3B73-A448-4123-A8BD-B30EF99FFF29}" presName="compNode" presStyleCnt="0"/>
      <dgm:spPr/>
    </dgm:pt>
    <dgm:pt modelId="{6B6DE190-5C09-4C04-AEC7-E760F8F6C2F7}" type="pres">
      <dgm:prSet presAssocID="{902D3B73-A448-4123-A8BD-B30EF99FFF29}" presName="iconBgRect" presStyleLbl="bgShp" presStyleIdx="3" presStyleCnt="4"/>
      <dgm:spPr/>
    </dgm:pt>
    <dgm:pt modelId="{8425F640-2A36-4CC9-9D20-F3EF1E752828}" type="pres">
      <dgm:prSet presAssocID="{902D3B73-A448-4123-A8BD-B30EF99FFF29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BAE40679-B4E4-44E3-83D4-A4063D6BC871}" type="pres">
      <dgm:prSet presAssocID="{902D3B73-A448-4123-A8BD-B30EF99FFF29}" presName="spaceRect" presStyleCnt="0"/>
      <dgm:spPr/>
    </dgm:pt>
    <dgm:pt modelId="{BD4A445F-3FAC-4CE5-B840-7B9A2DFEE0BC}" type="pres">
      <dgm:prSet presAssocID="{902D3B73-A448-4123-A8BD-B30EF99FFF2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9E81C08-9A78-4AD4-84D4-8F0DF2A4E8F3}" srcId="{D787D9C8-BC35-4752-902B-7AB02A3A95C3}" destId="{902D3B73-A448-4123-A8BD-B30EF99FFF29}" srcOrd="3" destOrd="0" parTransId="{2E5E27E3-A2AD-45C0-BC1D-A10518634D07}" sibTransId="{03F6625B-140D-4EDA-9CE6-640952CDFE34}"/>
    <dgm:cxn modelId="{6967E31A-8101-452D-AC6B-389FAD34457D}" srcId="{D787D9C8-BC35-4752-902B-7AB02A3A95C3}" destId="{3FB2E239-21F3-4588-A35A-1CD9E7C92F30}" srcOrd="0" destOrd="0" parTransId="{54F93929-954F-426D-AD96-FF2B1F3AF26E}" sibTransId="{D3329A29-639D-4B6D-8DB9-F57EBC725805}"/>
    <dgm:cxn modelId="{E9215126-F016-4FBE-B9C7-D26B4018C1B5}" type="presOf" srcId="{BA589476-7401-45B5-AA04-B9C544C44060}" destId="{DF47DC43-C523-40D9-8A74-F3961D8775E5}" srcOrd="0" destOrd="0" presId="urn:microsoft.com/office/officeart/2018/2/layout/IconCircleList"/>
    <dgm:cxn modelId="{612ACB3B-11FE-44ED-B8BE-498CC1058E42}" type="presOf" srcId="{5C7769CF-2C01-434B-A18E-2B700E1DC68F}" destId="{6B16FF77-F847-4EF6-BFFE-77ABA86D463D}" srcOrd="0" destOrd="0" presId="urn:microsoft.com/office/officeart/2018/2/layout/IconCircleList"/>
    <dgm:cxn modelId="{12C8CC3B-0708-4BB7-A4D3-6A8F5CE0FCB2}" type="presOf" srcId="{3FB2E239-21F3-4588-A35A-1CD9E7C92F30}" destId="{117C5672-0280-4FE2-89C0-EB3975300C12}" srcOrd="0" destOrd="0" presId="urn:microsoft.com/office/officeart/2018/2/layout/IconCircleList"/>
    <dgm:cxn modelId="{07033854-2D75-4C16-8DEA-CF3DF18229F1}" srcId="{D787D9C8-BC35-4752-902B-7AB02A3A95C3}" destId="{7AC26216-16E0-4141-8741-D4831F48837F}" srcOrd="1" destOrd="0" parTransId="{CFD2ED10-D334-468F-B70E-091D46F07339}" sibTransId="{5C7769CF-2C01-434B-A18E-2B700E1DC68F}"/>
    <dgm:cxn modelId="{63512755-1B81-4C2A-B70E-C08D020B459D}" type="presOf" srcId="{D787D9C8-BC35-4752-902B-7AB02A3A95C3}" destId="{A8702B94-67EA-4E6F-968F-11958DBF0E0E}" srcOrd="0" destOrd="0" presId="urn:microsoft.com/office/officeart/2018/2/layout/IconCircleList"/>
    <dgm:cxn modelId="{592CA871-1164-4EE0-8AE7-776F5B670F5C}" type="presOf" srcId="{7AC26216-16E0-4141-8741-D4831F48837F}" destId="{6662BDF2-95C2-481A-9389-909ABADB87DC}" srcOrd="0" destOrd="0" presId="urn:microsoft.com/office/officeart/2018/2/layout/IconCircleList"/>
    <dgm:cxn modelId="{A01FB87E-DAEE-4CEB-BBB0-29D71B50B7C7}" type="presOf" srcId="{902D3B73-A448-4123-A8BD-B30EF99FFF29}" destId="{BD4A445F-3FAC-4CE5-B840-7B9A2DFEE0BC}" srcOrd="0" destOrd="0" presId="urn:microsoft.com/office/officeart/2018/2/layout/IconCircleList"/>
    <dgm:cxn modelId="{7A8EF49B-E2E4-4DD0-B8BB-305F686CBB40}" type="presOf" srcId="{01A3A41F-B148-4255-A40D-163494862ACD}" destId="{782EACA6-8786-4FA1-8C3B-096B9FB99E7C}" srcOrd="0" destOrd="0" presId="urn:microsoft.com/office/officeart/2018/2/layout/IconCircleList"/>
    <dgm:cxn modelId="{392DAADE-5A19-4AE0-B850-D1EB9FE28013}" srcId="{D787D9C8-BC35-4752-902B-7AB02A3A95C3}" destId="{01A3A41F-B148-4255-A40D-163494862ACD}" srcOrd="2" destOrd="0" parTransId="{DAC9983B-6D4D-475C-99A7-8C7AFAAABB6C}" sibTransId="{BA589476-7401-45B5-AA04-B9C544C44060}"/>
    <dgm:cxn modelId="{1274BDFA-B9A1-4E4C-ABC3-BADE0FA323DF}" type="presOf" srcId="{D3329A29-639D-4B6D-8DB9-F57EBC725805}" destId="{DAC9A711-524A-48E4-B1D2-29E4A4928597}" srcOrd="0" destOrd="0" presId="urn:microsoft.com/office/officeart/2018/2/layout/IconCircleList"/>
    <dgm:cxn modelId="{32CE0F0C-40D8-422B-83F8-8405A4A3ECA4}" type="presParOf" srcId="{A8702B94-67EA-4E6F-968F-11958DBF0E0E}" destId="{C8332950-9B48-4C90-9325-4F10CE3BF498}" srcOrd="0" destOrd="0" presId="urn:microsoft.com/office/officeart/2018/2/layout/IconCircleList"/>
    <dgm:cxn modelId="{139323E6-7923-4599-A061-EB51B86A599E}" type="presParOf" srcId="{C8332950-9B48-4C90-9325-4F10CE3BF498}" destId="{6E1173EF-C0C7-4C94-9F17-5629B69159DB}" srcOrd="0" destOrd="0" presId="urn:microsoft.com/office/officeart/2018/2/layout/IconCircleList"/>
    <dgm:cxn modelId="{26DB2141-91A6-4DD0-902B-869F5349E255}" type="presParOf" srcId="{6E1173EF-C0C7-4C94-9F17-5629B69159DB}" destId="{1F5A836D-F42C-45F3-9553-0A8756F976FE}" srcOrd="0" destOrd="0" presId="urn:microsoft.com/office/officeart/2018/2/layout/IconCircleList"/>
    <dgm:cxn modelId="{6024E039-9CEA-4494-840D-A00AC09311C1}" type="presParOf" srcId="{6E1173EF-C0C7-4C94-9F17-5629B69159DB}" destId="{0FE4D669-57A2-4EB9-84CE-FF5CCC85326A}" srcOrd="1" destOrd="0" presId="urn:microsoft.com/office/officeart/2018/2/layout/IconCircleList"/>
    <dgm:cxn modelId="{C8A2A01F-68ED-4753-AEE9-F37D8FB7012A}" type="presParOf" srcId="{6E1173EF-C0C7-4C94-9F17-5629B69159DB}" destId="{D7931931-C2FB-409B-8A78-A78EA5503292}" srcOrd="2" destOrd="0" presId="urn:microsoft.com/office/officeart/2018/2/layout/IconCircleList"/>
    <dgm:cxn modelId="{32AEB531-3DE3-440F-9463-084FC24D69A0}" type="presParOf" srcId="{6E1173EF-C0C7-4C94-9F17-5629B69159DB}" destId="{117C5672-0280-4FE2-89C0-EB3975300C12}" srcOrd="3" destOrd="0" presId="urn:microsoft.com/office/officeart/2018/2/layout/IconCircleList"/>
    <dgm:cxn modelId="{5690BC9D-C372-4AA6-97C7-7CC02515ED51}" type="presParOf" srcId="{C8332950-9B48-4C90-9325-4F10CE3BF498}" destId="{DAC9A711-524A-48E4-B1D2-29E4A4928597}" srcOrd="1" destOrd="0" presId="urn:microsoft.com/office/officeart/2018/2/layout/IconCircleList"/>
    <dgm:cxn modelId="{9D3D9442-F63E-4213-BA1B-499095246CC6}" type="presParOf" srcId="{C8332950-9B48-4C90-9325-4F10CE3BF498}" destId="{264A31CC-CBD8-42D2-9EB7-0A5DB137AEB6}" srcOrd="2" destOrd="0" presId="urn:microsoft.com/office/officeart/2018/2/layout/IconCircleList"/>
    <dgm:cxn modelId="{8999EA72-7286-4C47-AA57-52D13344A71D}" type="presParOf" srcId="{264A31CC-CBD8-42D2-9EB7-0A5DB137AEB6}" destId="{688BD7FF-6888-43D7-A4D3-E6449EAADD7D}" srcOrd="0" destOrd="0" presId="urn:microsoft.com/office/officeart/2018/2/layout/IconCircleList"/>
    <dgm:cxn modelId="{F8E4DE26-8404-4F87-B548-53FFCAE93770}" type="presParOf" srcId="{264A31CC-CBD8-42D2-9EB7-0A5DB137AEB6}" destId="{0E5883F4-3359-49BA-BD7F-7E14613DAD6E}" srcOrd="1" destOrd="0" presId="urn:microsoft.com/office/officeart/2018/2/layout/IconCircleList"/>
    <dgm:cxn modelId="{DECA9C3F-2DB8-4372-8E3B-8BD1AFC6C68D}" type="presParOf" srcId="{264A31CC-CBD8-42D2-9EB7-0A5DB137AEB6}" destId="{B22711AD-5A5A-4B72-87B3-93BD92473914}" srcOrd="2" destOrd="0" presId="urn:microsoft.com/office/officeart/2018/2/layout/IconCircleList"/>
    <dgm:cxn modelId="{9E3FB13B-293A-4BCF-96B5-E4B912B12707}" type="presParOf" srcId="{264A31CC-CBD8-42D2-9EB7-0A5DB137AEB6}" destId="{6662BDF2-95C2-481A-9389-909ABADB87DC}" srcOrd="3" destOrd="0" presId="urn:microsoft.com/office/officeart/2018/2/layout/IconCircleList"/>
    <dgm:cxn modelId="{705CC910-6DD1-4CA8-826D-C546E701E719}" type="presParOf" srcId="{C8332950-9B48-4C90-9325-4F10CE3BF498}" destId="{6B16FF77-F847-4EF6-BFFE-77ABA86D463D}" srcOrd="3" destOrd="0" presId="urn:microsoft.com/office/officeart/2018/2/layout/IconCircleList"/>
    <dgm:cxn modelId="{1BFCDFDB-A236-4A5E-BE99-505956C7B429}" type="presParOf" srcId="{C8332950-9B48-4C90-9325-4F10CE3BF498}" destId="{517C55CD-C9AD-4D71-BFAC-C99EE2660FC8}" srcOrd="4" destOrd="0" presId="urn:microsoft.com/office/officeart/2018/2/layout/IconCircleList"/>
    <dgm:cxn modelId="{27FF9439-1E1D-4A1C-AB63-1E83078F11EF}" type="presParOf" srcId="{517C55CD-C9AD-4D71-BFAC-C99EE2660FC8}" destId="{10CA9AEA-C90A-449C-A352-086D3CA7A004}" srcOrd="0" destOrd="0" presId="urn:microsoft.com/office/officeart/2018/2/layout/IconCircleList"/>
    <dgm:cxn modelId="{F120893E-54DF-4D32-9498-B50165683170}" type="presParOf" srcId="{517C55CD-C9AD-4D71-BFAC-C99EE2660FC8}" destId="{50E053F9-AE74-45CD-84D3-558B20ABB6B3}" srcOrd="1" destOrd="0" presId="urn:microsoft.com/office/officeart/2018/2/layout/IconCircleList"/>
    <dgm:cxn modelId="{F1BC9926-7AAE-421A-8119-FEF156F79BF8}" type="presParOf" srcId="{517C55CD-C9AD-4D71-BFAC-C99EE2660FC8}" destId="{0E36589D-09F4-462E-820C-B653FCA7F55C}" srcOrd="2" destOrd="0" presId="urn:microsoft.com/office/officeart/2018/2/layout/IconCircleList"/>
    <dgm:cxn modelId="{8CEC5C2D-1C10-47B5-8869-1927A4C3EBCA}" type="presParOf" srcId="{517C55CD-C9AD-4D71-BFAC-C99EE2660FC8}" destId="{782EACA6-8786-4FA1-8C3B-096B9FB99E7C}" srcOrd="3" destOrd="0" presId="urn:microsoft.com/office/officeart/2018/2/layout/IconCircleList"/>
    <dgm:cxn modelId="{6E6B5BE2-1F3C-4841-AA3A-2EFF2EBCEE0D}" type="presParOf" srcId="{C8332950-9B48-4C90-9325-4F10CE3BF498}" destId="{DF47DC43-C523-40D9-8A74-F3961D8775E5}" srcOrd="5" destOrd="0" presId="urn:microsoft.com/office/officeart/2018/2/layout/IconCircleList"/>
    <dgm:cxn modelId="{A32A5351-DA87-41AB-8FB1-201200BD5419}" type="presParOf" srcId="{C8332950-9B48-4C90-9325-4F10CE3BF498}" destId="{E2E026AE-FC03-456D-99BB-ABD78289ECCD}" srcOrd="6" destOrd="0" presId="urn:microsoft.com/office/officeart/2018/2/layout/IconCircleList"/>
    <dgm:cxn modelId="{ED2CA712-C98A-4CE1-88BD-DB16A0311EB5}" type="presParOf" srcId="{E2E026AE-FC03-456D-99BB-ABD78289ECCD}" destId="{6B6DE190-5C09-4C04-AEC7-E760F8F6C2F7}" srcOrd="0" destOrd="0" presId="urn:microsoft.com/office/officeart/2018/2/layout/IconCircleList"/>
    <dgm:cxn modelId="{F9A41668-EDAC-48AD-AD12-DE932D29CC73}" type="presParOf" srcId="{E2E026AE-FC03-456D-99BB-ABD78289ECCD}" destId="{8425F640-2A36-4CC9-9D20-F3EF1E752828}" srcOrd="1" destOrd="0" presId="urn:microsoft.com/office/officeart/2018/2/layout/IconCircleList"/>
    <dgm:cxn modelId="{390F6F51-791E-45B0-8E06-7DEC1F8D9748}" type="presParOf" srcId="{E2E026AE-FC03-456D-99BB-ABD78289ECCD}" destId="{BAE40679-B4E4-44E3-83D4-A4063D6BC871}" srcOrd="2" destOrd="0" presId="urn:microsoft.com/office/officeart/2018/2/layout/IconCircleList"/>
    <dgm:cxn modelId="{E79A619E-ADF6-4493-86C1-0CCC083EEB22}" type="presParOf" srcId="{E2E026AE-FC03-456D-99BB-ABD78289ECCD}" destId="{BD4A445F-3FAC-4CE5-B840-7B9A2DFEE0B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DE6EEDF-0267-43E5-8022-26C84F760984}" type="doc">
      <dgm:prSet loTypeId="urn:microsoft.com/office/officeart/2018/5/layout/IconCircleLabelList" loCatId="icon" qsTypeId="urn:microsoft.com/office/officeart/2005/8/quickstyle/simple1#79" qsCatId="simple" csTypeId="urn:microsoft.com/office/officeart/2005/8/colors/accent1_2#14" csCatId="accent1" phldr="1"/>
      <dgm:spPr/>
      <dgm:t>
        <a:bodyPr/>
        <a:lstStyle/>
        <a:p>
          <a:endParaRPr lang="en-US"/>
        </a:p>
      </dgm:t>
    </dgm:pt>
    <dgm:pt modelId="{4379DD7E-93A7-4990-8E47-B5B5D55C2F3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gather new information </a:t>
          </a:r>
          <a:endParaRPr lang="en-US"/>
        </a:p>
      </dgm:t>
    </dgm:pt>
    <dgm:pt modelId="{E831D46A-86C5-4D82-8810-F1D53BAB2CC2}" type="parTrans" cxnId="{14D58F54-289A-494C-83D9-18141A247DFC}">
      <dgm:prSet/>
      <dgm:spPr/>
      <dgm:t>
        <a:bodyPr/>
        <a:lstStyle/>
        <a:p>
          <a:endParaRPr lang="en-US"/>
        </a:p>
      </dgm:t>
    </dgm:pt>
    <dgm:pt modelId="{BE3B2D5C-0E6B-446B-9303-8C2C9B52AC4B}" type="sibTrans" cxnId="{14D58F54-289A-494C-83D9-18141A247DFC}">
      <dgm:prSet/>
      <dgm:spPr/>
      <dgm:t>
        <a:bodyPr/>
        <a:lstStyle/>
        <a:p>
          <a:endParaRPr lang="en-US"/>
        </a:p>
      </dgm:t>
    </dgm:pt>
    <dgm:pt modelId="{8A2747AE-F089-4C2B-9D14-10B2A964AD9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leveraging existing knowledge.</a:t>
          </a:r>
          <a:endParaRPr lang="en-US"/>
        </a:p>
      </dgm:t>
    </dgm:pt>
    <dgm:pt modelId="{16D55B94-C05B-4B96-B1EA-61033B2F851E}" type="parTrans" cxnId="{6EA38A39-6555-4087-848C-AA0AD675F25E}">
      <dgm:prSet/>
      <dgm:spPr/>
      <dgm:t>
        <a:bodyPr/>
        <a:lstStyle/>
        <a:p>
          <a:endParaRPr lang="en-US"/>
        </a:p>
      </dgm:t>
    </dgm:pt>
    <dgm:pt modelId="{959D52D0-78B4-4FE3-8E36-587791787595}" type="sibTrans" cxnId="{6EA38A39-6555-4087-848C-AA0AD675F25E}">
      <dgm:prSet/>
      <dgm:spPr/>
      <dgm:t>
        <a:bodyPr/>
        <a:lstStyle/>
        <a:p>
          <a:endParaRPr lang="en-US"/>
        </a:p>
      </dgm:t>
    </dgm:pt>
    <dgm:pt modelId="{6B1D8B76-31A2-4BEF-B3BE-24435C992D64}" type="pres">
      <dgm:prSet presAssocID="{ADE6EEDF-0267-43E5-8022-26C84F760984}" presName="root" presStyleCnt="0">
        <dgm:presLayoutVars>
          <dgm:dir/>
          <dgm:resizeHandles val="exact"/>
        </dgm:presLayoutVars>
      </dgm:prSet>
      <dgm:spPr/>
    </dgm:pt>
    <dgm:pt modelId="{153B0A69-150A-4B55-B7DA-4E31E6855EA3}" type="pres">
      <dgm:prSet presAssocID="{4379DD7E-93A7-4990-8E47-B5B5D55C2F3B}" presName="compNode" presStyleCnt="0"/>
      <dgm:spPr/>
    </dgm:pt>
    <dgm:pt modelId="{F9F564AC-E4C7-498C-9452-E0B8123A0692}" type="pres">
      <dgm:prSet presAssocID="{4379DD7E-93A7-4990-8E47-B5B5D55C2F3B}" presName="iconBgRect" presStyleLbl="bgShp" presStyleIdx="0" presStyleCnt="2"/>
      <dgm:spPr/>
    </dgm:pt>
    <dgm:pt modelId="{67462CF2-6E6C-4395-A08A-7EF8633AE2F4}" type="pres">
      <dgm:prSet presAssocID="{4379DD7E-93A7-4990-8E47-B5B5D55C2F3B}" presName="iconRect" presStyleLbl="node1" presStyleIdx="0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 outline"/>
        </a:ext>
      </dgm:extLst>
    </dgm:pt>
    <dgm:pt modelId="{1B405D19-1748-40E7-9A5A-0C5B14A8E8E4}" type="pres">
      <dgm:prSet presAssocID="{4379DD7E-93A7-4990-8E47-B5B5D55C2F3B}" presName="spaceRect" presStyleCnt="0"/>
      <dgm:spPr/>
    </dgm:pt>
    <dgm:pt modelId="{BB638B09-0A5E-4944-8975-16A5F53D3881}" type="pres">
      <dgm:prSet presAssocID="{4379DD7E-93A7-4990-8E47-B5B5D55C2F3B}" presName="textRect" presStyleLbl="revTx" presStyleIdx="0" presStyleCnt="2">
        <dgm:presLayoutVars>
          <dgm:chMax val="1"/>
          <dgm:chPref val="1"/>
        </dgm:presLayoutVars>
      </dgm:prSet>
      <dgm:spPr/>
    </dgm:pt>
    <dgm:pt modelId="{DB8D8E8C-E09D-4560-AF28-20F81D8D5922}" type="pres">
      <dgm:prSet presAssocID="{BE3B2D5C-0E6B-446B-9303-8C2C9B52AC4B}" presName="sibTrans" presStyleCnt="0"/>
      <dgm:spPr/>
    </dgm:pt>
    <dgm:pt modelId="{36CD8712-1915-4FAD-91BC-68D4DCC033DE}" type="pres">
      <dgm:prSet presAssocID="{8A2747AE-F089-4C2B-9D14-10B2A964AD9F}" presName="compNode" presStyleCnt="0"/>
      <dgm:spPr/>
    </dgm:pt>
    <dgm:pt modelId="{5DAE9C21-5EA4-46F6-826F-5A9F129B6109}" type="pres">
      <dgm:prSet presAssocID="{8A2747AE-F089-4C2B-9D14-10B2A964AD9F}" presName="iconBgRect" presStyleLbl="bgShp" presStyleIdx="1" presStyleCnt="2"/>
      <dgm:spPr/>
    </dgm:pt>
    <dgm:pt modelId="{FC8D9EC3-2BCD-4389-A814-21A22A863E8F}" type="pres">
      <dgm:prSet presAssocID="{8A2747AE-F089-4C2B-9D14-10B2A964AD9F}" presName="iconRect" presStyleLbl="node1" presStyleIdx="1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 outline"/>
        </a:ext>
      </dgm:extLst>
    </dgm:pt>
    <dgm:pt modelId="{C80C22A1-7E44-4FF7-AA63-0EFC3402D244}" type="pres">
      <dgm:prSet presAssocID="{8A2747AE-F089-4C2B-9D14-10B2A964AD9F}" presName="spaceRect" presStyleCnt="0"/>
      <dgm:spPr/>
    </dgm:pt>
    <dgm:pt modelId="{F4D38989-CBC5-4271-B0AE-0820277422B6}" type="pres">
      <dgm:prSet presAssocID="{8A2747AE-F089-4C2B-9D14-10B2A964AD9F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F9669026-B861-4F17-818C-727FD43C70BB}" type="presOf" srcId="{4379DD7E-93A7-4990-8E47-B5B5D55C2F3B}" destId="{BB638B09-0A5E-4944-8975-16A5F53D3881}" srcOrd="0" destOrd="0" presId="urn:microsoft.com/office/officeart/2018/5/layout/IconCircleLabelList"/>
    <dgm:cxn modelId="{30AF072E-3940-47BB-8EDC-680BC3780907}" type="presOf" srcId="{8A2747AE-F089-4C2B-9D14-10B2A964AD9F}" destId="{F4D38989-CBC5-4271-B0AE-0820277422B6}" srcOrd="0" destOrd="0" presId="urn:microsoft.com/office/officeart/2018/5/layout/IconCircleLabelList"/>
    <dgm:cxn modelId="{6EA38A39-6555-4087-848C-AA0AD675F25E}" srcId="{ADE6EEDF-0267-43E5-8022-26C84F760984}" destId="{8A2747AE-F089-4C2B-9D14-10B2A964AD9F}" srcOrd="1" destOrd="0" parTransId="{16D55B94-C05B-4B96-B1EA-61033B2F851E}" sibTransId="{959D52D0-78B4-4FE3-8E36-587791787595}"/>
    <dgm:cxn modelId="{14D58F54-289A-494C-83D9-18141A247DFC}" srcId="{ADE6EEDF-0267-43E5-8022-26C84F760984}" destId="{4379DD7E-93A7-4990-8E47-B5B5D55C2F3B}" srcOrd="0" destOrd="0" parTransId="{E831D46A-86C5-4D82-8810-F1D53BAB2CC2}" sibTransId="{BE3B2D5C-0E6B-446B-9303-8C2C9B52AC4B}"/>
    <dgm:cxn modelId="{04A477AC-02E8-42A0-9E7F-92D61A839623}" type="presOf" srcId="{ADE6EEDF-0267-43E5-8022-26C84F760984}" destId="{6B1D8B76-31A2-4BEF-B3BE-24435C992D64}" srcOrd="0" destOrd="0" presId="urn:microsoft.com/office/officeart/2018/5/layout/IconCircleLabelList"/>
    <dgm:cxn modelId="{50D18632-D62D-4602-81FB-5DCEC4B17C62}" type="presParOf" srcId="{6B1D8B76-31A2-4BEF-B3BE-24435C992D64}" destId="{153B0A69-150A-4B55-B7DA-4E31E6855EA3}" srcOrd="0" destOrd="0" presId="urn:microsoft.com/office/officeart/2018/5/layout/IconCircleLabelList"/>
    <dgm:cxn modelId="{EFA1F280-092A-4BF9-A9D9-A5C28100894A}" type="presParOf" srcId="{153B0A69-150A-4B55-B7DA-4E31E6855EA3}" destId="{F9F564AC-E4C7-498C-9452-E0B8123A0692}" srcOrd="0" destOrd="0" presId="urn:microsoft.com/office/officeart/2018/5/layout/IconCircleLabelList"/>
    <dgm:cxn modelId="{A0842D59-5486-4B9C-8435-13A3570639B5}" type="presParOf" srcId="{153B0A69-150A-4B55-B7DA-4E31E6855EA3}" destId="{67462CF2-6E6C-4395-A08A-7EF8633AE2F4}" srcOrd="1" destOrd="0" presId="urn:microsoft.com/office/officeart/2018/5/layout/IconCircleLabelList"/>
    <dgm:cxn modelId="{9FC8F018-8A96-4EE1-BE30-267B199377A4}" type="presParOf" srcId="{153B0A69-150A-4B55-B7DA-4E31E6855EA3}" destId="{1B405D19-1748-40E7-9A5A-0C5B14A8E8E4}" srcOrd="2" destOrd="0" presId="urn:microsoft.com/office/officeart/2018/5/layout/IconCircleLabelList"/>
    <dgm:cxn modelId="{B643157B-AABE-49F1-ADEF-9A24BC127B45}" type="presParOf" srcId="{153B0A69-150A-4B55-B7DA-4E31E6855EA3}" destId="{BB638B09-0A5E-4944-8975-16A5F53D3881}" srcOrd="3" destOrd="0" presId="urn:microsoft.com/office/officeart/2018/5/layout/IconCircleLabelList"/>
    <dgm:cxn modelId="{9DB61F9E-DD2F-4713-B677-7E31AC437F38}" type="presParOf" srcId="{6B1D8B76-31A2-4BEF-B3BE-24435C992D64}" destId="{DB8D8E8C-E09D-4560-AF28-20F81D8D5922}" srcOrd="1" destOrd="0" presId="urn:microsoft.com/office/officeart/2018/5/layout/IconCircleLabelList"/>
    <dgm:cxn modelId="{08CE9BF7-D09B-490E-9F0A-5D9D36150286}" type="presParOf" srcId="{6B1D8B76-31A2-4BEF-B3BE-24435C992D64}" destId="{36CD8712-1915-4FAD-91BC-68D4DCC033DE}" srcOrd="2" destOrd="0" presId="urn:microsoft.com/office/officeart/2018/5/layout/IconCircleLabelList"/>
    <dgm:cxn modelId="{6D1311F6-5252-42F3-AAB7-EE24168795DA}" type="presParOf" srcId="{36CD8712-1915-4FAD-91BC-68D4DCC033DE}" destId="{5DAE9C21-5EA4-46F6-826F-5A9F129B6109}" srcOrd="0" destOrd="0" presId="urn:microsoft.com/office/officeart/2018/5/layout/IconCircleLabelList"/>
    <dgm:cxn modelId="{0AAE8DC5-B1F3-4619-9294-860D14DE1750}" type="presParOf" srcId="{36CD8712-1915-4FAD-91BC-68D4DCC033DE}" destId="{FC8D9EC3-2BCD-4389-A814-21A22A863E8F}" srcOrd="1" destOrd="0" presId="urn:microsoft.com/office/officeart/2018/5/layout/IconCircleLabelList"/>
    <dgm:cxn modelId="{B837015F-E018-43C6-8C67-AB8BBFC992C4}" type="presParOf" srcId="{36CD8712-1915-4FAD-91BC-68D4DCC033DE}" destId="{C80C22A1-7E44-4FF7-AA63-0EFC3402D244}" srcOrd="2" destOrd="0" presId="urn:microsoft.com/office/officeart/2018/5/layout/IconCircleLabelList"/>
    <dgm:cxn modelId="{0B46C528-9C13-4BA0-93A2-3A090396BECD}" type="presParOf" srcId="{36CD8712-1915-4FAD-91BC-68D4DCC033DE}" destId="{F4D38989-CBC5-4271-B0AE-0820277422B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3E67D36-982F-416A-8374-A49CF36763D1}" type="doc">
      <dgm:prSet loTypeId="urn:microsoft.com/office/officeart/2018/5/layout/IconCircleLabelList" loCatId="icon" qsTypeId="urn:microsoft.com/office/officeart/2005/8/quickstyle/simple1#80" qsCatId="simple" csTypeId="urn:microsoft.com/office/officeart/2005/8/colors/accent1_2#15" csCatId="accent1" phldr="1"/>
      <dgm:spPr/>
      <dgm:t>
        <a:bodyPr/>
        <a:lstStyle/>
        <a:p>
          <a:endParaRPr lang="en-US"/>
        </a:p>
      </dgm:t>
    </dgm:pt>
    <dgm:pt modelId="{3575DB68-5216-4276-A816-30513A7DB318}">
      <dgm:prSet/>
      <dgm:spPr/>
      <dgm:t>
        <a:bodyPr/>
        <a:lstStyle/>
        <a:p>
          <a:pPr algn="l">
            <a:lnSpc>
              <a:spcPct val="100000"/>
            </a:lnSpc>
            <a:defRPr cap="all"/>
          </a:pPr>
          <a:r>
            <a:rPr lang="en-US" b="1" dirty="0"/>
            <a:t>Restaurants</a:t>
          </a:r>
          <a:r>
            <a:rPr lang="en-US" dirty="0"/>
            <a:t>: Choosing between a favorite place and a newly opened restaurant.</a:t>
          </a:r>
        </a:p>
      </dgm:t>
    </dgm:pt>
    <dgm:pt modelId="{DE64B2C3-523D-4070-98AD-5E7872CEDDC0}" type="parTrans" cxnId="{EE0B7F78-B7FE-4C83-ABAE-DFE6F136C5B2}">
      <dgm:prSet/>
      <dgm:spPr/>
      <dgm:t>
        <a:bodyPr/>
        <a:lstStyle/>
        <a:p>
          <a:pPr algn="l"/>
          <a:endParaRPr lang="en-US"/>
        </a:p>
      </dgm:t>
    </dgm:pt>
    <dgm:pt modelId="{59F3086B-53CF-483D-B33A-C1E6A509F9DC}" type="sibTrans" cxnId="{EE0B7F78-B7FE-4C83-ABAE-DFE6F136C5B2}">
      <dgm:prSet/>
      <dgm:spPr/>
      <dgm:t>
        <a:bodyPr/>
        <a:lstStyle/>
        <a:p>
          <a:pPr algn="l"/>
          <a:endParaRPr lang="en-US"/>
        </a:p>
      </dgm:t>
    </dgm:pt>
    <dgm:pt modelId="{F29A97C4-254A-46E4-A277-75A32DDDD05B}">
      <dgm:prSet/>
      <dgm:spPr/>
      <dgm:t>
        <a:bodyPr/>
        <a:lstStyle/>
        <a:p>
          <a:pPr algn="l">
            <a:lnSpc>
              <a:spcPct val="100000"/>
            </a:lnSpc>
            <a:defRPr cap="all"/>
          </a:pPr>
          <a:r>
            <a:rPr lang="en-US" b="1" dirty="0"/>
            <a:t>Music</a:t>
          </a:r>
          <a:r>
            <a:rPr lang="en-US" dirty="0"/>
            <a:t>: Opting for a favorite album or exploring new music.</a:t>
          </a:r>
        </a:p>
      </dgm:t>
    </dgm:pt>
    <dgm:pt modelId="{D4021A8F-301E-4C13-B08A-CB3A06118138}" type="parTrans" cxnId="{091C8846-EEA9-4338-9C91-B1AC6959DED4}">
      <dgm:prSet/>
      <dgm:spPr/>
      <dgm:t>
        <a:bodyPr/>
        <a:lstStyle/>
        <a:p>
          <a:pPr algn="l"/>
          <a:endParaRPr lang="en-US"/>
        </a:p>
      </dgm:t>
    </dgm:pt>
    <dgm:pt modelId="{0FD15F7B-37DF-46B0-BD39-177ADB9AA954}" type="sibTrans" cxnId="{091C8846-EEA9-4338-9C91-B1AC6959DED4}">
      <dgm:prSet/>
      <dgm:spPr/>
      <dgm:t>
        <a:bodyPr/>
        <a:lstStyle/>
        <a:p>
          <a:pPr algn="l"/>
          <a:endParaRPr lang="en-US"/>
        </a:p>
      </dgm:t>
    </dgm:pt>
    <dgm:pt modelId="{8777896B-750C-4F1D-ACC6-A418D0EE23FF}">
      <dgm:prSet/>
      <dgm:spPr/>
      <dgm:t>
        <a:bodyPr/>
        <a:lstStyle/>
        <a:p>
          <a:pPr algn="l">
            <a:lnSpc>
              <a:spcPct val="100000"/>
            </a:lnSpc>
            <a:defRPr cap="all"/>
          </a:pPr>
          <a:r>
            <a:rPr lang="en-US"/>
            <a:t>Social Lives: Balancing time with close circle friends and fostering new acquaintanceships.</a:t>
          </a:r>
        </a:p>
      </dgm:t>
    </dgm:pt>
    <dgm:pt modelId="{3B22E5F7-C327-4A03-A041-41FE84419063}" type="parTrans" cxnId="{8B6A7AC4-895C-40B9-87C2-92D6FAD8FA46}">
      <dgm:prSet/>
      <dgm:spPr/>
      <dgm:t>
        <a:bodyPr/>
        <a:lstStyle/>
        <a:p>
          <a:pPr algn="l"/>
          <a:endParaRPr lang="en-US"/>
        </a:p>
      </dgm:t>
    </dgm:pt>
    <dgm:pt modelId="{E529A2EA-A3F6-439F-A5FF-5ABC3A0FE20B}" type="sibTrans" cxnId="{8B6A7AC4-895C-40B9-87C2-92D6FAD8FA46}">
      <dgm:prSet/>
      <dgm:spPr/>
      <dgm:t>
        <a:bodyPr/>
        <a:lstStyle/>
        <a:p>
          <a:pPr algn="l"/>
          <a:endParaRPr lang="en-US"/>
        </a:p>
      </dgm:t>
    </dgm:pt>
    <dgm:pt modelId="{A4338DFF-3542-459F-B7F6-C763A816D223}">
      <dgm:prSet/>
      <dgm:spPr/>
      <dgm:t>
        <a:bodyPr/>
        <a:lstStyle/>
        <a:p>
          <a:pPr algn="l">
            <a:lnSpc>
              <a:spcPct val="100000"/>
            </a:lnSpc>
            <a:defRPr cap="all"/>
          </a:pPr>
          <a:r>
            <a:rPr lang="en-US"/>
            <a:t>Business: Deciding between running a proven ad with high click rates or trying new, untested ads.</a:t>
          </a:r>
        </a:p>
      </dgm:t>
    </dgm:pt>
    <dgm:pt modelId="{C03C6FB4-72E1-4A4A-BC3C-38061DF41776}" type="parTrans" cxnId="{EDA8FC23-F9D6-4E0B-90BA-BFEB7B0248DB}">
      <dgm:prSet/>
      <dgm:spPr/>
      <dgm:t>
        <a:bodyPr/>
        <a:lstStyle/>
        <a:p>
          <a:pPr algn="l"/>
          <a:endParaRPr lang="en-US"/>
        </a:p>
      </dgm:t>
    </dgm:pt>
    <dgm:pt modelId="{1DC23566-1153-45A4-9AC2-BD694EAC9113}" type="sibTrans" cxnId="{EDA8FC23-F9D6-4E0B-90BA-BFEB7B0248DB}">
      <dgm:prSet/>
      <dgm:spPr/>
      <dgm:t>
        <a:bodyPr/>
        <a:lstStyle/>
        <a:p>
          <a:pPr algn="l"/>
          <a:endParaRPr lang="en-US"/>
        </a:p>
      </dgm:t>
    </dgm:pt>
    <dgm:pt modelId="{484BCF5C-6E65-4218-980E-7AF33A55FCD5}">
      <dgm:prSet/>
      <dgm:spPr/>
      <dgm:t>
        <a:bodyPr/>
        <a:lstStyle/>
        <a:p>
          <a:pPr algn="l">
            <a:lnSpc>
              <a:spcPct val="100000"/>
            </a:lnSpc>
            <a:defRPr cap="all"/>
          </a:pPr>
          <a:r>
            <a:rPr lang="en-US"/>
            <a:t>Medicine: Weighing the best-known treatment against experimental options in clinical trials.</a:t>
          </a:r>
        </a:p>
      </dgm:t>
    </dgm:pt>
    <dgm:pt modelId="{43F7F51F-BE1A-42A2-8CEB-91048768E902}" type="parTrans" cxnId="{253062A1-0667-46BD-B20A-22CF07104E5F}">
      <dgm:prSet/>
      <dgm:spPr/>
      <dgm:t>
        <a:bodyPr/>
        <a:lstStyle/>
        <a:p>
          <a:pPr algn="l"/>
          <a:endParaRPr lang="en-US"/>
        </a:p>
      </dgm:t>
    </dgm:pt>
    <dgm:pt modelId="{B742068E-0238-4D4A-9575-0B054718E554}" type="sibTrans" cxnId="{253062A1-0667-46BD-B20A-22CF07104E5F}">
      <dgm:prSet/>
      <dgm:spPr/>
      <dgm:t>
        <a:bodyPr/>
        <a:lstStyle/>
        <a:p>
          <a:pPr algn="l"/>
          <a:endParaRPr lang="en-US"/>
        </a:p>
      </dgm:t>
    </dgm:pt>
    <dgm:pt modelId="{6CFA47BD-F8E9-4F24-B63F-DE49A3379F97}" type="pres">
      <dgm:prSet presAssocID="{83E67D36-982F-416A-8374-A49CF36763D1}" presName="root" presStyleCnt="0">
        <dgm:presLayoutVars>
          <dgm:dir/>
          <dgm:resizeHandles val="exact"/>
        </dgm:presLayoutVars>
      </dgm:prSet>
      <dgm:spPr/>
    </dgm:pt>
    <dgm:pt modelId="{D415D77E-2548-4B30-BDD0-DB499CCDA49F}" type="pres">
      <dgm:prSet presAssocID="{3575DB68-5216-4276-A816-30513A7DB318}" presName="compNode" presStyleCnt="0"/>
      <dgm:spPr/>
    </dgm:pt>
    <dgm:pt modelId="{3461F479-3622-4C4F-AA00-75F99D45C54A}" type="pres">
      <dgm:prSet presAssocID="{3575DB68-5216-4276-A816-30513A7DB318}" presName="iconBgRect" presStyleLbl="bgShp" presStyleIdx="0" presStyleCnt="5"/>
      <dgm:spPr/>
    </dgm:pt>
    <dgm:pt modelId="{4BE403B2-E1C5-42BE-8DFE-2D2C551F9099}" type="pres">
      <dgm:prSet presAssocID="{3575DB68-5216-4276-A816-30513A7DB318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co"/>
        </a:ext>
      </dgm:extLst>
    </dgm:pt>
    <dgm:pt modelId="{7588DE74-F882-41E8-B4C1-3D3AE80518A7}" type="pres">
      <dgm:prSet presAssocID="{3575DB68-5216-4276-A816-30513A7DB318}" presName="spaceRect" presStyleCnt="0"/>
      <dgm:spPr/>
    </dgm:pt>
    <dgm:pt modelId="{623F1F90-8DDF-4CFA-91C9-17BC2AB66FAD}" type="pres">
      <dgm:prSet presAssocID="{3575DB68-5216-4276-A816-30513A7DB318}" presName="textRect" presStyleLbl="revTx" presStyleIdx="0" presStyleCnt="5">
        <dgm:presLayoutVars>
          <dgm:chMax val="1"/>
          <dgm:chPref val="1"/>
        </dgm:presLayoutVars>
      </dgm:prSet>
      <dgm:spPr/>
    </dgm:pt>
    <dgm:pt modelId="{D65213D6-1BE1-4897-A3F7-050116D2DE99}" type="pres">
      <dgm:prSet presAssocID="{59F3086B-53CF-483D-B33A-C1E6A509F9DC}" presName="sibTrans" presStyleCnt="0"/>
      <dgm:spPr/>
    </dgm:pt>
    <dgm:pt modelId="{74E40725-CD4D-4337-8FCB-0F43B2579926}" type="pres">
      <dgm:prSet presAssocID="{F29A97C4-254A-46E4-A277-75A32DDDD05B}" presName="compNode" presStyleCnt="0"/>
      <dgm:spPr/>
    </dgm:pt>
    <dgm:pt modelId="{30B3A654-CCC1-4D88-AA19-38923DB22694}" type="pres">
      <dgm:prSet presAssocID="{F29A97C4-254A-46E4-A277-75A32DDDD05B}" presName="iconBgRect" presStyleLbl="bgShp" presStyleIdx="1" presStyleCnt="5"/>
      <dgm:spPr/>
    </dgm:pt>
    <dgm:pt modelId="{B77CCDD6-80A7-45C4-8876-4285E72EF1BC}" type="pres">
      <dgm:prSet presAssocID="{F29A97C4-254A-46E4-A277-75A32DDDD05B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usic Notes"/>
        </a:ext>
      </dgm:extLst>
    </dgm:pt>
    <dgm:pt modelId="{EE0D98B3-C7C1-4873-8B19-03A9E29906D3}" type="pres">
      <dgm:prSet presAssocID="{F29A97C4-254A-46E4-A277-75A32DDDD05B}" presName="spaceRect" presStyleCnt="0"/>
      <dgm:spPr/>
    </dgm:pt>
    <dgm:pt modelId="{0384088E-79B0-40BB-B082-B301EDFF49EB}" type="pres">
      <dgm:prSet presAssocID="{F29A97C4-254A-46E4-A277-75A32DDDD05B}" presName="textRect" presStyleLbl="revTx" presStyleIdx="1" presStyleCnt="5">
        <dgm:presLayoutVars>
          <dgm:chMax val="1"/>
          <dgm:chPref val="1"/>
        </dgm:presLayoutVars>
      </dgm:prSet>
      <dgm:spPr/>
    </dgm:pt>
    <dgm:pt modelId="{3AEC57CE-141B-4632-AFDE-6A62ACA01CBA}" type="pres">
      <dgm:prSet presAssocID="{0FD15F7B-37DF-46B0-BD39-177ADB9AA954}" presName="sibTrans" presStyleCnt="0"/>
      <dgm:spPr/>
    </dgm:pt>
    <dgm:pt modelId="{3C308C78-A360-4841-B87B-A19087B21333}" type="pres">
      <dgm:prSet presAssocID="{8777896B-750C-4F1D-ACC6-A418D0EE23FF}" presName="compNode" presStyleCnt="0"/>
      <dgm:spPr/>
    </dgm:pt>
    <dgm:pt modelId="{A5D9D763-9245-444B-B48D-3825993C7F92}" type="pres">
      <dgm:prSet presAssocID="{8777896B-750C-4F1D-ACC6-A418D0EE23FF}" presName="iconBgRect" presStyleLbl="bgShp" presStyleIdx="2" presStyleCnt="5"/>
      <dgm:spPr/>
    </dgm:pt>
    <dgm:pt modelId="{3D46F279-223E-4084-86AA-8172B9D64A20}" type="pres">
      <dgm:prSet presAssocID="{8777896B-750C-4F1D-ACC6-A418D0EE23FF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ycle with People"/>
        </a:ext>
      </dgm:extLst>
    </dgm:pt>
    <dgm:pt modelId="{FA3DFA8B-1766-4893-B760-C97B02FDFF26}" type="pres">
      <dgm:prSet presAssocID="{8777896B-750C-4F1D-ACC6-A418D0EE23FF}" presName="spaceRect" presStyleCnt="0"/>
      <dgm:spPr/>
    </dgm:pt>
    <dgm:pt modelId="{F7DC032F-D730-437B-8A23-535C47329454}" type="pres">
      <dgm:prSet presAssocID="{8777896B-750C-4F1D-ACC6-A418D0EE23FF}" presName="textRect" presStyleLbl="revTx" presStyleIdx="2" presStyleCnt="5">
        <dgm:presLayoutVars>
          <dgm:chMax val="1"/>
          <dgm:chPref val="1"/>
        </dgm:presLayoutVars>
      </dgm:prSet>
      <dgm:spPr/>
    </dgm:pt>
    <dgm:pt modelId="{439ECD76-F251-4B1C-8FB5-2394D09D7C77}" type="pres">
      <dgm:prSet presAssocID="{E529A2EA-A3F6-439F-A5FF-5ABC3A0FE20B}" presName="sibTrans" presStyleCnt="0"/>
      <dgm:spPr/>
    </dgm:pt>
    <dgm:pt modelId="{C981939E-5580-4097-B3A5-002D62D127D1}" type="pres">
      <dgm:prSet presAssocID="{A4338DFF-3542-459F-B7F6-C763A816D223}" presName="compNode" presStyleCnt="0"/>
      <dgm:spPr/>
    </dgm:pt>
    <dgm:pt modelId="{C451437D-3051-49C9-B951-9C0E77EED6E5}" type="pres">
      <dgm:prSet presAssocID="{A4338DFF-3542-459F-B7F6-C763A816D223}" presName="iconBgRect" presStyleLbl="bgShp" presStyleIdx="3" presStyleCnt="5"/>
      <dgm:spPr/>
    </dgm:pt>
    <dgm:pt modelId="{71C6AF11-8CD8-4E9F-AC9C-F980ADB30D89}" type="pres">
      <dgm:prSet presAssocID="{A4338DFF-3542-459F-B7F6-C763A816D223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dvertising"/>
        </a:ext>
      </dgm:extLst>
    </dgm:pt>
    <dgm:pt modelId="{D94D671F-40D5-4FA7-95B1-28877CA62EFB}" type="pres">
      <dgm:prSet presAssocID="{A4338DFF-3542-459F-B7F6-C763A816D223}" presName="spaceRect" presStyleCnt="0"/>
      <dgm:spPr/>
    </dgm:pt>
    <dgm:pt modelId="{E2512C97-20C3-455C-B6A2-0242A17A99A5}" type="pres">
      <dgm:prSet presAssocID="{A4338DFF-3542-459F-B7F6-C763A816D223}" presName="textRect" presStyleLbl="revTx" presStyleIdx="3" presStyleCnt="5">
        <dgm:presLayoutVars>
          <dgm:chMax val="1"/>
          <dgm:chPref val="1"/>
        </dgm:presLayoutVars>
      </dgm:prSet>
      <dgm:spPr/>
    </dgm:pt>
    <dgm:pt modelId="{3249C7E4-89E3-4242-8400-B6E91FA150E4}" type="pres">
      <dgm:prSet presAssocID="{1DC23566-1153-45A4-9AC2-BD694EAC9113}" presName="sibTrans" presStyleCnt="0"/>
      <dgm:spPr/>
    </dgm:pt>
    <dgm:pt modelId="{F71D11AA-C563-4AC8-B941-1EEEB2A9FCC7}" type="pres">
      <dgm:prSet presAssocID="{484BCF5C-6E65-4218-980E-7AF33A55FCD5}" presName="compNode" presStyleCnt="0"/>
      <dgm:spPr/>
    </dgm:pt>
    <dgm:pt modelId="{607B0A20-E903-4083-9BD3-0D2DB22AFE46}" type="pres">
      <dgm:prSet presAssocID="{484BCF5C-6E65-4218-980E-7AF33A55FCD5}" presName="iconBgRect" presStyleLbl="bgShp" presStyleIdx="4" presStyleCnt="5"/>
      <dgm:spPr/>
    </dgm:pt>
    <dgm:pt modelId="{99FFFB74-08B9-464A-972C-B4A06E87CF28}" type="pres">
      <dgm:prSet presAssocID="{484BCF5C-6E65-4218-980E-7AF33A55FCD5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37A8CAB0-B8D1-403B-9F97-6B6A927758CD}" type="pres">
      <dgm:prSet presAssocID="{484BCF5C-6E65-4218-980E-7AF33A55FCD5}" presName="spaceRect" presStyleCnt="0"/>
      <dgm:spPr/>
    </dgm:pt>
    <dgm:pt modelId="{79141D4D-137F-4526-9B7F-74C00CEF8C48}" type="pres">
      <dgm:prSet presAssocID="{484BCF5C-6E65-4218-980E-7AF33A55FCD5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EDA8FC23-F9D6-4E0B-90BA-BFEB7B0248DB}" srcId="{83E67D36-982F-416A-8374-A49CF36763D1}" destId="{A4338DFF-3542-459F-B7F6-C763A816D223}" srcOrd="3" destOrd="0" parTransId="{C03C6FB4-72E1-4A4A-BC3C-38061DF41776}" sibTransId="{1DC23566-1153-45A4-9AC2-BD694EAC9113}"/>
    <dgm:cxn modelId="{091C8846-EEA9-4338-9C91-B1AC6959DED4}" srcId="{83E67D36-982F-416A-8374-A49CF36763D1}" destId="{F29A97C4-254A-46E4-A277-75A32DDDD05B}" srcOrd="1" destOrd="0" parTransId="{D4021A8F-301E-4C13-B08A-CB3A06118138}" sibTransId="{0FD15F7B-37DF-46B0-BD39-177ADB9AA954}"/>
    <dgm:cxn modelId="{E644805E-8ED1-4829-9E6A-453D0407F374}" type="presOf" srcId="{3575DB68-5216-4276-A816-30513A7DB318}" destId="{623F1F90-8DDF-4CFA-91C9-17BC2AB66FAD}" srcOrd="0" destOrd="0" presId="urn:microsoft.com/office/officeart/2018/5/layout/IconCircleLabelList"/>
    <dgm:cxn modelId="{EE0B7F78-B7FE-4C83-ABAE-DFE6F136C5B2}" srcId="{83E67D36-982F-416A-8374-A49CF36763D1}" destId="{3575DB68-5216-4276-A816-30513A7DB318}" srcOrd="0" destOrd="0" parTransId="{DE64B2C3-523D-4070-98AD-5E7872CEDDC0}" sibTransId="{59F3086B-53CF-483D-B33A-C1E6A509F9DC}"/>
    <dgm:cxn modelId="{253062A1-0667-46BD-B20A-22CF07104E5F}" srcId="{83E67D36-982F-416A-8374-A49CF36763D1}" destId="{484BCF5C-6E65-4218-980E-7AF33A55FCD5}" srcOrd="4" destOrd="0" parTransId="{43F7F51F-BE1A-42A2-8CEB-91048768E902}" sibTransId="{B742068E-0238-4D4A-9575-0B054718E554}"/>
    <dgm:cxn modelId="{6A7058AD-C17A-4A40-891E-C05B32A1373F}" type="presOf" srcId="{484BCF5C-6E65-4218-980E-7AF33A55FCD5}" destId="{79141D4D-137F-4526-9B7F-74C00CEF8C48}" srcOrd="0" destOrd="0" presId="urn:microsoft.com/office/officeart/2018/5/layout/IconCircleLabelList"/>
    <dgm:cxn modelId="{8B6A7AC4-895C-40B9-87C2-92D6FAD8FA46}" srcId="{83E67D36-982F-416A-8374-A49CF36763D1}" destId="{8777896B-750C-4F1D-ACC6-A418D0EE23FF}" srcOrd="2" destOrd="0" parTransId="{3B22E5F7-C327-4A03-A041-41FE84419063}" sibTransId="{E529A2EA-A3F6-439F-A5FF-5ABC3A0FE20B}"/>
    <dgm:cxn modelId="{07F32DD2-FC73-47DC-A8CF-82DB230A09B8}" type="presOf" srcId="{8777896B-750C-4F1D-ACC6-A418D0EE23FF}" destId="{F7DC032F-D730-437B-8A23-535C47329454}" srcOrd="0" destOrd="0" presId="urn:microsoft.com/office/officeart/2018/5/layout/IconCircleLabelList"/>
    <dgm:cxn modelId="{37FB14D4-2474-486B-9B30-B3FD32469724}" type="presOf" srcId="{F29A97C4-254A-46E4-A277-75A32DDDD05B}" destId="{0384088E-79B0-40BB-B082-B301EDFF49EB}" srcOrd="0" destOrd="0" presId="urn:microsoft.com/office/officeart/2018/5/layout/IconCircleLabelList"/>
    <dgm:cxn modelId="{79869ED8-E2FE-4C34-94D3-8298DFCCAB74}" type="presOf" srcId="{83E67D36-982F-416A-8374-A49CF36763D1}" destId="{6CFA47BD-F8E9-4F24-B63F-DE49A3379F97}" srcOrd="0" destOrd="0" presId="urn:microsoft.com/office/officeart/2018/5/layout/IconCircleLabelList"/>
    <dgm:cxn modelId="{5821E2F8-5A55-4505-BB1F-63F3400DEB6C}" type="presOf" srcId="{A4338DFF-3542-459F-B7F6-C763A816D223}" destId="{E2512C97-20C3-455C-B6A2-0242A17A99A5}" srcOrd="0" destOrd="0" presId="urn:microsoft.com/office/officeart/2018/5/layout/IconCircleLabelList"/>
    <dgm:cxn modelId="{6249B5D5-E46A-4363-8AA7-DD110C2681B1}" type="presParOf" srcId="{6CFA47BD-F8E9-4F24-B63F-DE49A3379F97}" destId="{D415D77E-2548-4B30-BDD0-DB499CCDA49F}" srcOrd="0" destOrd="0" presId="urn:microsoft.com/office/officeart/2018/5/layout/IconCircleLabelList"/>
    <dgm:cxn modelId="{49FF34EA-A6B2-4815-B277-F83E59F05CFB}" type="presParOf" srcId="{D415D77E-2548-4B30-BDD0-DB499CCDA49F}" destId="{3461F479-3622-4C4F-AA00-75F99D45C54A}" srcOrd="0" destOrd="0" presId="urn:microsoft.com/office/officeart/2018/5/layout/IconCircleLabelList"/>
    <dgm:cxn modelId="{E3F68BEC-2523-4C2A-8492-353DE7DAB72C}" type="presParOf" srcId="{D415D77E-2548-4B30-BDD0-DB499CCDA49F}" destId="{4BE403B2-E1C5-42BE-8DFE-2D2C551F9099}" srcOrd="1" destOrd="0" presId="urn:microsoft.com/office/officeart/2018/5/layout/IconCircleLabelList"/>
    <dgm:cxn modelId="{F70C3529-3658-417C-B65B-03F36F9DDD0F}" type="presParOf" srcId="{D415D77E-2548-4B30-BDD0-DB499CCDA49F}" destId="{7588DE74-F882-41E8-B4C1-3D3AE80518A7}" srcOrd="2" destOrd="0" presId="urn:microsoft.com/office/officeart/2018/5/layout/IconCircleLabelList"/>
    <dgm:cxn modelId="{6EF93B98-95C4-488E-83BB-32FA764CE9F4}" type="presParOf" srcId="{D415D77E-2548-4B30-BDD0-DB499CCDA49F}" destId="{623F1F90-8DDF-4CFA-91C9-17BC2AB66FAD}" srcOrd="3" destOrd="0" presId="urn:microsoft.com/office/officeart/2018/5/layout/IconCircleLabelList"/>
    <dgm:cxn modelId="{E96F6DBD-6CB8-491B-A293-9B92CE5F744A}" type="presParOf" srcId="{6CFA47BD-F8E9-4F24-B63F-DE49A3379F97}" destId="{D65213D6-1BE1-4897-A3F7-050116D2DE99}" srcOrd="1" destOrd="0" presId="urn:microsoft.com/office/officeart/2018/5/layout/IconCircleLabelList"/>
    <dgm:cxn modelId="{8A6565F9-E49B-4A6B-9087-114EFC069661}" type="presParOf" srcId="{6CFA47BD-F8E9-4F24-B63F-DE49A3379F97}" destId="{74E40725-CD4D-4337-8FCB-0F43B2579926}" srcOrd="2" destOrd="0" presId="urn:microsoft.com/office/officeart/2018/5/layout/IconCircleLabelList"/>
    <dgm:cxn modelId="{0D12FA17-53C1-48C5-B94D-51633C32E968}" type="presParOf" srcId="{74E40725-CD4D-4337-8FCB-0F43B2579926}" destId="{30B3A654-CCC1-4D88-AA19-38923DB22694}" srcOrd="0" destOrd="0" presId="urn:microsoft.com/office/officeart/2018/5/layout/IconCircleLabelList"/>
    <dgm:cxn modelId="{E2618C2B-C5F3-408E-8F07-C3C4ACED216F}" type="presParOf" srcId="{74E40725-CD4D-4337-8FCB-0F43B2579926}" destId="{B77CCDD6-80A7-45C4-8876-4285E72EF1BC}" srcOrd="1" destOrd="0" presId="urn:microsoft.com/office/officeart/2018/5/layout/IconCircleLabelList"/>
    <dgm:cxn modelId="{382091DE-0851-4F4F-93B4-6D14A59002CA}" type="presParOf" srcId="{74E40725-CD4D-4337-8FCB-0F43B2579926}" destId="{EE0D98B3-C7C1-4873-8B19-03A9E29906D3}" srcOrd="2" destOrd="0" presId="urn:microsoft.com/office/officeart/2018/5/layout/IconCircleLabelList"/>
    <dgm:cxn modelId="{42970FFB-9130-4697-9349-C693AB40129D}" type="presParOf" srcId="{74E40725-CD4D-4337-8FCB-0F43B2579926}" destId="{0384088E-79B0-40BB-B082-B301EDFF49EB}" srcOrd="3" destOrd="0" presId="urn:microsoft.com/office/officeart/2018/5/layout/IconCircleLabelList"/>
    <dgm:cxn modelId="{15500708-2B9E-43C3-B123-363AFF7F11F3}" type="presParOf" srcId="{6CFA47BD-F8E9-4F24-B63F-DE49A3379F97}" destId="{3AEC57CE-141B-4632-AFDE-6A62ACA01CBA}" srcOrd="3" destOrd="0" presId="urn:microsoft.com/office/officeart/2018/5/layout/IconCircleLabelList"/>
    <dgm:cxn modelId="{444ED970-2871-42E9-9B08-F5BACBD6DD16}" type="presParOf" srcId="{6CFA47BD-F8E9-4F24-B63F-DE49A3379F97}" destId="{3C308C78-A360-4841-B87B-A19087B21333}" srcOrd="4" destOrd="0" presId="urn:microsoft.com/office/officeart/2018/5/layout/IconCircleLabelList"/>
    <dgm:cxn modelId="{4ECEA94D-A48F-4CFD-97E5-B997C1C107E5}" type="presParOf" srcId="{3C308C78-A360-4841-B87B-A19087B21333}" destId="{A5D9D763-9245-444B-B48D-3825993C7F92}" srcOrd="0" destOrd="0" presId="urn:microsoft.com/office/officeart/2018/5/layout/IconCircleLabelList"/>
    <dgm:cxn modelId="{1C99A5FE-4D9A-4C6C-87F8-D3AAA7569D20}" type="presParOf" srcId="{3C308C78-A360-4841-B87B-A19087B21333}" destId="{3D46F279-223E-4084-86AA-8172B9D64A20}" srcOrd="1" destOrd="0" presId="urn:microsoft.com/office/officeart/2018/5/layout/IconCircleLabelList"/>
    <dgm:cxn modelId="{33AD6D20-A1D3-4EA4-A704-9AB8597353A4}" type="presParOf" srcId="{3C308C78-A360-4841-B87B-A19087B21333}" destId="{FA3DFA8B-1766-4893-B760-C97B02FDFF26}" srcOrd="2" destOrd="0" presId="urn:microsoft.com/office/officeart/2018/5/layout/IconCircleLabelList"/>
    <dgm:cxn modelId="{8EEDEDD5-20A1-4D38-92BE-91CF0E8AE41D}" type="presParOf" srcId="{3C308C78-A360-4841-B87B-A19087B21333}" destId="{F7DC032F-D730-437B-8A23-535C47329454}" srcOrd="3" destOrd="0" presId="urn:microsoft.com/office/officeart/2018/5/layout/IconCircleLabelList"/>
    <dgm:cxn modelId="{136D7A7E-1C59-4F32-9B26-C5511A341C64}" type="presParOf" srcId="{6CFA47BD-F8E9-4F24-B63F-DE49A3379F97}" destId="{439ECD76-F251-4B1C-8FB5-2394D09D7C77}" srcOrd="5" destOrd="0" presId="urn:microsoft.com/office/officeart/2018/5/layout/IconCircleLabelList"/>
    <dgm:cxn modelId="{1924BDCE-7BFD-44E3-86C7-ECE4223A7C96}" type="presParOf" srcId="{6CFA47BD-F8E9-4F24-B63F-DE49A3379F97}" destId="{C981939E-5580-4097-B3A5-002D62D127D1}" srcOrd="6" destOrd="0" presId="urn:microsoft.com/office/officeart/2018/5/layout/IconCircleLabelList"/>
    <dgm:cxn modelId="{183DBCCC-5730-42DE-8D81-3419052D2246}" type="presParOf" srcId="{C981939E-5580-4097-B3A5-002D62D127D1}" destId="{C451437D-3051-49C9-B951-9C0E77EED6E5}" srcOrd="0" destOrd="0" presId="urn:microsoft.com/office/officeart/2018/5/layout/IconCircleLabelList"/>
    <dgm:cxn modelId="{602AE3F2-94A4-4CD1-9BBF-3EE723D2B777}" type="presParOf" srcId="{C981939E-5580-4097-B3A5-002D62D127D1}" destId="{71C6AF11-8CD8-4E9F-AC9C-F980ADB30D89}" srcOrd="1" destOrd="0" presId="urn:microsoft.com/office/officeart/2018/5/layout/IconCircleLabelList"/>
    <dgm:cxn modelId="{8C4A2D49-455F-4649-9909-2A0C23A0F0BA}" type="presParOf" srcId="{C981939E-5580-4097-B3A5-002D62D127D1}" destId="{D94D671F-40D5-4FA7-95B1-28877CA62EFB}" srcOrd="2" destOrd="0" presId="urn:microsoft.com/office/officeart/2018/5/layout/IconCircleLabelList"/>
    <dgm:cxn modelId="{8DE7C7E9-C1DA-471F-A913-A57A2FB82372}" type="presParOf" srcId="{C981939E-5580-4097-B3A5-002D62D127D1}" destId="{E2512C97-20C3-455C-B6A2-0242A17A99A5}" srcOrd="3" destOrd="0" presId="urn:microsoft.com/office/officeart/2018/5/layout/IconCircleLabelList"/>
    <dgm:cxn modelId="{DD5AD8EC-6E43-4DF6-89F9-B7A22EE6A14E}" type="presParOf" srcId="{6CFA47BD-F8E9-4F24-B63F-DE49A3379F97}" destId="{3249C7E4-89E3-4242-8400-B6E91FA150E4}" srcOrd="7" destOrd="0" presId="urn:microsoft.com/office/officeart/2018/5/layout/IconCircleLabelList"/>
    <dgm:cxn modelId="{B8D12D19-090A-4F91-8482-0673C3144BAB}" type="presParOf" srcId="{6CFA47BD-F8E9-4F24-B63F-DE49A3379F97}" destId="{F71D11AA-C563-4AC8-B941-1EEEB2A9FCC7}" srcOrd="8" destOrd="0" presId="urn:microsoft.com/office/officeart/2018/5/layout/IconCircleLabelList"/>
    <dgm:cxn modelId="{2BE8F7AF-BEA4-4E60-BA5A-B23E74815236}" type="presParOf" srcId="{F71D11AA-C563-4AC8-B941-1EEEB2A9FCC7}" destId="{607B0A20-E903-4083-9BD3-0D2DB22AFE46}" srcOrd="0" destOrd="0" presId="urn:microsoft.com/office/officeart/2018/5/layout/IconCircleLabelList"/>
    <dgm:cxn modelId="{993FE890-8DA8-4096-A398-591C0533C426}" type="presParOf" srcId="{F71D11AA-C563-4AC8-B941-1EEEB2A9FCC7}" destId="{99FFFB74-08B9-464A-972C-B4A06E87CF28}" srcOrd="1" destOrd="0" presId="urn:microsoft.com/office/officeart/2018/5/layout/IconCircleLabelList"/>
    <dgm:cxn modelId="{B76B390A-85A0-4808-8A7D-3362A432E5D0}" type="presParOf" srcId="{F71D11AA-C563-4AC8-B941-1EEEB2A9FCC7}" destId="{37A8CAB0-B8D1-403B-9F97-6B6A927758CD}" srcOrd="2" destOrd="0" presId="urn:microsoft.com/office/officeart/2018/5/layout/IconCircleLabelList"/>
    <dgm:cxn modelId="{66589B52-4BA5-4B6E-829A-00C3C7B53299}" type="presParOf" srcId="{F71D11AA-C563-4AC8-B941-1EEEB2A9FCC7}" destId="{79141D4D-137F-4526-9B7F-74C00CEF8C4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8E15F4E-CD33-46D4-AC80-D6A982F5DB5F}" type="doc">
      <dgm:prSet loTypeId="urn:microsoft.com/office/officeart/2018/2/layout/IconVerticalSolidList" loCatId="icon" qsTypeId="urn:microsoft.com/office/officeart/2005/8/quickstyle/simple1#82" qsCatId="simple" csTypeId="urn:microsoft.com/office/officeart/2005/8/colors/accent0_3#10" csCatId="mainScheme" phldr="1"/>
      <dgm:spPr/>
      <dgm:t>
        <a:bodyPr/>
        <a:lstStyle/>
        <a:p>
          <a:endParaRPr lang="en-US"/>
        </a:p>
      </dgm:t>
    </dgm:pt>
    <dgm:pt modelId="{5C6CABB6-3084-4E8E-B15E-B831635DB85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During the learning process, the agent needs to explore different actions and their outcomes to discover the optimal policy.</a:t>
          </a:r>
        </a:p>
      </dgm:t>
    </dgm:pt>
    <dgm:pt modelId="{6A128DB4-E214-496D-A26F-E92BFC9598E0}" type="parTrans" cxnId="{CC50C6C6-962D-480C-9E18-8FF41ECC8D0B}">
      <dgm:prSet/>
      <dgm:spPr/>
      <dgm:t>
        <a:bodyPr/>
        <a:lstStyle/>
        <a:p>
          <a:endParaRPr lang="en-US"/>
        </a:p>
      </dgm:t>
    </dgm:pt>
    <dgm:pt modelId="{0E119E99-1D6D-489D-8FF1-E4E0D9BB793B}" type="sibTrans" cxnId="{CC50C6C6-962D-480C-9E18-8FF41ECC8D0B}">
      <dgm:prSet/>
      <dgm:spPr/>
      <dgm:t>
        <a:bodyPr/>
        <a:lstStyle/>
        <a:p>
          <a:endParaRPr lang="en-US"/>
        </a:p>
      </dgm:t>
    </dgm:pt>
    <dgm:pt modelId="{46ED238B-CEE6-4F78-A429-B974668E03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If the agent only chooses actions randomly, it may take a long time to converge to the optimal policy.</a:t>
          </a:r>
        </a:p>
      </dgm:t>
    </dgm:pt>
    <dgm:pt modelId="{AC7FBA7E-6C7E-4163-B671-2EBD886F6AAF}" type="parTrans" cxnId="{36D0C572-2FE2-4644-BA6B-BFCA90D8157F}">
      <dgm:prSet/>
      <dgm:spPr/>
      <dgm:t>
        <a:bodyPr/>
        <a:lstStyle/>
        <a:p>
          <a:endParaRPr lang="en-US"/>
        </a:p>
      </dgm:t>
    </dgm:pt>
    <dgm:pt modelId="{F4A62F19-9637-416D-80E3-36C61642A2E8}" type="sibTrans" cxnId="{36D0C572-2FE2-4644-BA6B-BFCA90D8157F}">
      <dgm:prSet/>
      <dgm:spPr/>
      <dgm:t>
        <a:bodyPr/>
        <a:lstStyle/>
        <a:p>
          <a:endParaRPr lang="en-US"/>
        </a:p>
      </dgm:t>
    </dgm:pt>
    <dgm:pt modelId="{58FB4CA5-0462-4586-93D5-5C8F0E5B7E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If the agent only chooses actions based on the current Q-values, it may get stuck in a suboptimal policy.</a:t>
          </a:r>
        </a:p>
      </dgm:t>
    </dgm:pt>
    <dgm:pt modelId="{D2335045-75A1-43B2-922D-5F93EDF98B12}" type="parTrans" cxnId="{6C6BE38D-2813-406B-89BB-07F2B7E0E3DE}">
      <dgm:prSet/>
      <dgm:spPr/>
      <dgm:t>
        <a:bodyPr/>
        <a:lstStyle/>
        <a:p>
          <a:endParaRPr lang="en-US"/>
        </a:p>
      </dgm:t>
    </dgm:pt>
    <dgm:pt modelId="{00404809-72EB-4F90-8145-79F02FECC209}" type="sibTrans" cxnId="{6C6BE38D-2813-406B-89BB-07F2B7E0E3DE}">
      <dgm:prSet/>
      <dgm:spPr/>
      <dgm:t>
        <a:bodyPr/>
        <a:lstStyle/>
        <a:p>
          <a:endParaRPr lang="en-US"/>
        </a:p>
      </dgm:t>
    </dgm:pt>
    <dgm:pt modelId="{9008D00B-E40D-4F75-872F-C6FB6AA41B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epsilon-greedy strategy is used to balance between exploration and exploitation by </a:t>
          </a:r>
          <a:r>
            <a:rPr lang="en-US" b="1"/>
            <a:t>choosing a random action with a small probability </a:t>
          </a:r>
          <a:r>
            <a:rPr lang="en-US"/>
            <a:t>(epsilon) and choosing the action with the highest Q-value in the current state with probability (1-epsilon).</a:t>
          </a:r>
        </a:p>
      </dgm:t>
    </dgm:pt>
    <dgm:pt modelId="{AC449C1A-F449-414D-AFAE-DC447DB4B6C4}" type="parTrans" cxnId="{6EA187AA-58C9-4CF7-9E57-B0643D4818E7}">
      <dgm:prSet/>
      <dgm:spPr/>
      <dgm:t>
        <a:bodyPr/>
        <a:lstStyle/>
        <a:p>
          <a:endParaRPr lang="en-US"/>
        </a:p>
      </dgm:t>
    </dgm:pt>
    <dgm:pt modelId="{EF20DB10-E32E-4F1D-9BA7-2FF07A72F191}" type="sibTrans" cxnId="{6EA187AA-58C9-4CF7-9E57-B0643D4818E7}">
      <dgm:prSet/>
      <dgm:spPr/>
      <dgm:t>
        <a:bodyPr/>
        <a:lstStyle/>
        <a:p>
          <a:endParaRPr lang="en-US"/>
        </a:p>
      </dgm:t>
    </dgm:pt>
    <dgm:pt modelId="{66F21B62-4779-4512-8C43-E9DD1D43EA8E}" type="pres">
      <dgm:prSet presAssocID="{08E15F4E-CD33-46D4-AC80-D6A982F5DB5F}" presName="root" presStyleCnt="0">
        <dgm:presLayoutVars>
          <dgm:dir/>
          <dgm:resizeHandles val="exact"/>
        </dgm:presLayoutVars>
      </dgm:prSet>
      <dgm:spPr/>
    </dgm:pt>
    <dgm:pt modelId="{7064FA7D-6E0D-40E6-948A-77C1A4FA7EA0}" type="pres">
      <dgm:prSet presAssocID="{5C6CABB6-3084-4E8E-B15E-B831635DB855}" presName="compNode" presStyleCnt="0"/>
      <dgm:spPr/>
    </dgm:pt>
    <dgm:pt modelId="{2DAC843B-A631-4EA6-A097-4C988F360336}" type="pres">
      <dgm:prSet presAssocID="{5C6CABB6-3084-4E8E-B15E-B831635DB855}" presName="bgRect" presStyleLbl="bgShp" presStyleIdx="0" presStyleCnt="4"/>
      <dgm:spPr/>
    </dgm:pt>
    <dgm:pt modelId="{A7723C85-AB84-4098-8ED3-922F1F2FEA85}" type="pres">
      <dgm:prSet presAssocID="{5C6CABB6-3084-4E8E-B15E-B831635DB855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2001F0D8-E104-41F2-B127-89AAFFEAA5AB}" type="pres">
      <dgm:prSet presAssocID="{5C6CABB6-3084-4E8E-B15E-B831635DB855}" presName="spaceRect" presStyleCnt="0"/>
      <dgm:spPr/>
    </dgm:pt>
    <dgm:pt modelId="{9D0D706C-5068-4CA8-B565-0E732980148F}" type="pres">
      <dgm:prSet presAssocID="{5C6CABB6-3084-4E8E-B15E-B831635DB855}" presName="parTx" presStyleLbl="revTx" presStyleIdx="0" presStyleCnt="4">
        <dgm:presLayoutVars>
          <dgm:chMax val="0"/>
          <dgm:chPref val="0"/>
        </dgm:presLayoutVars>
      </dgm:prSet>
      <dgm:spPr/>
    </dgm:pt>
    <dgm:pt modelId="{7F1BED4B-AD7A-47C9-AE6B-93E2128CCC25}" type="pres">
      <dgm:prSet presAssocID="{0E119E99-1D6D-489D-8FF1-E4E0D9BB793B}" presName="sibTrans" presStyleCnt="0"/>
      <dgm:spPr/>
    </dgm:pt>
    <dgm:pt modelId="{4454F0F0-0942-4D53-8A37-3200336F49C9}" type="pres">
      <dgm:prSet presAssocID="{46ED238B-CEE6-4F78-A429-B974668E0375}" presName="compNode" presStyleCnt="0"/>
      <dgm:spPr/>
    </dgm:pt>
    <dgm:pt modelId="{160141A3-4998-4C55-8802-1295FA278DD4}" type="pres">
      <dgm:prSet presAssocID="{46ED238B-CEE6-4F78-A429-B974668E0375}" presName="bgRect" presStyleLbl="bgShp" presStyleIdx="1" presStyleCnt="4"/>
      <dgm:spPr/>
    </dgm:pt>
    <dgm:pt modelId="{81044CFA-4103-46FA-B83E-BF1AD94EF4E1}" type="pres">
      <dgm:prSet presAssocID="{46ED238B-CEE6-4F78-A429-B974668E0375}" presName="iconRect" presStyleLbl="node1" presStyleIdx="1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rbage with solid fill"/>
        </a:ext>
      </dgm:extLst>
    </dgm:pt>
    <dgm:pt modelId="{9A7961B6-0F5C-4876-8A22-AB146C764185}" type="pres">
      <dgm:prSet presAssocID="{46ED238B-CEE6-4F78-A429-B974668E0375}" presName="spaceRect" presStyleCnt="0"/>
      <dgm:spPr/>
    </dgm:pt>
    <dgm:pt modelId="{37E4B196-667E-4061-AF5C-5F5462A39A2D}" type="pres">
      <dgm:prSet presAssocID="{46ED238B-CEE6-4F78-A429-B974668E0375}" presName="parTx" presStyleLbl="revTx" presStyleIdx="1" presStyleCnt="4">
        <dgm:presLayoutVars>
          <dgm:chMax val="0"/>
          <dgm:chPref val="0"/>
        </dgm:presLayoutVars>
      </dgm:prSet>
      <dgm:spPr/>
    </dgm:pt>
    <dgm:pt modelId="{C70276D7-B060-4601-9A51-E06D3800B9F4}" type="pres">
      <dgm:prSet presAssocID="{F4A62F19-9637-416D-80E3-36C61642A2E8}" presName="sibTrans" presStyleCnt="0"/>
      <dgm:spPr/>
    </dgm:pt>
    <dgm:pt modelId="{61CE1D35-C6F8-4070-B7EB-734D46F48425}" type="pres">
      <dgm:prSet presAssocID="{58FB4CA5-0462-4586-93D5-5C8F0E5B7EE3}" presName="compNode" presStyleCnt="0"/>
      <dgm:spPr/>
    </dgm:pt>
    <dgm:pt modelId="{02AA3615-E95E-414D-A875-0F427785EEDE}" type="pres">
      <dgm:prSet presAssocID="{58FB4CA5-0462-4586-93D5-5C8F0E5B7EE3}" presName="bgRect" presStyleLbl="bgShp" presStyleIdx="2" presStyleCnt="4"/>
      <dgm:spPr/>
    </dgm:pt>
    <dgm:pt modelId="{BFF8E4DD-DF42-46B1-B5A3-45FA9947EE34}" type="pres">
      <dgm:prSet presAssocID="{58FB4CA5-0462-4586-93D5-5C8F0E5B7EE3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ull Brick Wall outline"/>
        </a:ext>
      </dgm:extLst>
    </dgm:pt>
    <dgm:pt modelId="{C8A661A4-B3E8-4B64-B218-134C37E99F00}" type="pres">
      <dgm:prSet presAssocID="{58FB4CA5-0462-4586-93D5-5C8F0E5B7EE3}" presName="spaceRect" presStyleCnt="0"/>
      <dgm:spPr/>
    </dgm:pt>
    <dgm:pt modelId="{C1D473BC-AD07-4664-B6C8-2779394F3F33}" type="pres">
      <dgm:prSet presAssocID="{58FB4CA5-0462-4586-93D5-5C8F0E5B7EE3}" presName="parTx" presStyleLbl="revTx" presStyleIdx="2" presStyleCnt="4">
        <dgm:presLayoutVars>
          <dgm:chMax val="0"/>
          <dgm:chPref val="0"/>
        </dgm:presLayoutVars>
      </dgm:prSet>
      <dgm:spPr/>
    </dgm:pt>
    <dgm:pt modelId="{1597D95A-B529-470F-B522-B98E7AC00E97}" type="pres">
      <dgm:prSet presAssocID="{00404809-72EB-4F90-8145-79F02FECC209}" presName="sibTrans" presStyleCnt="0"/>
      <dgm:spPr/>
    </dgm:pt>
    <dgm:pt modelId="{C5B14CF9-AF50-4E16-A22D-DFE435DBFC16}" type="pres">
      <dgm:prSet presAssocID="{9008D00B-E40D-4F75-872F-C6FB6AA41B7B}" presName="compNode" presStyleCnt="0"/>
      <dgm:spPr/>
    </dgm:pt>
    <dgm:pt modelId="{713920B0-E7A6-4DC3-9670-66A120E21E9B}" type="pres">
      <dgm:prSet presAssocID="{9008D00B-E40D-4F75-872F-C6FB6AA41B7B}" presName="bgRect" presStyleLbl="bgShp" presStyleIdx="3" presStyleCnt="4"/>
      <dgm:spPr/>
    </dgm:pt>
    <dgm:pt modelId="{26FCB85E-A3F9-4261-9E6F-0E19F07C1AF5}" type="pres">
      <dgm:prSet presAssocID="{9008D00B-E40D-4F75-872F-C6FB6AA41B7B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C8674E42-E132-462B-B76E-812CAC1B2DE6}" type="pres">
      <dgm:prSet presAssocID="{9008D00B-E40D-4F75-872F-C6FB6AA41B7B}" presName="spaceRect" presStyleCnt="0"/>
      <dgm:spPr/>
    </dgm:pt>
    <dgm:pt modelId="{00F952CB-B6C8-43E7-95EE-68C67626720B}" type="pres">
      <dgm:prSet presAssocID="{9008D00B-E40D-4F75-872F-C6FB6AA41B7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05F9310-9954-4AA6-B6E4-FC32BB28EFA2}" type="presOf" srcId="{5C6CABB6-3084-4E8E-B15E-B831635DB855}" destId="{9D0D706C-5068-4CA8-B565-0E732980148F}" srcOrd="0" destOrd="0" presId="urn:microsoft.com/office/officeart/2018/2/layout/IconVerticalSolidList"/>
    <dgm:cxn modelId="{FBE1E430-DFE4-430A-A55F-34E2842E694E}" type="presOf" srcId="{58FB4CA5-0462-4586-93D5-5C8F0E5B7EE3}" destId="{C1D473BC-AD07-4664-B6C8-2779394F3F33}" srcOrd="0" destOrd="0" presId="urn:microsoft.com/office/officeart/2018/2/layout/IconVerticalSolidList"/>
    <dgm:cxn modelId="{95AD0C66-B7B8-4AF8-8793-0174079FF435}" type="presOf" srcId="{9008D00B-E40D-4F75-872F-C6FB6AA41B7B}" destId="{00F952CB-B6C8-43E7-95EE-68C67626720B}" srcOrd="0" destOrd="0" presId="urn:microsoft.com/office/officeart/2018/2/layout/IconVerticalSolidList"/>
    <dgm:cxn modelId="{36D0C572-2FE2-4644-BA6B-BFCA90D8157F}" srcId="{08E15F4E-CD33-46D4-AC80-D6A982F5DB5F}" destId="{46ED238B-CEE6-4F78-A429-B974668E0375}" srcOrd="1" destOrd="0" parTransId="{AC7FBA7E-6C7E-4163-B671-2EBD886F6AAF}" sibTransId="{F4A62F19-9637-416D-80E3-36C61642A2E8}"/>
    <dgm:cxn modelId="{6C6BE38D-2813-406B-89BB-07F2B7E0E3DE}" srcId="{08E15F4E-CD33-46D4-AC80-D6A982F5DB5F}" destId="{58FB4CA5-0462-4586-93D5-5C8F0E5B7EE3}" srcOrd="2" destOrd="0" parTransId="{D2335045-75A1-43B2-922D-5F93EDF98B12}" sibTransId="{00404809-72EB-4F90-8145-79F02FECC209}"/>
    <dgm:cxn modelId="{6EA187AA-58C9-4CF7-9E57-B0643D4818E7}" srcId="{08E15F4E-CD33-46D4-AC80-D6A982F5DB5F}" destId="{9008D00B-E40D-4F75-872F-C6FB6AA41B7B}" srcOrd="3" destOrd="0" parTransId="{AC449C1A-F449-414D-AFAE-DC447DB4B6C4}" sibTransId="{EF20DB10-E32E-4F1D-9BA7-2FF07A72F191}"/>
    <dgm:cxn modelId="{569B1BB9-E7E6-43D9-9FFF-345E9876264F}" type="presOf" srcId="{08E15F4E-CD33-46D4-AC80-D6A982F5DB5F}" destId="{66F21B62-4779-4512-8C43-E9DD1D43EA8E}" srcOrd="0" destOrd="0" presId="urn:microsoft.com/office/officeart/2018/2/layout/IconVerticalSolidList"/>
    <dgm:cxn modelId="{CC50C6C6-962D-480C-9E18-8FF41ECC8D0B}" srcId="{08E15F4E-CD33-46D4-AC80-D6A982F5DB5F}" destId="{5C6CABB6-3084-4E8E-B15E-B831635DB855}" srcOrd="0" destOrd="0" parTransId="{6A128DB4-E214-496D-A26F-E92BFC9598E0}" sibTransId="{0E119E99-1D6D-489D-8FF1-E4E0D9BB793B}"/>
    <dgm:cxn modelId="{7E2E20C9-0357-4AEB-92C6-C413B0C280E5}" type="presOf" srcId="{46ED238B-CEE6-4F78-A429-B974668E0375}" destId="{37E4B196-667E-4061-AF5C-5F5462A39A2D}" srcOrd="0" destOrd="0" presId="urn:microsoft.com/office/officeart/2018/2/layout/IconVerticalSolidList"/>
    <dgm:cxn modelId="{F7369388-6DC9-486F-A022-7EE0393DB452}" type="presParOf" srcId="{66F21B62-4779-4512-8C43-E9DD1D43EA8E}" destId="{7064FA7D-6E0D-40E6-948A-77C1A4FA7EA0}" srcOrd="0" destOrd="0" presId="urn:microsoft.com/office/officeart/2018/2/layout/IconVerticalSolidList"/>
    <dgm:cxn modelId="{8910B6D6-B592-4401-8D78-2C1B38A2E4D5}" type="presParOf" srcId="{7064FA7D-6E0D-40E6-948A-77C1A4FA7EA0}" destId="{2DAC843B-A631-4EA6-A097-4C988F360336}" srcOrd="0" destOrd="0" presId="urn:microsoft.com/office/officeart/2018/2/layout/IconVerticalSolidList"/>
    <dgm:cxn modelId="{F827D044-AC0B-475C-AEC5-A2737842B42E}" type="presParOf" srcId="{7064FA7D-6E0D-40E6-948A-77C1A4FA7EA0}" destId="{A7723C85-AB84-4098-8ED3-922F1F2FEA85}" srcOrd="1" destOrd="0" presId="urn:microsoft.com/office/officeart/2018/2/layout/IconVerticalSolidList"/>
    <dgm:cxn modelId="{E832C44A-2233-451B-BA4F-BEC760E8BDD9}" type="presParOf" srcId="{7064FA7D-6E0D-40E6-948A-77C1A4FA7EA0}" destId="{2001F0D8-E104-41F2-B127-89AAFFEAA5AB}" srcOrd="2" destOrd="0" presId="urn:microsoft.com/office/officeart/2018/2/layout/IconVerticalSolidList"/>
    <dgm:cxn modelId="{AA8AB922-9A16-4A28-9379-1B532946875C}" type="presParOf" srcId="{7064FA7D-6E0D-40E6-948A-77C1A4FA7EA0}" destId="{9D0D706C-5068-4CA8-B565-0E732980148F}" srcOrd="3" destOrd="0" presId="urn:microsoft.com/office/officeart/2018/2/layout/IconVerticalSolidList"/>
    <dgm:cxn modelId="{30CDA7E1-0450-4FC7-9333-1DFC44F913C1}" type="presParOf" srcId="{66F21B62-4779-4512-8C43-E9DD1D43EA8E}" destId="{7F1BED4B-AD7A-47C9-AE6B-93E2128CCC25}" srcOrd="1" destOrd="0" presId="urn:microsoft.com/office/officeart/2018/2/layout/IconVerticalSolidList"/>
    <dgm:cxn modelId="{937067EB-EA73-4988-9A6D-616A1918E09E}" type="presParOf" srcId="{66F21B62-4779-4512-8C43-E9DD1D43EA8E}" destId="{4454F0F0-0942-4D53-8A37-3200336F49C9}" srcOrd="2" destOrd="0" presId="urn:microsoft.com/office/officeart/2018/2/layout/IconVerticalSolidList"/>
    <dgm:cxn modelId="{BF6B5EF9-455C-4115-B874-5EA497DE3A0D}" type="presParOf" srcId="{4454F0F0-0942-4D53-8A37-3200336F49C9}" destId="{160141A3-4998-4C55-8802-1295FA278DD4}" srcOrd="0" destOrd="0" presId="urn:microsoft.com/office/officeart/2018/2/layout/IconVerticalSolidList"/>
    <dgm:cxn modelId="{E1BCA638-825E-4345-A190-37CDE1A1A65D}" type="presParOf" srcId="{4454F0F0-0942-4D53-8A37-3200336F49C9}" destId="{81044CFA-4103-46FA-B83E-BF1AD94EF4E1}" srcOrd="1" destOrd="0" presId="urn:microsoft.com/office/officeart/2018/2/layout/IconVerticalSolidList"/>
    <dgm:cxn modelId="{09D61993-374C-4F31-8C6B-1236A069E848}" type="presParOf" srcId="{4454F0F0-0942-4D53-8A37-3200336F49C9}" destId="{9A7961B6-0F5C-4876-8A22-AB146C764185}" srcOrd="2" destOrd="0" presId="urn:microsoft.com/office/officeart/2018/2/layout/IconVerticalSolidList"/>
    <dgm:cxn modelId="{6ED3E874-FD2B-467A-9341-0C744639C46C}" type="presParOf" srcId="{4454F0F0-0942-4D53-8A37-3200336F49C9}" destId="{37E4B196-667E-4061-AF5C-5F5462A39A2D}" srcOrd="3" destOrd="0" presId="urn:microsoft.com/office/officeart/2018/2/layout/IconVerticalSolidList"/>
    <dgm:cxn modelId="{ABB8C47B-9C0D-48BD-AECD-7D0784C59B6A}" type="presParOf" srcId="{66F21B62-4779-4512-8C43-E9DD1D43EA8E}" destId="{C70276D7-B060-4601-9A51-E06D3800B9F4}" srcOrd="3" destOrd="0" presId="urn:microsoft.com/office/officeart/2018/2/layout/IconVerticalSolidList"/>
    <dgm:cxn modelId="{7A70A0C3-50F2-4C8C-AEF7-2CD396E2D44F}" type="presParOf" srcId="{66F21B62-4779-4512-8C43-E9DD1D43EA8E}" destId="{61CE1D35-C6F8-4070-B7EB-734D46F48425}" srcOrd="4" destOrd="0" presId="urn:microsoft.com/office/officeart/2018/2/layout/IconVerticalSolidList"/>
    <dgm:cxn modelId="{2E222D3E-F0B2-43F9-9E85-6AD9999E55A8}" type="presParOf" srcId="{61CE1D35-C6F8-4070-B7EB-734D46F48425}" destId="{02AA3615-E95E-414D-A875-0F427785EEDE}" srcOrd="0" destOrd="0" presId="urn:microsoft.com/office/officeart/2018/2/layout/IconVerticalSolidList"/>
    <dgm:cxn modelId="{C7F4590B-181A-475C-8C8B-B048B55D7406}" type="presParOf" srcId="{61CE1D35-C6F8-4070-B7EB-734D46F48425}" destId="{BFF8E4DD-DF42-46B1-B5A3-45FA9947EE34}" srcOrd="1" destOrd="0" presId="urn:microsoft.com/office/officeart/2018/2/layout/IconVerticalSolidList"/>
    <dgm:cxn modelId="{4C9C3EBE-EEC8-42A7-A1CA-55F9F5F80EBA}" type="presParOf" srcId="{61CE1D35-C6F8-4070-B7EB-734D46F48425}" destId="{C8A661A4-B3E8-4B64-B218-134C37E99F00}" srcOrd="2" destOrd="0" presId="urn:microsoft.com/office/officeart/2018/2/layout/IconVerticalSolidList"/>
    <dgm:cxn modelId="{E4736148-B693-403F-BF2E-DF03A281CF2C}" type="presParOf" srcId="{61CE1D35-C6F8-4070-B7EB-734D46F48425}" destId="{C1D473BC-AD07-4664-B6C8-2779394F3F33}" srcOrd="3" destOrd="0" presId="urn:microsoft.com/office/officeart/2018/2/layout/IconVerticalSolidList"/>
    <dgm:cxn modelId="{F769B806-0650-4C5E-AEE9-28A108A64AB3}" type="presParOf" srcId="{66F21B62-4779-4512-8C43-E9DD1D43EA8E}" destId="{1597D95A-B529-470F-B522-B98E7AC00E97}" srcOrd="5" destOrd="0" presId="urn:microsoft.com/office/officeart/2018/2/layout/IconVerticalSolidList"/>
    <dgm:cxn modelId="{A8097C77-D996-4A0F-846D-D24640431473}" type="presParOf" srcId="{66F21B62-4779-4512-8C43-E9DD1D43EA8E}" destId="{C5B14CF9-AF50-4E16-A22D-DFE435DBFC16}" srcOrd="6" destOrd="0" presId="urn:microsoft.com/office/officeart/2018/2/layout/IconVerticalSolidList"/>
    <dgm:cxn modelId="{9B6E6864-A945-4384-985B-417FA37CA1E8}" type="presParOf" srcId="{C5B14CF9-AF50-4E16-A22D-DFE435DBFC16}" destId="{713920B0-E7A6-4DC3-9670-66A120E21E9B}" srcOrd="0" destOrd="0" presId="urn:microsoft.com/office/officeart/2018/2/layout/IconVerticalSolidList"/>
    <dgm:cxn modelId="{8EEAAD63-3EB5-496B-9A28-049323E8FC1B}" type="presParOf" srcId="{C5B14CF9-AF50-4E16-A22D-DFE435DBFC16}" destId="{26FCB85E-A3F9-4261-9E6F-0E19F07C1AF5}" srcOrd="1" destOrd="0" presId="urn:microsoft.com/office/officeart/2018/2/layout/IconVerticalSolidList"/>
    <dgm:cxn modelId="{778F8D7F-92E7-4951-BA0E-EACFB89CED59}" type="presParOf" srcId="{C5B14CF9-AF50-4E16-A22D-DFE435DBFC16}" destId="{C8674E42-E132-462B-B76E-812CAC1B2DE6}" srcOrd="2" destOrd="0" presId="urn:microsoft.com/office/officeart/2018/2/layout/IconVerticalSolidList"/>
    <dgm:cxn modelId="{2A4B4757-ABB0-44F4-B1F8-56CBFC76DD84}" type="presParOf" srcId="{C5B14CF9-AF50-4E16-A22D-DFE435DBFC16}" destId="{00F952CB-B6C8-43E7-95EE-68C67626720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5A836D-F42C-45F3-9553-0A8756F976FE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E4D669-57A2-4EB9-84CE-FF5CCC85326A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7C5672-0280-4FE2-89C0-EB3975300C12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/>
            <a:t>Reinforcement learning from human feedback (RLHF): use in </a:t>
          </a:r>
          <a:r>
            <a:rPr lang="en-US" sz="2400" b="0" i="0" kern="1200" dirty="0" err="1"/>
            <a:t>ChatGPT</a:t>
          </a:r>
          <a:endParaRPr lang="en-US" sz="2400" kern="1200" dirty="0"/>
        </a:p>
      </dsp:txBody>
      <dsp:txXfrm>
        <a:off x="1834517" y="469890"/>
        <a:ext cx="3148942" cy="1335915"/>
      </dsp:txXfrm>
    </dsp:sp>
    <dsp:sp modelId="{688BD7FF-6888-43D7-A4D3-E6449EAADD7D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5883F4-3359-49BA-BD7F-7E14613DAD6E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62BDF2-95C2-481A-9389-909ABADB87DC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Accelerating fusion science through learned plasma control</a:t>
          </a:r>
          <a:endParaRPr lang="en-US" sz="2400" kern="1200"/>
        </a:p>
      </dsp:txBody>
      <dsp:txXfrm>
        <a:off x="7154322" y="469890"/>
        <a:ext cx="3148942" cy="1335915"/>
      </dsp:txXfrm>
    </dsp:sp>
    <dsp:sp modelId="{10CA9AEA-C90A-449C-A352-086D3CA7A004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E053F9-AE74-45CD-84D3-558B20ABB6B3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2EACA6-8786-4FA1-8C3B-096B9FB99E7C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/>
            <a:t>Alpha Tensor: </a:t>
          </a:r>
          <a:r>
            <a:rPr lang="en-US" sz="2400" b="0" i="1" kern="1200" dirty="0"/>
            <a:t>discovering new algorithms </a:t>
          </a:r>
          <a:endParaRPr lang="en-US" sz="2400" kern="1200" dirty="0"/>
        </a:p>
      </dsp:txBody>
      <dsp:txXfrm>
        <a:off x="1834517" y="2545532"/>
        <a:ext cx="3148942" cy="1335915"/>
      </dsp:txXfrm>
    </dsp:sp>
    <dsp:sp modelId="{6B6DE190-5C09-4C04-AEC7-E760F8F6C2F7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25F640-2A36-4CC9-9D20-F3EF1E752828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4A445F-3FAC-4CE5-B840-7B9A2DFEE0BC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References in </a:t>
          </a:r>
          <a:r>
            <a:rPr lang="en-US" sz="2400" b="0" i="0" kern="1200" dirty="0">
              <a:hlinkClick xmlns:r="http://schemas.openxmlformats.org/officeDocument/2006/relationships" r:id="rId5"/>
            </a:rPr>
            <a:t>RL - Theoretical background</a:t>
          </a:r>
          <a:endParaRPr lang="en-US" sz="2400" kern="1200" dirty="0"/>
        </a:p>
      </dsp:txBody>
      <dsp:txXfrm>
        <a:off x="7154322" y="2545532"/>
        <a:ext cx="3148942" cy="13359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F564AC-E4C7-498C-9452-E0B8123A0692}">
      <dsp:nvSpPr>
        <dsp:cNvPr id="0" name=""/>
        <dsp:cNvSpPr/>
      </dsp:nvSpPr>
      <dsp:spPr>
        <a:xfrm>
          <a:off x="2235300" y="375668"/>
          <a:ext cx="2196000" cy="2196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462CF2-6E6C-4395-A08A-7EF8633AE2F4}">
      <dsp:nvSpPr>
        <dsp:cNvPr id="0" name=""/>
        <dsp:cNvSpPr/>
      </dsp:nvSpPr>
      <dsp:spPr>
        <a:xfrm>
          <a:off x="2703300" y="843669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638B09-0A5E-4944-8975-16A5F53D3881}">
      <dsp:nvSpPr>
        <dsp:cNvPr id="0" name=""/>
        <dsp:cNvSpPr/>
      </dsp:nvSpPr>
      <dsp:spPr>
        <a:xfrm>
          <a:off x="153330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b="0" i="0" kern="1200"/>
            <a:t>gather new information </a:t>
          </a:r>
          <a:endParaRPr lang="en-US" sz="2300" kern="1200"/>
        </a:p>
      </dsp:txBody>
      <dsp:txXfrm>
        <a:off x="1533300" y="3255669"/>
        <a:ext cx="3600000" cy="720000"/>
      </dsp:txXfrm>
    </dsp:sp>
    <dsp:sp modelId="{5DAE9C21-5EA4-46F6-826F-5A9F129B6109}">
      <dsp:nvSpPr>
        <dsp:cNvPr id="0" name=""/>
        <dsp:cNvSpPr/>
      </dsp:nvSpPr>
      <dsp:spPr>
        <a:xfrm>
          <a:off x="6465300" y="375668"/>
          <a:ext cx="2196000" cy="2196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8D9EC3-2BCD-4389-A814-21A22A863E8F}">
      <dsp:nvSpPr>
        <dsp:cNvPr id="0" name=""/>
        <dsp:cNvSpPr/>
      </dsp:nvSpPr>
      <dsp:spPr>
        <a:xfrm>
          <a:off x="6933300" y="843669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D38989-CBC5-4271-B0AE-0820277422B6}">
      <dsp:nvSpPr>
        <dsp:cNvPr id="0" name=""/>
        <dsp:cNvSpPr/>
      </dsp:nvSpPr>
      <dsp:spPr>
        <a:xfrm>
          <a:off x="576330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b="0" i="0" kern="1200"/>
            <a:t>leveraging existing knowledge.</a:t>
          </a:r>
          <a:endParaRPr lang="en-US" sz="2300" kern="1200"/>
        </a:p>
      </dsp:txBody>
      <dsp:txXfrm>
        <a:off x="5763300" y="3255669"/>
        <a:ext cx="360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61F479-3622-4C4F-AA00-75F99D45C54A}">
      <dsp:nvSpPr>
        <dsp:cNvPr id="0" name=""/>
        <dsp:cNvSpPr/>
      </dsp:nvSpPr>
      <dsp:spPr>
        <a:xfrm>
          <a:off x="478800" y="1095669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E403B2-E1C5-42BE-8DFE-2D2C551F9099}">
      <dsp:nvSpPr>
        <dsp:cNvPr id="0" name=""/>
        <dsp:cNvSpPr/>
      </dsp:nvSpPr>
      <dsp:spPr>
        <a:xfrm>
          <a:off x="712800" y="1329669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3F1F90-8DDF-4CFA-91C9-17BC2AB66FAD}">
      <dsp:nvSpPr>
        <dsp:cNvPr id="0" name=""/>
        <dsp:cNvSpPr/>
      </dsp:nvSpPr>
      <dsp:spPr>
        <a:xfrm>
          <a:off x="12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 dirty="0"/>
            <a:t>Restaurants</a:t>
          </a:r>
          <a:r>
            <a:rPr lang="en-US" sz="1100" kern="1200" dirty="0"/>
            <a:t>: Choosing between a favorite place and a newly opened restaurant.</a:t>
          </a:r>
        </a:p>
      </dsp:txBody>
      <dsp:txXfrm>
        <a:off x="127800" y="2535669"/>
        <a:ext cx="1800000" cy="720000"/>
      </dsp:txXfrm>
    </dsp:sp>
    <dsp:sp modelId="{30B3A654-CCC1-4D88-AA19-38923DB22694}">
      <dsp:nvSpPr>
        <dsp:cNvPr id="0" name=""/>
        <dsp:cNvSpPr/>
      </dsp:nvSpPr>
      <dsp:spPr>
        <a:xfrm>
          <a:off x="2593800" y="1095669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7CCDD6-80A7-45C4-8876-4285E72EF1BC}">
      <dsp:nvSpPr>
        <dsp:cNvPr id="0" name=""/>
        <dsp:cNvSpPr/>
      </dsp:nvSpPr>
      <dsp:spPr>
        <a:xfrm>
          <a:off x="2827800" y="1329668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84088E-79B0-40BB-B082-B301EDFF49EB}">
      <dsp:nvSpPr>
        <dsp:cNvPr id="0" name=""/>
        <dsp:cNvSpPr/>
      </dsp:nvSpPr>
      <dsp:spPr>
        <a:xfrm>
          <a:off x="2242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 dirty="0"/>
            <a:t>Music</a:t>
          </a:r>
          <a:r>
            <a:rPr lang="en-US" sz="1100" kern="1200" dirty="0"/>
            <a:t>: Opting for a favorite album or exploring new music.</a:t>
          </a:r>
        </a:p>
      </dsp:txBody>
      <dsp:txXfrm>
        <a:off x="2242800" y="2535669"/>
        <a:ext cx="1800000" cy="720000"/>
      </dsp:txXfrm>
    </dsp:sp>
    <dsp:sp modelId="{A5D9D763-9245-444B-B48D-3825993C7F92}">
      <dsp:nvSpPr>
        <dsp:cNvPr id="0" name=""/>
        <dsp:cNvSpPr/>
      </dsp:nvSpPr>
      <dsp:spPr>
        <a:xfrm>
          <a:off x="4708800" y="1095669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46F279-223E-4084-86AA-8172B9D64A20}">
      <dsp:nvSpPr>
        <dsp:cNvPr id="0" name=""/>
        <dsp:cNvSpPr/>
      </dsp:nvSpPr>
      <dsp:spPr>
        <a:xfrm>
          <a:off x="4942800" y="1329668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DC032F-D730-437B-8A23-535C47329454}">
      <dsp:nvSpPr>
        <dsp:cNvPr id="0" name=""/>
        <dsp:cNvSpPr/>
      </dsp:nvSpPr>
      <dsp:spPr>
        <a:xfrm>
          <a:off x="435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Social Lives: Balancing time with close circle friends and fostering new acquaintanceships.</a:t>
          </a:r>
        </a:p>
      </dsp:txBody>
      <dsp:txXfrm>
        <a:off x="4357800" y="2535669"/>
        <a:ext cx="1800000" cy="720000"/>
      </dsp:txXfrm>
    </dsp:sp>
    <dsp:sp modelId="{C451437D-3051-49C9-B951-9C0E77EED6E5}">
      <dsp:nvSpPr>
        <dsp:cNvPr id="0" name=""/>
        <dsp:cNvSpPr/>
      </dsp:nvSpPr>
      <dsp:spPr>
        <a:xfrm>
          <a:off x="6823800" y="1095669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C6AF11-8CD8-4E9F-AC9C-F980ADB30D89}">
      <dsp:nvSpPr>
        <dsp:cNvPr id="0" name=""/>
        <dsp:cNvSpPr/>
      </dsp:nvSpPr>
      <dsp:spPr>
        <a:xfrm>
          <a:off x="7057800" y="1329668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512C97-20C3-455C-B6A2-0242A17A99A5}">
      <dsp:nvSpPr>
        <dsp:cNvPr id="0" name=""/>
        <dsp:cNvSpPr/>
      </dsp:nvSpPr>
      <dsp:spPr>
        <a:xfrm>
          <a:off x="6472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Business: Deciding between running a proven ad with high click rates or trying new, untested ads.</a:t>
          </a:r>
        </a:p>
      </dsp:txBody>
      <dsp:txXfrm>
        <a:off x="6472800" y="2535669"/>
        <a:ext cx="1800000" cy="720000"/>
      </dsp:txXfrm>
    </dsp:sp>
    <dsp:sp modelId="{607B0A20-E903-4083-9BD3-0D2DB22AFE46}">
      <dsp:nvSpPr>
        <dsp:cNvPr id="0" name=""/>
        <dsp:cNvSpPr/>
      </dsp:nvSpPr>
      <dsp:spPr>
        <a:xfrm>
          <a:off x="8938800" y="1095669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FFFB74-08B9-464A-972C-B4A06E87CF28}">
      <dsp:nvSpPr>
        <dsp:cNvPr id="0" name=""/>
        <dsp:cNvSpPr/>
      </dsp:nvSpPr>
      <dsp:spPr>
        <a:xfrm>
          <a:off x="9172800" y="1329668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141D4D-137F-4526-9B7F-74C00CEF8C48}">
      <dsp:nvSpPr>
        <dsp:cNvPr id="0" name=""/>
        <dsp:cNvSpPr/>
      </dsp:nvSpPr>
      <dsp:spPr>
        <a:xfrm>
          <a:off x="858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Medicine: Weighing the best-known treatment against experimental options in clinical trials.</a:t>
          </a:r>
        </a:p>
      </dsp:txBody>
      <dsp:txXfrm>
        <a:off x="8587800" y="2535669"/>
        <a:ext cx="18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AC843B-A631-4EA6-A097-4C988F360336}">
      <dsp:nvSpPr>
        <dsp:cNvPr id="0" name=""/>
        <dsp:cNvSpPr/>
      </dsp:nvSpPr>
      <dsp:spPr>
        <a:xfrm>
          <a:off x="0" y="1806"/>
          <a:ext cx="10515600" cy="915564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723C85-AB84-4098-8ED3-922F1F2FEA85}">
      <dsp:nvSpPr>
        <dsp:cNvPr id="0" name=""/>
        <dsp:cNvSpPr/>
      </dsp:nvSpPr>
      <dsp:spPr>
        <a:xfrm>
          <a:off x="276958" y="207808"/>
          <a:ext cx="503560" cy="5035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0D706C-5068-4CA8-B565-0E732980148F}">
      <dsp:nvSpPr>
        <dsp:cNvPr id="0" name=""/>
        <dsp:cNvSpPr/>
      </dsp:nvSpPr>
      <dsp:spPr>
        <a:xfrm>
          <a:off x="1057476" y="1806"/>
          <a:ext cx="9458123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During the learning process, the agent needs to explore different actions and their outcomes to discover the optimal policy.</a:t>
          </a:r>
        </a:p>
      </dsp:txBody>
      <dsp:txXfrm>
        <a:off x="1057476" y="1806"/>
        <a:ext cx="9458123" cy="915564"/>
      </dsp:txXfrm>
    </dsp:sp>
    <dsp:sp modelId="{160141A3-4998-4C55-8802-1295FA278DD4}">
      <dsp:nvSpPr>
        <dsp:cNvPr id="0" name=""/>
        <dsp:cNvSpPr/>
      </dsp:nvSpPr>
      <dsp:spPr>
        <a:xfrm>
          <a:off x="0" y="1146262"/>
          <a:ext cx="10515600" cy="915564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044CFA-4103-46FA-B83E-BF1AD94EF4E1}">
      <dsp:nvSpPr>
        <dsp:cNvPr id="0" name=""/>
        <dsp:cNvSpPr/>
      </dsp:nvSpPr>
      <dsp:spPr>
        <a:xfrm>
          <a:off x="276958" y="1352264"/>
          <a:ext cx="503560" cy="50356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E4B196-667E-4061-AF5C-5F5462A39A2D}">
      <dsp:nvSpPr>
        <dsp:cNvPr id="0" name=""/>
        <dsp:cNvSpPr/>
      </dsp:nvSpPr>
      <dsp:spPr>
        <a:xfrm>
          <a:off x="1057476" y="1146262"/>
          <a:ext cx="9458123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If the agent only chooses actions randomly, it may take a long time to converge to the optimal policy.</a:t>
          </a:r>
        </a:p>
      </dsp:txBody>
      <dsp:txXfrm>
        <a:off x="1057476" y="1146262"/>
        <a:ext cx="9458123" cy="915564"/>
      </dsp:txXfrm>
    </dsp:sp>
    <dsp:sp modelId="{02AA3615-E95E-414D-A875-0F427785EEDE}">
      <dsp:nvSpPr>
        <dsp:cNvPr id="0" name=""/>
        <dsp:cNvSpPr/>
      </dsp:nvSpPr>
      <dsp:spPr>
        <a:xfrm>
          <a:off x="0" y="2290717"/>
          <a:ext cx="10515600" cy="915564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F8E4DD-DF42-46B1-B5A3-45FA9947EE34}">
      <dsp:nvSpPr>
        <dsp:cNvPr id="0" name=""/>
        <dsp:cNvSpPr/>
      </dsp:nvSpPr>
      <dsp:spPr>
        <a:xfrm>
          <a:off x="276958" y="2496719"/>
          <a:ext cx="503560" cy="5035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D473BC-AD07-4664-B6C8-2779394F3F33}">
      <dsp:nvSpPr>
        <dsp:cNvPr id="0" name=""/>
        <dsp:cNvSpPr/>
      </dsp:nvSpPr>
      <dsp:spPr>
        <a:xfrm>
          <a:off x="1057476" y="2290717"/>
          <a:ext cx="9458123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If the agent only chooses actions based on the current Q-values, it may get stuck in a suboptimal policy.</a:t>
          </a:r>
        </a:p>
      </dsp:txBody>
      <dsp:txXfrm>
        <a:off x="1057476" y="2290717"/>
        <a:ext cx="9458123" cy="915564"/>
      </dsp:txXfrm>
    </dsp:sp>
    <dsp:sp modelId="{713920B0-E7A6-4DC3-9670-66A120E21E9B}">
      <dsp:nvSpPr>
        <dsp:cNvPr id="0" name=""/>
        <dsp:cNvSpPr/>
      </dsp:nvSpPr>
      <dsp:spPr>
        <a:xfrm>
          <a:off x="0" y="3435173"/>
          <a:ext cx="10515600" cy="915564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FCB85E-A3F9-4261-9E6F-0E19F07C1AF5}">
      <dsp:nvSpPr>
        <dsp:cNvPr id="0" name=""/>
        <dsp:cNvSpPr/>
      </dsp:nvSpPr>
      <dsp:spPr>
        <a:xfrm>
          <a:off x="276958" y="3641175"/>
          <a:ext cx="503560" cy="5035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F952CB-B6C8-43E7-95EE-68C67626720B}">
      <dsp:nvSpPr>
        <dsp:cNvPr id="0" name=""/>
        <dsp:cNvSpPr/>
      </dsp:nvSpPr>
      <dsp:spPr>
        <a:xfrm>
          <a:off x="1057476" y="3435173"/>
          <a:ext cx="9458123" cy="915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97" tIns="96897" rIns="96897" bIns="9689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epsilon-greedy strategy is used to balance between exploration and exploitation by </a:t>
          </a:r>
          <a:r>
            <a:rPr lang="en-US" sz="1500" b="1" kern="1200"/>
            <a:t>choosing a random action with a small probability </a:t>
          </a:r>
          <a:r>
            <a:rPr lang="en-US" sz="1500" kern="1200"/>
            <a:t>(epsilon) and choosing the action with the highest Q-value in the current state with probability (1-epsilon).</a:t>
          </a:r>
        </a:p>
      </dsp:txBody>
      <dsp:txXfrm>
        <a:off x="1057476" y="3435173"/>
        <a:ext cx="9458123" cy="9155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7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7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80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8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3D0A3-9DAD-4446-AF3B-421A426B16EF}" type="datetimeFigureOut">
              <a:rPr lang="en-NL" smtClean="0"/>
              <a:t>18/09/2026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649F5-1970-4127-952D-1546756EDEA2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21790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649F5-1970-4127-952D-1546756EDEA2}" type="slidenum">
              <a:rPr lang="en-NL" smtClean="0"/>
              <a:t>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33396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4" name="Shape 16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Did you already learn something about supervised/unsupervised?</a:t>
            </a:r>
          </a:p>
          <a:p>
            <a:endParaRPr dirty="0"/>
          </a:p>
          <a:p>
            <a:r>
              <a:rPr dirty="0"/>
              <a:t>Supervised learning: determining a pattern given example inputs with output labels (e.g. SVM, decision tree, regression).</a:t>
            </a:r>
          </a:p>
          <a:p>
            <a:r>
              <a:rPr dirty="0"/>
              <a:t>Unsupervised learning: determining a pattern given example inputs without output labels (e.g. k-means, clustering).</a:t>
            </a:r>
          </a:p>
          <a:p>
            <a:r>
              <a:rPr dirty="0"/>
              <a:t>Reinforcement learning: learning in a dynamic environment based on rewards and punishments (e.g. Q-learning, AlphaGo)</a:t>
            </a:r>
          </a:p>
          <a:p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2" name="Shape 14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https://www.youtube.com/watch?v=gn4nRCC9TwQ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4" name="Shape 25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If only your agent had a table with all the average reward for each state-action pair (or the quality)</a:t>
            </a:r>
          </a:p>
          <a:p>
            <a:r>
              <a:rPr dirty="0"/>
              <a:t>How do you know the reward?</a:t>
            </a:r>
          </a:p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 err="1"/>
              <a:t>You</a:t>
            </a:r>
            <a:r>
              <a:rPr lang="nl-NL" dirty="0"/>
              <a:t> do </a:t>
            </a:r>
            <a:r>
              <a:rPr lang="nl-NL" dirty="0" err="1"/>
              <a:t>an</a:t>
            </a:r>
            <a:r>
              <a:rPr lang="nl-NL" dirty="0"/>
              <a:t> action, </a:t>
            </a:r>
            <a:r>
              <a:rPr lang="nl-NL" dirty="0" err="1"/>
              <a:t>observe</a:t>
            </a:r>
            <a:r>
              <a:rPr lang="nl-NL" dirty="0"/>
              <a:t> </a:t>
            </a:r>
            <a:r>
              <a:rPr lang="nl-NL" dirty="0" err="1"/>
              <a:t>what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state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reward</a:t>
            </a:r>
            <a:r>
              <a:rPr lang="nl-NL" dirty="0"/>
              <a:t> is </a:t>
            </a:r>
            <a:r>
              <a:rPr lang="nl-NL" dirty="0" err="1"/>
              <a:t>and</a:t>
            </a:r>
            <a:r>
              <a:rPr lang="nl-NL" dirty="0"/>
              <a:t> update </a:t>
            </a:r>
            <a:r>
              <a:rPr lang="nl-NL" dirty="0" err="1"/>
              <a:t>your</a:t>
            </a:r>
            <a:r>
              <a:rPr lang="nl-NL" dirty="0"/>
              <a:t> </a:t>
            </a:r>
            <a:r>
              <a:rPr lang="nl-NL" dirty="0" err="1"/>
              <a:t>table</a:t>
            </a:r>
            <a:endParaRPr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511442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649F5-1970-4127-952D-1546756EDEA2}" type="slidenum">
              <a:rPr lang="en-NL" smtClean="0"/>
              <a:t>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767994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4" name="Shape 25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If only your agent had a table with all the average reward for each state-action pair (or the quality)</a:t>
            </a:r>
          </a:p>
          <a:p>
            <a:r>
              <a:rPr dirty="0"/>
              <a:t>How do you know the reward?</a:t>
            </a:r>
          </a:p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 err="1"/>
              <a:t>You</a:t>
            </a:r>
            <a:r>
              <a:rPr lang="nl-NL" dirty="0"/>
              <a:t> do </a:t>
            </a:r>
            <a:r>
              <a:rPr lang="nl-NL" dirty="0" err="1"/>
              <a:t>an</a:t>
            </a:r>
            <a:r>
              <a:rPr lang="nl-NL" dirty="0"/>
              <a:t> action, </a:t>
            </a:r>
            <a:r>
              <a:rPr lang="nl-NL" dirty="0" err="1"/>
              <a:t>observe</a:t>
            </a:r>
            <a:r>
              <a:rPr lang="nl-NL" dirty="0"/>
              <a:t> </a:t>
            </a:r>
            <a:r>
              <a:rPr lang="nl-NL" dirty="0" err="1"/>
              <a:t>what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state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reward</a:t>
            </a:r>
            <a:r>
              <a:rPr lang="nl-NL" dirty="0"/>
              <a:t> is </a:t>
            </a:r>
            <a:r>
              <a:rPr lang="nl-NL" dirty="0" err="1"/>
              <a:t>and</a:t>
            </a:r>
            <a:r>
              <a:rPr lang="nl-NL" dirty="0"/>
              <a:t> update </a:t>
            </a:r>
            <a:r>
              <a:rPr lang="nl-NL" dirty="0" err="1"/>
              <a:t>your</a:t>
            </a:r>
            <a:r>
              <a:rPr lang="nl-NL" dirty="0"/>
              <a:t> </a:t>
            </a:r>
            <a:r>
              <a:rPr lang="nl-NL" dirty="0" err="1"/>
              <a:t>table</a:t>
            </a:r>
            <a:endParaRPr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62874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5DD5A-C0D7-3963-0229-BBFC61368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DCC0D5-30A2-A5C7-3D10-8FCC2D01D4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DCF6BC-BFAC-DD90-3B23-CC141409D2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this trade-off exists in various domains of life, encompassing a wide range of decisions.</a:t>
            </a:r>
            <a:endParaRPr lang="en-NL" dirty="0"/>
          </a:p>
          <a:p>
            <a:r>
              <a:rPr lang="en-US" dirty="0"/>
              <a:t>Explain the concept of explore-exploit trade-offs in decision-making.</a:t>
            </a:r>
          </a:p>
          <a:p>
            <a:r>
              <a:rPr lang="en-US" dirty="0"/>
              <a:t>Highlight that these trade-offs are recurrent and iterative in nature.</a:t>
            </a:r>
          </a:p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CAE56C-925C-77F5-8BD8-2481CF0E5E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413C0-3B06-4484-AB82-504EE606AF5C}" type="slidenum">
              <a:rPr lang="en-NL" smtClean="0"/>
              <a:t>11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930762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36FA6-EE7B-8784-9BF3-4CBF14743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EA1C9B-874C-625E-BD72-25DF132A81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ECDB25-282D-6084-E1DC-502553B963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Highlight the tension between running historically successful ads and trying new, potentially more effective ones.</a:t>
            </a:r>
          </a:p>
          <a:p>
            <a:endParaRPr lang="en-US" dirty="0"/>
          </a:p>
          <a:p>
            <a:r>
              <a:rPr lang="en-US" dirty="0"/>
              <a:t>There is dynamics in the landscape (new things to learn) for example for Ad 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D8A92D-ED90-7507-A532-F8F034210B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8413C0-3B06-4484-AB82-504EE606AF5C}" type="slidenum">
              <a:rPr lang="en-NL" smtClean="0"/>
              <a:t>12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752347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28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83" name="Shape 28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𝛆: a value of 0.1 will suffice</a:t>
            </a:r>
          </a:p>
          <a:p>
            <a:r>
              <a:rPr dirty="0"/>
              <a:t>𝛄: Most of the time (0.9 or 0.99) to take all the next rewards into account, but a more “shortsighted” version n</a:t>
            </a:r>
          </a:p>
          <a:p>
            <a:r>
              <a:rPr dirty="0"/>
              <a:t>𝛈/α: Most of the time a learning rate of 0.1 or 0.2 is fine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the randomness in the MDP and transition probabilities for when the lake is slippery</a:t>
            </a:r>
          </a:p>
          <a:p>
            <a:r>
              <a:rPr lang="en-US" dirty="0"/>
              <a:t>Discuss that the agent does not have an explicit goal, it simply reacts to reward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Discuss that the agent does not have an overview, it experiments and figures out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Contrast this approach against the shortest path of Dijkstra </a:t>
            </a:r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649F5-1970-4127-952D-1546756EDEA2}" type="slidenum">
              <a:rPr lang="en-NL" smtClean="0"/>
              <a:t>17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42749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FA908-49E5-093C-E2C3-E170566EFE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9DBA2C-E359-F9B5-868E-8F5D83B846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BEC51-D2CE-A706-FF1F-52E05D1F8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D3774-32FE-CF0B-0C2E-E71836F52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D2CCD-ECC0-9849-37D1-3D822D248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254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5EBC8-952B-9A88-8B3C-C65D16195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6112A-E6BB-E32F-D73E-E34458B41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66091-08A0-26E3-810A-718A5776F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3C106-A1BC-ADDB-3A9E-44B288A12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46E53-BD83-907C-33E4-5D3C2B460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637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3C8DA-F00A-B35C-3D22-0461F9202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746FA-34BE-BAD1-0A20-52F7CD34E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35493-BEB0-4602-66C1-8FD4273D3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4FF58-3DB8-21DA-7446-9DB148852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F4265-2921-26AF-4AFD-B192302F2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680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5F6E4-FB92-3B12-4BCF-983718CA2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6F485-D934-7AB4-DAFC-758AB3320A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D1D603-011C-0665-110A-19350FAFF5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553B7D-A40B-2204-03EC-76FBEB93F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60DB3-99DE-F243-FFB3-569C7D953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81C146-6C10-0568-6AFD-6BACBC48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666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DC9BC-63A0-B79A-3825-2895D8F29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C3955-A855-4BCB-AF04-CE665833AF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97D03-A629-ECC8-967A-6BB1A4857F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46543-710E-D70D-4DBE-7AE912666D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882351-9ED2-B5A2-CEC1-6419187B5E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57E4AF-AD2A-544D-9A24-1D199CFB4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9/18/26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C61FC3-4D0A-CAD8-29FD-C45D5B770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10D918-E7A5-7BE7-2945-E8BC1C7CA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652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4018D-4A56-D44B-15B3-A6DA00BE7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EAB802-E6EE-F4F8-BC17-3F4EBC574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C02273-3C79-4050-5A19-EB4CDB8C7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942083-9CD7-517A-4E76-BA1CA0CED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96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81F599-FCD2-A140-1B0F-96D855F37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9/18/26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691F61-E3B0-255F-45DD-5DE484898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508A5E-A4A3-D220-5B51-26AE9FDE6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343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D5BD6-92D7-D5DA-A616-533BB0911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28A74-9B5D-97C8-62AB-0B8CA2DE1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8D66C7-D5D1-F997-4514-EF81D93FF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0D5B66-1BAD-05D4-72D8-9D37D25AE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35AA15-CFC8-A83D-3A06-22293E8C0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403C0-00CB-A0BC-DF30-F0A833424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84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8FA18-FB73-B49A-D122-9687B7177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98AC2E-2424-07BA-9F4D-B90519E3D0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DAE715-7002-A9E2-C64A-8B99E8739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16A35E-A3DD-188A-00D3-29C49713B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10CF83-7EE4-1AC8-0D85-5540B8600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72B93F-9F9B-9695-3DCB-A77CC10F0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015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6778F-2991-A480-2A65-D8D7B1DE5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C88B43-AEC7-C828-87BE-158FA0DEAD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BF606-AA2D-BD92-962F-BF4BE9099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10871-97AD-0466-174D-70C6CFEDA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A7B30-29FA-90EC-FC1B-B7986F40C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144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BA8713-19C5-4FF6-6AF6-907B589344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AE0BC0-3165-8B5D-685A-5FCF3DF4E7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7973E-4C99-D839-FAED-644417BD6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7AA7F-BE72-4467-897E-7A302F46504F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2B1C2-5E50-F13F-8F12-B6CC61BBB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31187-3C7F-3494-3CC7-744206ED2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134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7116375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94384543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idx="21"/>
          </p:nvPr>
        </p:nvSpPr>
        <p:spPr>
          <a:xfrm>
            <a:off x="1068586" y="348258"/>
            <a:ext cx="8697517" cy="431897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2416969" y="4723805"/>
            <a:ext cx="7358063" cy="1000126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416969" y="5759648"/>
            <a:ext cx="7358063" cy="794743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200"/>
            </a:lvl1pPr>
            <a:lvl2pPr marL="0" indent="114300" algn="ctr">
              <a:spcBef>
                <a:spcPts val="0"/>
              </a:spcBef>
              <a:buSzTx/>
              <a:buNone/>
              <a:defRPr sz="2200"/>
            </a:lvl2pPr>
            <a:lvl3pPr marL="0" indent="228600" algn="ctr">
              <a:spcBef>
                <a:spcPts val="0"/>
              </a:spcBef>
              <a:buSzTx/>
              <a:buNone/>
              <a:defRPr sz="2200"/>
            </a:lvl3pPr>
            <a:lvl4pPr marL="0" indent="342900" algn="ctr">
              <a:spcBef>
                <a:spcPts val="0"/>
              </a:spcBef>
              <a:buSzTx/>
              <a:buNone/>
              <a:defRPr sz="2200"/>
            </a:lvl4pPr>
            <a:lvl5pPr marL="0" indent="457200" algn="ctr">
              <a:spcBef>
                <a:spcPts val="0"/>
              </a:spcBef>
              <a:buSzTx/>
              <a:buNone/>
              <a:defRPr sz="2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21794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091F69-A3A2-523E-3610-4ADEF8F50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84F29D-C3D5-DECC-BC99-B79841E8C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879EC-AEF8-08D2-E999-EED4AA0D0D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7AA7F-BE72-4467-897E-7A302F46504F}" type="datetimeFigureOut">
              <a:rPr lang="en-US" smtClean="0"/>
              <a:pPr/>
              <a:t>9/18/26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71E22-E76A-94F8-D4BD-6B35C7228A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5893A-18A9-EAD4-2CBA-8BB0AC85D1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47434-7036-48DB-A148-6B3D8EE75CD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963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1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jpeg"/><Relationship Id="rId11" Type="http://schemas.openxmlformats.org/officeDocument/2006/relationships/image" Target="../media/image15.jpeg"/><Relationship Id="rId5" Type="http://schemas.openxmlformats.org/officeDocument/2006/relationships/image" Target="../media/image9.jpeg"/><Relationship Id="rId10" Type="http://schemas.openxmlformats.org/officeDocument/2006/relationships/image" Target="../media/image14.jpeg"/><Relationship Id="rId4" Type="http://schemas.openxmlformats.org/officeDocument/2006/relationships/image" Target="../media/image8.jpeg"/><Relationship Id="rId9" Type="http://schemas.openxmlformats.org/officeDocument/2006/relationships/image" Target="../media/image1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17.t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jpeg"/><Relationship Id="rId5" Type="http://schemas.openxmlformats.org/officeDocument/2006/relationships/image" Target="../media/image4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0.png"/><Relationship Id="rId4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HznryVmSiCThvGy1lIz_OH7AiY7zAH3f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590.png"/><Relationship Id="rId4" Type="http://schemas.openxmlformats.org/officeDocument/2006/relationships/image" Target="../media/image2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2.jpeg"/><Relationship Id="rId4" Type="http://schemas.openxmlformats.org/officeDocument/2006/relationships/image" Target="../media/image41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ymnasium.farama.org/environments/toy_text/frozen_lake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hyperlink" Target="https://gymnasium.farama.org/" TargetMode="Externa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hyperlink" Target="https://gymnasium.farama.org/" TargetMode="Externa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hyperlink" Target="https://gymnasium.farama.org/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hyperlink" Target="https://gymnasium.farama.org/" TargetMode="Externa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hyperlink" Target="https://gymnasium.farama.org/" TargetMode="Externa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hyperlink" Target="https://gymnasium.farama.org/" TargetMode="Externa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hyperlink" Target="https://gymnasium.farama.org/" TargetMode="Externa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hyperlink" Target="https://gymnasium.farama.org/" TargetMode="Externa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gymnasium.farama.org/environments/classic_control/" TargetMode="External"/><Relationship Id="rId2" Type="http://schemas.openxmlformats.org/officeDocument/2006/relationships/hyperlink" Target="https://gymnasium.farama.org/environments/toy_text/frozen_lake/" TargetMode="Externa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4" name="Rectangle 263">
            <a:extLst>
              <a:ext uri="{FF2B5EF4-FFF2-40B4-BE49-F238E27FC236}">
                <a16:creationId xmlns:a16="http://schemas.microsoft.com/office/drawing/2014/main" id="{A93898FF-D987-4B0E-BFB4-85F5EB356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612F383F-B981-4BC3-9E2B-7BE938CE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240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5AA485AD-076E-4077-A6E6-C3C9F0C39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0" name="Picture 269">
            <a:extLst>
              <a:ext uri="{FF2B5EF4-FFF2-40B4-BE49-F238E27FC236}">
                <a16:creationId xmlns:a16="http://schemas.microsoft.com/office/drawing/2014/main" id="{D088DBDF-80D5-4FC0-8A54-9D660B728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" y="0"/>
            <a:ext cx="12181172" cy="6858000"/>
          </a:xfrm>
          <a:prstGeom prst="rect">
            <a:avLst/>
          </a:prstGeom>
        </p:spPr>
      </p:pic>
      <p:sp>
        <p:nvSpPr>
          <p:cNvPr id="272" name="Rectangle 271">
            <a:extLst>
              <a:ext uri="{FF2B5EF4-FFF2-40B4-BE49-F238E27FC236}">
                <a16:creationId xmlns:a16="http://schemas.microsoft.com/office/drawing/2014/main" id="{58D235B8-3D10-493F-88AC-84BB404C1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9F516D-BF2A-2D5F-AA5C-74E50733993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60000"/>
          </a:blip>
          <a:srcRect t="17" r="3" b="3"/>
          <a:stretch/>
        </p:blipFill>
        <p:spPr>
          <a:xfrm>
            <a:off x="20" y="10"/>
            <a:ext cx="6097022" cy="3428990"/>
          </a:xfrm>
          <a:prstGeom prst="rect">
            <a:avLst/>
          </a:prstGeom>
        </p:spPr>
      </p:pic>
      <p:pic>
        <p:nvPicPr>
          <p:cNvPr id="8" name="Picture 7" descr="Cute yellow robot">
            <a:extLst>
              <a:ext uri="{FF2B5EF4-FFF2-40B4-BE49-F238E27FC236}">
                <a16:creationId xmlns:a16="http://schemas.microsoft.com/office/drawing/2014/main" id="{1A8C3BDF-1595-AD5C-146B-936DAC69B8E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 amt="60000"/>
          </a:blip>
          <a:srcRect t="15697"/>
          <a:stretch/>
        </p:blipFill>
        <p:spPr>
          <a:xfrm>
            <a:off x="6098422" y="10"/>
            <a:ext cx="6093578" cy="3428990"/>
          </a:xfrm>
          <a:prstGeom prst="rect">
            <a:avLst/>
          </a:prstGeom>
        </p:spPr>
      </p:pic>
      <p:pic>
        <p:nvPicPr>
          <p:cNvPr id="3" name="Picture 3" descr="Single king chess piece on board">
            <a:extLst>
              <a:ext uri="{FF2B5EF4-FFF2-40B4-BE49-F238E27FC236}">
                <a16:creationId xmlns:a16="http://schemas.microsoft.com/office/drawing/2014/main" id="{D32ADEF0-F860-E70F-311F-9BFDFDF9F5B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 amt="60000"/>
          </a:blip>
          <a:srcRect t="9964"/>
          <a:stretch/>
        </p:blipFill>
        <p:spPr>
          <a:xfrm>
            <a:off x="7328" y="3429000"/>
            <a:ext cx="6093578" cy="3429000"/>
          </a:xfrm>
          <a:prstGeom prst="rect">
            <a:avLst/>
          </a:prstGeom>
        </p:spPr>
      </p:pic>
      <p:pic>
        <p:nvPicPr>
          <p:cNvPr id="4" name="Picture 3" descr="Two dice rolling in mid-air">
            <a:extLst>
              <a:ext uri="{FF2B5EF4-FFF2-40B4-BE49-F238E27FC236}">
                <a16:creationId xmlns:a16="http://schemas.microsoft.com/office/drawing/2014/main" id="{C8B61C56-D446-68D7-5E46-8FDFD313AEC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60000"/>
          </a:blip>
          <a:srcRect t="16324"/>
          <a:stretch/>
        </p:blipFill>
        <p:spPr>
          <a:xfrm>
            <a:off x="6101860" y="3429000"/>
            <a:ext cx="6093578" cy="3429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38F8217-E551-E4CF-11EA-07266E099C08}"/>
              </a:ext>
            </a:extLst>
          </p:cNvPr>
          <p:cNvSpPr txBox="1">
            <a:spLocks/>
          </p:cNvSpPr>
          <p:nvPr/>
        </p:nvSpPr>
        <p:spPr>
          <a:xfrm>
            <a:off x="1185503" y="3512261"/>
            <a:ext cx="9801082" cy="20596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rgbClr val="FFFFFF"/>
                </a:solidFill>
              </a:rPr>
              <a:t>Reinforcement Learning</a:t>
            </a:r>
            <a:br>
              <a:rPr lang="en-US" dirty="0">
                <a:solidFill>
                  <a:srgbClr val="FFFFFF"/>
                </a:solidFill>
              </a:rPr>
            </a:b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6474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ABCD2D-EDD5-4081-9A62-57560A1CBA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972" t="9091" r="6613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98F972-8DE8-49CD-9EA5-75E23BA06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8600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600" dirty="0"/>
              <a:t>iman.mossavat@fontys.nl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AB761B07-ED0A-4850-37E3-3510990BA099}"/>
              </a:ext>
            </a:extLst>
          </p:cNvPr>
          <p:cNvSpPr txBox="1">
            <a:spLocks/>
          </p:cNvSpPr>
          <p:nvPr/>
        </p:nvSpPr>
        <p:spPr>
          <a:xfrm>
            <a:off x="5502324" y="4953301"/>
            <a:ext cx="6640639" cy="725059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2100" dirty="0">
                <a:solidFill>
                  <a:schemeClr val="tx1">
                    <a:lumMod val="50000"/>
                  </a:schemeClr>
                </a:solidFill>
              </a:rPr>
              <a:t>Working for Fontys since August 2022</a:t>
            </a:r>
          </a:p>
          <a:p>
            <a:pPr lvl="1"/>
            <a:r>
              <a:rPr lang="en-US" sz="2100" dirty="0">
                <a:solidFill>
                  <a:schemeClr val="tx1">
                    <a:lumMod val="50000"/>
                  </a:schemeClr>
                </a:solidFill>
              </a:rPr>
              <a:t>Enjoy learning “stuff”</a:t>
            </a:r>
          </a:p>
          <a:p>
            <a:pPr marL="0" indent="0">
              <a:buNone/>
            </a:pPr>
            <a:endParaRPr lang="en-US" sz="2100" dirty="0">
              <a:solidFill>
                <a:schemeClr val="tx1">
                  <a:lumMod val="50000"/>
                </a:schemeClr>
              </a:solidFill>
            </a:endParaRPr>
          </a:p>
          <a:p>
            <a:pPr marL="457189" indent="-457189"/>
            <a:endParaRPr lang="en-US" sz="2100" dirty="0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EC19C77-7F1B-EFBB-678F-AE28387B605C}"/>
              </a:ext>
            </a:extLst>
          </p:cNvPr>
          <p:cNvGrpSpPr/>
          <p:nvPr/>
        </p:nvGrpSpPr>
        <p:grpSpPr>
          <a:xfrm>
            <a:off x="7504182" y="5678360"/>
            <a:ext cx="4373874" cy="515157"/>
            <a:chOff x="1428977" y="5985042"/>
            <a:chExt cx="4104678" cy="429921"/>
          </a:xfrm>
        </p:grpSpPr>
        <p:pic>
          <p:nvPicPr>
            <p:cNvPr id="16" name="Picture 4">
              <a:extLst>
                <a:ext uri="{FF2B5EF4-FFF2-40B4-BE49-F238E27FC236}">
                  <a16:creationId xmlns:a16="http://schemas.microsoft.com/office/drawing/2014/main" id="{DB5B1EFF-EDE3-32B1-C86E-F35C8F134F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3189" y="6078331"/>
              <a:ext cx="336431" cy="3364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6">
              <a:extLst>
                <a:ext uri="{FF2B5EF4-FFF2-40B4-BE49-F238E27FC236}">
                  <a16:creationId xmlns:a16="http://schemas.microsoft.com/office/drawing/2014/main" id="{153B80AD-6296-E121-D173-D4690D88A3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99631" y="6078129"/>
              <a:ext cx="336834" cy="3368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2">
              <a:extLst>
                <a:ext uri="{FF2B5EF4-FFF2-40B4-BE49-F238E27FC236}">
                  <a16:creationId xmlns:a16="http://schemas.microsoft.com/office/drawing/2014/main" id="{5710314F-0940-78D5-0E72-66FB0DC1C0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0837" y="6078129"/>
              <a:ext cx="336834" cy="3368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14">
              <a:extLst>
                <a:ext uri="{FF2B5EF4-FFF2-40B4-BE49-F238E27FC236}">
                  <a16:creationId xmlns:a16="http://schemas.microsoft.com/office/drawing/2014/main" id="{77ECEFBF-C93A-95F7-2377-72E2647751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4245" y="6078129"/>
              <a:ext cx="336834" cy="3368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16">
              <a:extLst>
                <a:ext uri="{FF2B5EF4-FFF2-40B4-BE49-F238E27FC236}">
                  <a16:creationId xmlns:a16="http://schemas.microsoft.com/office/drawing/2014/main" id="{DF6C9692-1280-DEC4-5027-DE327ABB4A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8977" y="6078330"/>
              <a:ext cx="336432" cy="3364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20">
              <a:extLst>
                <a:ext uri="{FF2B5EF4-FFF2-40B4-BE49-F238E27FC236}">
                  <a16:creationId xmlns:a16="http://schemas.microsoft.com/office/drawing/2014/main" id="{A499A768-6EA0-6899-E398-875B781E06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2013" y="6078130"/>
              <a:ext cx="336833" cy="3368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8">
              <a:extLst>
                <a:ext uri="{FF2B5EF4-FFF2-40B4-BE49-F238E27FC236}">
                  <a16:creationId xmlns:a16="http://schemas.microsoft.com/office/drawing/2014/main" id="{9CDEB5F0-8399-8D76-0B61-AD1D0DAB41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6626" y="6078331"/>
              <a:ext cx="336431" cy="3364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8">
              <a:extLst>
                <a:ext uri="{FF2B5EF4-FFF2-40B4-BE49-F238E27FC236}">
                  <a16:creationId xmlns:a16="http://schemas.microsoft.com/office/drawing/2014/main" id="{E6520820-E7C3-52DE-7AA1-5B7FBD3264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7400" y="6078130"/>
              <a:ext cx="336833" cy="3368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7C15643-5401-1217-BEE3-3B5995602C93}"/>
                </a:ext>
              </a:extLst>
            </p:cNvPr>
            <p:cNvSpPr txBox="1"/>
            <p:nvPr/>
          </p:nvSpPr>
          <p:spPr>
            <a:xfrm>
              <a:off x="5228855" y="5985042"/>
              <a:ext cx="3048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50000"/>
                    </a:schemeClr>
                  </a:solidFill>
                </a:rPr>
                <a:t>… </a:t>
              </a:r>
              <a:endParaRPr lang="en-US" dirty="0"/>
            </a:p>
          </p:txBody>
        </p:sp>
        <p:pic>
          <p:nvPicPr>
            <p:cNvPr id="28" name="Picture 24">
              <a:extLst>
                <a:ext uri="{FF2B5EF4-FFF2-40B4-BE49-F238E27FC236}">
                  <a16:creationId xmlns:a16="http://schemas.microsoft.com/office/drawing/2014/main" id="{79CF581C-306A-97BD-E59C-53E399F054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15451" y="6078129"/>
              <a:ext cx="406400" cy="3366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0DDB956-EA87-877F-29CC-F988C761EB7D}"/>
              </a:ext>
            </a:extLst>
          </p:cNvPr>
          <p:cNvSpPr txBox="1"/>
          <p:nvPr/>
        </p:nvSpPr>
        <p:spPr>
          <a:xfrm>
            <a:off x="3785419" y="6359773"/>
            <a:ext cx="825066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lvl="1" indent="0">
              <a:buNone/>
            </a:pPr>
            <a:r>
              <a:rPr lang="en-US" sz="1800" dirty="0">
                <a:solidFill>
                  <a:schemeClr val="tx1">
                    <a:lumMod val="50000"/>
                  </a:schemeClr>
                </a:solidFill>
              </a:rPr>
              <a:t>If you like this type of material 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join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</a:rPr>
              <a:t> us at science and math club lunch meetings</a:t>
            </a:r>
          </a:p>
        </p:txBody>
      </p:sp>
    </p:spTree>
    <p:extLst>
      <p:ext uri="{BB962C8B-B14F-4D97-AF65-F5344CB8AC3E}">
        <p14:creationId xmlns:p14="http://schemas.microsoft.com/office/powerpoint/2010/main" val="3410811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roup"/>
          <p:cNvGrpSpPr/>
          <p:nvPr/>
        </p:nvGrpSpPr>
        <p:grpSpPr>
          <a:xfrm>
            <a:off x="4645025" y="2158590"/>
            <a:ext cx="2901950" cy="3541722"/>
            <a:chOff x="0" y="241803"/>
            <a:chExt cx="5803900" cy="7083441"/>
          </a:xfrm>
        </p:grpSpPr>
        <p:pic>
          <p:nvPicPr>
            <p:cNvPr id="154" name="Image" descr="Image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521343"/>
              <a:ext cx="5803900" cy="5803901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reflection stA="50000" endPos="40000" dir="5400000" sy="-100000" algn="bl" rotWithShape="0"/>
            </a:effectLst>
          </p:spPr>
        </p:pic>
        <p:sp>
          <p:nvSpPr>
            <p:cNvPr id="155" name="Unsupervised"/>
            <p:cNvSpPr txBox="1"/>
            <p:nvPr/>
          </p:nvSpPr>
          <p:spPr>
            <a:xfrm>
              <a:off x="848360" y="241803"/>
              <a:ext cx="1429880" cy="4212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/>
            <a:p>
              <a:r>
                <a:rPr sz="900"/>
                <a:t>Unsupervised</a:t>
              </a:r>
            </a:p>
          </p:txBody>
        </p:sp>
      </p:grpSp>
      <p:grpSp>
        <p:nvGrpSpPr>
          <p:cNvPr id="159" name="Group"/>
          <p:cNvGrpSpPr/>
          <p:nvPr/>
        </p:nvGrpSpPr>
        <p:grpSpPr>
          <a:xfrm>
            <a:off x="796515" y="2158590"/>
            <a:ext cx="2901951" cy="3541722"/>
            <a:chOff x="0" y="241803"/>
            <a:chExt cx="5803900" cy="7083441"/>
          </a:xfrm>
        </p:grpSpPr>
        <p:pic>
          <p:nvPicPr>
            <p:cNvPr id="157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1521343"/>
              <a:ext cx="5803900" cy="5803901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reflection stA="50000" endPos="40000" dir="5400000" sy="-100000" algn="bl" rotWithShape="0"/>
            </a:effectLst>
          </p:spPr>
        </p:pic>
        <p:sp>
          <p:nvSpPr>
            <p:cNvPr id="158" name="Supervised"/>
            <p:cNvSpPr txBox="1"/>
            <p:nvPr/>
          </p:nvSpPr>
          <p:spPr>
            <a:xfrm>
              <a:off x="1218882" y="241803"/>
              <a:ext cx="1176606" cy="4212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/>
            <a:p>
              <a:r>
                <a:rPr sz="900"/>
                <a:t>Supervised</a:t>
              </a:r>
            </a:p>
          </p:txBody>
        </p:sp>
      </p:grpSp>
      <p:pic>
        <p:nvPicPr>
          <p:cNvPr id="160" name="Reinforcement Learning wiki.png" descr="Reinforcement Learning wik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3535" y="2798360"/>
            <a:ext cx="2901951" cy="2901951"/>
          </a:xfrm>
          <a:prstGeom prst="rect">
            <a:avLst/>
          </a:prstGeom>
          <a:ln w="12700">
            <a:miter lim="400000"/>
          </a:ln>
          <a:effectLst>
            <a:reflection stA="50000" endPos="40000" dir="5400000" sy="-100000" algn="bl" rotWithShape="0"/>
          </a:effectLst>
        </p:spPr>
      </p:pic>
      <p:sp>
        <p:nvSpPr>
          <p:cNvPr id="161" name="Reinforcement"/>
          <p:cNvSpPr txBox="1"/>
          <p:nvPr/>
        </p:nvSpPr>
        <p:spPr>
          <a:xfrm>
            <a:off x="8876123" y="2158590"/>
            <a:ext cx="772648" cy="2106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900" dirty="0"/>
              <a:t>Reinforcement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mph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indefinite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00"/>
                                      </p:to>
                                    </p:set>
                                    <p:animEffect filter="image" prLst="opacity: 0.00; ">
                                      <p:cBhvr>
                                        <p:cTn id="24" dur="indefinite" fill="hold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mph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indefinite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00"/>
                                      </p:to>
                                    </p:set>
                                    <p:animEffect filter="image" prLst="opacity: 0.00; ">
                                      <p:cBhvr>
                                        <p:cTn id="28" dur="indefinite" fill="hold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mph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indefinite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00"/>
                                      </p:to>
                                    </p:set>
                                    <p:animEffect filter="image" prLst="opacity: 0.00; ">
                                      <p:cBhvr>
                                        <p:cTn id="32" dur="indefinite" fill="hold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-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315659 -0.055459" pathEditMode="relative">
                                      <p:cBhvr>
                                        <p:cTn id="35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6" presetClass="emp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8" dur="1000" fill="hold"/>
                                        <p:tgtEl>
                                          <p:spTgt spid="160"/>
                                        </p:tgtEl>
                                      </p:cBhvr>
                                      <p:by x="155336" y="155336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animBg="1" advAuto="0"/>
      <p:bldP spid="156" grpId="1" animBg="1" advAuto="0"/>
      <p:bldP spid="159" grpId="0" animBg="1" advAuto="0"/>
      <p:bldP spid="159" grpId="1" animBg="1" advAuto="0"/>
      <p:bldP spid="160" grpId="0" animBg="1" advAuto="0"/>
      <p:bldP spid="160" grpId="1" animBg="1" advAuto="0"/>
      <p:bldP spid="161" grpId="0" animBg="1" advAuto="0"/>
      <p:bldP spid="161" grpId="1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ute yellow robot">
            <a:extLst>
              <a:ext uri="{FF2B5EF4-FFF2-40B4-BE49-F238E27FC236}">
                <a16:creationId xmlns:a16="http://schemas.microsoft.com/office/drawing/2014/main" id="{FB4F0E56-2189-CA71-A548-5B931F8099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437" r="2" b="2"/>
          <a:stretch/>
        </p:blipFill>
        <p:spPr>
          <a:xfrm flipH="1">
            <a:off x="2296" y="10"/>
            <a:ext cx="7395866" cy="4470857"/>
          </a:xfrm>
          <a:prstGeom prst="rect">
            <a:avLst/>
          </a:prstGeom>
        </p:spPr>
      </p:pic>
      <p:pic>
        <p:nvPicPr>
          <p:cNvPr id="3" name="Picture 2" descr="Two dice rolling in mid-air">
            <a:extLst>
              <a:ext uri="{FF2B5EF4-FFF2-40B4-BE49-F238E27FC236}">
                <a16:creationId xmlns:a16="http://schemas.microsoft.com/office/drawing/2014/main" id="{70428BCF-B94A-A870-933D-CF1D007104D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7548" r="-3" b="4708"/>
          <a:stretch/>
        </p:blipFill>
        <p:spPr>
          <a:xfrm>
            <a:off x="7499338" y="2324139"/>
            <a:ext cx="4682932" cy="21333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31CE75-5541-BD94-429B-E7A6A2F2089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5403" r="1" b="1"/>
          <a:stretch/>
        </p:blipFill>
        <p:spPr>
          <a:xfrm>
            <a:off x="4713920" y="4566250"/>
            <a:ext cx="7462341" cy="22917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77B16D9-7195-A116-76BA-F6197FEC12F8}"/>
              </a:ext>
            </a:extLst>
          </p:cNvPr>
          <p:cNvSpPr/>
          <p:nvPr/>
        </p:nvSpPr>
        <p:spPr>
          <a:xfrm>
            <a:off x="24912" y="81280"/>
            <a:ext cx="339310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Agent (Action holder)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DC8D45C-A501-CDF8-BCC9-C70CC05DECFF}"/>
              </a:ext>
            </a:extLst>
          </p:cNvPr>
          <p:cNvGrpSpPr/>
          <p:nvPr/>
        </p:nvGrpSpPr>
        <p:grpSpPr>
          <a:xfrm>
            <a:off x="24912" y="4531913"/>
            <a:ext cx="4784155" cy="2326087"/>
            <a:chOff x="7499230" y="-2"/>
            <a:chExt cx="4689052" cy="2228757"/>
          </a:xfrm>
        </p:grpSpPr>
        <p:pic>
          <p:nvPicPr>
            <p:cNvPr id="5" name="Picture 3" descr="Single king chess piece on board">
              <a:extLst>
                <a:ext uri="{FF2B5EF4-FFF2-40B4-BE49-F238E27FC236}">
                  <a16:creationId xmlns:a16="http://schemas.microsoft.com/office/drawing/2014/main" id="{D15C9710-CBC8-0040-9AE5-2D4EF22CD5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20219" r="3" b="3733"/>
            <a:stretch/>
          </p:blipFill>
          <p:spPr>
            <a:xfrm flipH="1">
              <a:off x="7499230" y="-2"/>
              <a:ext cx="4689052" cy="2228757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C75D6D0-7B17-6D22-0639-486B24988B40}"/>
                </a:ext>
              </a:extLst>
            </p:cNvPr>
            <p:cNvSpPr/>
            <p:nvPr/>
          </p:nvSpPr>
          <p:spPr>
            <a:xfrm>
              <a:off x="7702440" y="32898"/>
              <a:ext cx="1009801" cy="50132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Policy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45ACCA5D-AF33-3DF4-62EC-82C30907B889}"/>
              </a:ext>
            </a:extLst>
          </p:cNvPr>
          <p:cNvSpPr/>
          <p:nvPr/>
        </p:nvSpPr>
        <p:spPr>
          <a:xfrm>
            <a:off x="7499230" y="2400846"/>
            <a:ext cx="194271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Uncertainty</a:t>
            </a:r>
            <a:endParaRPr lang="en-US" sz="2800" b="1" dirty="0">
              <a:ln w="12700">
                <a:solidFill>
                  <a:srgbClr val="EE96C0"/>
                </a:solidFill>
                <a:prstDash val="solid"/>
              </a:ln>
              <a:solidFill>
                <a:srgbClr val="FBDAEB"/>
              </a:solid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4A2D714-48AB-B3BD-0267-2068E842A144}"/>
              </a:ext>
            </a:extLst>
          </p:cNvPr>
          <p:cNvGrpSpPr/>
          <p:nvPr/>
        </p:nvGrpSpPr>
        <p:grpSpPr>
          <a:xfrm>
            <a:off x="7507697" y="-1"/>
            <a:ext cx="4690474" cy="2361503"/>
            <a:chOff x="-3717" y="4566250"/>
            <a:chExt cx="4627475" cy="2339442"/>
          </a:xfrm>
        </p:grpSpPr>
        <p:pic>
          <p:nvPicPr>
            <p:cNvPr id="2" name="Picture 3" descr="Solo journey">
              <a:extLst>
                <a:ext uri="{FF2B5EF4-FFF2-40B4-BE49-F238E27FC236}">
                  <a16:creationId xmlns:a16="http://schemas.microsoft.com/office/drawing/2014/main" id="{4D9C3AD5-8727-9DBE-6D5E-3C89117513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20918" r="3" b="13051"/>
            <a:stretch/>
          </p:blipFill>
          <p:spPr>
            <a:xfrm>
              <a:off x="-3717" y="4566250"/>
              <a:ext cx="4627475" cy="2291750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E33270F-96EA-3E42-950B-3BF68605294B}"/>
                </a:ext>
              </a:extLst>
            </p:cNvPr>
            <p:cNvSpPr/>
            <p:nvPr/>
          </p:nvSpPr>
          <p:spPr>
            <a:xfrm>
              <a:off x="1802206" y="6382472"/>
              <a:ext cx="2054730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Environment</a:t>
              </a: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F7BFE9CF-B2DF-16E9-F733-3FD9381C2F71}"/>
              </a:ext>
            </a:extLst>
          </p:cNvPr>
          <p:cNvSpPr/>
          <p:nvPr/>
        </p:nvSpPr>
        <p:spPr>
          <a:xfrm>
            <a:off x="4765800" y="4543377"/>
            <a:ext cx="228703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Reward</a:t>
            </a:r>
            <a:r>
              <a:rPr lang="en-US" sz="2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Signal</a:t>
            </a:r>
            <a:endParaRPr lang="en-US" sz="28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02465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Double-click to edi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140" name="Google's DeepMind AI Just Taught Itself To Walk-gn4nRCC9TwQ.mp4" descr="Google's DeepMind AI Just Taught Itself To Walk-gn4nRCC9TwQ.mp4"/>
          <p:cNvPicPr>
            <a:picLocks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-1"/>
            <a:ext cx="12192001" cy="6858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0828" fill="hold"/>
                                        <p:tgtEl>
                                          <p:spTgt spid="14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140"/>
                </p:tgtEl>
              </p:cMediaNode>
            </p:video>
            <p:seq concurrent="1" prevAc="none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4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0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7BCEC3-7A97-C4BF-DB92-2985C5795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Explosion in RL Application</a:t>
            </a:r>
            <a:endParaRPr lang="en-NL" dirty="0"/>
          </a:p>
        </p:txBody>
      </p:sp>
      <p:graphicFrame>
        <p:nvGraphicFramePr>
          <p:cNvPr id="23" name="Content Placeholder 3">
            <a:extLst>
              <a:ext uri="{FF2B5EF4-FFF2-40B4-BE49-F238E27FC236}">
                <a16:creationId xmlns:a16="http://schemas.microsoft.com/office/drawing/2014/main" id="{71A3670A-4326-4D8D-D6DE-BDA49BDC1A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535054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38139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F3732B-BD13-5AF6-FD90-DEA26CF14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Learning Loop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A4AE09-4610-FDB6-C497-31E6D7E92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726" y="2084546"/>
            <a:ext cx="9236976" cy="33253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E46C39-D2EA-80E5-80D2-0475D8011E47}"/>
              </a:ext>
            </a:extLst>
          </p:cNvPr>
          <p:cNvSpPr txBox="1"/>
          <p:nvPr/>
        </p:nvSpPr>
        <p:spPr>
          <a:xfrm>
            <a:off x="121920" y="63542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Sutton and </a:t>
            </a:r>
            <a:r>
              <a:rPr lang="en-US" dirty="0" err="1">
                <a:hlinkClick r:id="rId3"/>
              </a:rPr>
              <a:t>Barto</a:t>
            </a:r>
            <a:r>
              <a:rPr lang="en-US" dirty="0">
                <a:hlinkClick r:id="rId3"/>
              </a:rPr>
              <a:t> Book</a:t>
            </a:r>
            <a:endParaRPr lang="en-NL" dirty="0"/>
          </a:p>
        </p:txBody>
      </p:sp>
      <p:pic>
        <p:nvPicPr>
          <p:cNvPr id="7" name="Picture 4" descr="42601538. sx318 ">
            <a:extLst>
              <a:ext uri="{FF2B5EF4-FFF2-40B4-BE49-F238E27FC236}">
                <a16:creationId xmlns:a16="http://schemas.microsoft.com/office/drawing/2014/main" id="{538A5966-5E50-056B-E653-00D610648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181" y="5446433"/>
            <a:ext cx="627068" cy="863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C7FDAFA-F849-A2DD-2299-7B589A37C098}"/>
                  </a:ext>
                </a:extLst>
              </p:cNvPr>
              <p:cNvSpPr txBox="1"/>
              <p:nvPr/>
            </p:nvSpPr>
            <p:spPr>
              <a:xfrm>
                <a:off x="3169920" y="5742661"/>
                <a:ext cx="6096000" cy="5570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800" b="1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8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8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800" b="1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800" b="1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800" b="1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1" i="1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sz="2800" b="1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lang="en-US" sz="2800" b="1" i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8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C7FDAFA-F849-A2DD-2299-7B589A37C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920" y="5742661"/>
                <a:ext cx="6096000" cy="5570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Reinforcement Learning wiki.png" descr="Reinforcement Learning wiki.png">
            <a:extLst>
              <a:ext uri="{FF2B5EF4-FFF2-40B4-BE49-F238E27FC236}">
                <a16:creationId xmlns:a16="http://schemas.microsoft.com/office/drawing/2014/main" id="{211BA742-513F-49E5-AFF2-37AF5CB170E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6116" r="3" b="3"/>
          <a:stretch/>
        </p:blipFill>
        <p:spPr>
          <a:xfrm>
            <a:off x="243181" y="1923360"/>
            <a:ext cx="2593923" cy="2435266"/>
          </a:xfrm>
          <a:custGeom>
            <a:avLst/>
            <a:gdLst/>
            <a:ahLst/>
            <a:cxnLst/>
            <a:rect l="l" t="t" r="r" b="b"/>
            <a:pathLst>
              <a:path w="3952684" h="3588642">
                <a:moveTo>
                  <a:pt x="2262021" y="0"/>
                </a:moveTo>
                <a:cubicBezTo>
                  <a:pt x="2521915" y="0"/>
                  <a:pt x="2761111" y="48268"/>
                  <a:pt x="2973080" y="143330"/>
                </a:cubicBezTo>
                <a:cubicBezTo>
                  <a:pt x="3171733" y="232491"/>
                  <a:pt x="3346211" y="362626"/>
                  <a:pt x="3491678" y="530048"/>
                </a:cubicBezTo>
                <a:cubicBezTo>
                  <a:pt x="3788979" y="872350"/>
                  <a:pt x="3952684" y="1358801"/>
                  <a:pt x="3952684" y="1899831"/>
                </a:cubicBezTo>
                <a:cubicBezTo>
                  <a:pt x="3952684" y="2115686"/>
                  <a:pt x="3889322" y="2288927"/>
                  <a:pt x="3747331" y="2461593"/>
                </a:cubicBezTo>
                <a:cubicBezTo>
                  <a:pt x="3598809" y="2642210"/>
                  <a:pt x="3375643" y="2808567"/>
                  <a:pt x="3139331" y="2984675"/>
                </a:cubicBezTo>
                <a:cubicBezTo>
                  <a:pt x="3095732" y="3017128"/>
                  <a:pt x="3050692" y="3050728"/>
                  <a:pt x="3005652" y="3084736"/>
                </a:cubicBezTo>
                <a:cubicBezTo>
                  <a:pt x="2602495" y="3389096"/>
                  <a:pt x="2308249" y="3588642"/>
                  <a:pt x="1907213" y="3588642"/>
                </a:cubicBezTo>
                <a:cubicBezTo>
                  <a:pt x="1296158" y="3588642"/>
                  <a:pt x="863400" y="3343695"/>
                  <a:pt x="460242" y="2769559"/>
                </a:cubicBezTo>
                <a:cubicBezTo>
                  <a:pt x="407483" y="2694411"/>
                  <a:pt x="355911" y="2626066"/>
                  <a:pt x="306036" y="2560014"/>
                </a:cubicBezTo>
                <a:cubicBezTo>
                  <a:pt x="99326" y="2286139"/>
                  <a:pt x="0" y="2143712"/>
                  <a:pt x="0" y="1899831"/>
                </a:cubicBezTo>
                <a:cubicBezTo>
                  <a:pt x="0" y="1657671"/>
                  <a:pt x="62259" y="1418460"/>
                  <a:pt x="184911" y="1188839"/>
                </a:cubicBezTo>
                <a:cubicBezTo>
                  <a:pt x="304934" y="964216"/>
                  <a:pt x="476527" y="758606"/>
                  <a:pt x="694859" y="577907"/>
                </a:cubicBezTo>
                <a:cubicBezTo>
                  <a:pt x="909458" y="400240"/>
                  <a:pt x="1164345" y="253716"/>
                  <a:pt x="1432127" y="154228"/>
                </a:cubicBezTo>
                <a:cubicBezTo>
                  <a:pt x="1707119" y="51875"/>
                  <a:pt x="1986436" y="0"/>
                  <a:pt x="2262021" y="0"/>
                </a:cubicBezTo>
                <a:close/>
              </a:path>
            </a:pathLst>
          </a:custGeom>
          <a:solidFill>
            <a:srgbClr val="FFFFFF">
              <a:shade val="85000"/>
            </a:srgbClr>
          </a:solidFill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2208129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Reward"/>
          <p:cNvSpPr txBox="1"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Expected Future Reward</a:t>
            </a: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or Quality Q is state and action dependent</a:t>
            </a:r>
          </a:p>
        </p:txBody>
      </p:sp>
      <p:graphicFrame>
        <p:nvGraphicFramePr>
          <p:cNvPr id="251" name="Table"/>
          <p:cNvGraphicFramePr/>
          <p:nvPr/>
        </p:nvGraphicFramePr>
        <p:xfrm>
          <a:off x="4639372" y="2656938"/>
          <a:ext cx="7126804" cy="3591465"/>
        </p:xfrm>
        <a:graphic>
          <a:graphicData uri="http://schemas.openxmlformats.org/drawingml/2006/table">
            <a:tbl>
              <a:tblPr/>
              <a:tblGrid>
                <a:gridCol w="1781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17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17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17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8293">
                <a:tc>
                  <a:txBody>
                    <a:bodyPr/>
                    <a:lstStyle/>
                    <a:p>
                      <a:pPr defTabSz="914400">
                        <a:defRPr sz="3800"/>
                      </a:pPr>
                      <a:endParaRPr sz="1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5400" marR="25400" marT="25400" marB="25400" anchor="ctr" horzOverflow="overflow">
                    <a:lnL w="12700">
                      <a:solidFill>
                        <a:srgbClr val="D6D6D6"/>
                      </a:solidFill>
                      <a:miter lim="400000"/>
                    </a:lnL>
                    <a:lnT w="12700">
                      <a:solidFill>
                        <a:srgbClr val="D6D6D6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action 1</a:t>
                      </a:r>
                    </a:p>
                  </a:txBody>
                  <a:tcPr marL="25400" marR="25400" marT="25400" marB="25400" anchor="ctr" horzOverflow="overflow">
                    <a:lnT w="12700">
                      <a:solidFill>
                        <a:srgbClr val="D6D6D6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action 2</a:t>
                      </a:r>
                    </a:p>
                  </a:txBody>
                  <a:tcPr marL="25400" marR="25400" marT="25400" marB="25400" anchor="ctr" horzOverflow="overflow">
                    <a:lnT w="12700">
                      <a:solidFill>
                        <a:srgbClr val="D6D6D6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action 3</a:t>
                      </a: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D6D6D6"/>
                      </a:solidFill>
                      <a:miter lim="400000"/>
                    </a:lnR>
                    <a:lnT w="12700">
                      <a:solidFill>
                        <a:srgbClr val="D6D6D6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293"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state 1</a:t>
                      </a:r>
                    </a:p>
                  </a:txBody>
                  <a:tcPr marL="25400" marR="25400" marT="25400" marB="25400" anchor="ctr" horzOverflow="overflow">
                    <a:lnL w="12700">
                      <a:solidFill>
                        <a:srgbClr val="D6D6D6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0,11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0,51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0,94</a:t>
                      </a: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D6D6D6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293"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state 2</a:t>
                      </a:r>
                    </a:p>
                  </a:txBody>
                  <a:tcPr marL="25400" marR="25400" marT="25400" marB="25400" anchor="ctr" horzOverflow="overflow">
                    <a:lnL w="12700">
                      <a:solidFill>
                        <a:srgbClr val="D6D6D6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0,09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0,09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0,11</a:t>
                      </a: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D6D6D6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293"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state 3</a:t>
                      </a:r>
                    </a:p>
                  </a:txBody>
                  <a:tcPr marL="25400" marR="25400" marT="25400" marB="25400" anchor="ctr" horzOverflow="overflow">
                    <a:lnL w="12700">
                      <a:solidFill>
                        <a:srgbClr val="D6D6D6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0,96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0,10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0,30</a:t>
                      </a: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D6D6D6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293"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state 4</a:t>
                      </a:r>
                    </a:p>
                  </a:txBody>
                  <a:tcPr marL="25400" marR="25400" marT="25400" marB="25400" anchor="ctr" horzOverflow="overflow">
                    <a:lnL w="12700">
                      <a:solidFill>
                        <a:srgbClr val="D6D6D6"/>
                      </a:solidFill>
                      <a:miter lim="400000"/>
                    </a:lnL>
                    <a:lnB w="12700">
                      <a:solidFill>
                        <a:srgbClr val="D6D6D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0,14</a:t>
                      </a:r>
                    </a:p>
                  </a:txBody>
                  <a:tcPr marL="25400" marR="25400" marT="25400" marB="25400" anchor="ctr" horzOverflow="overflow">
                    <a:lnB w="12700">
                      <a:solidFill>
                        <a:srgbClr val="D6D6D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0,21</a:t>
                      </a:r>
                    </a:p>
                  </a:txBody>
                  <a:tcPr marL="25400" marR="25400" marT="25400" marB="25400" anchor="ctr" horzOverflow="overflow">
                    <a:lnB w="12700">
                      <a:solidFill>
                        <a:srgbClr val="D6D6D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0,34</a:t>
                      </a: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D6D6D6"/>
                      </a:solidFill>
                      <a:miter lim="400000"/>
                    </a:lnR>
                    <a:lnB w="12700">
                      <a:solidFill>
                        <a:srgbClr val="D6D6D6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52" name="Table"/>
          <p:cNvGraphicFramePr/>
          <p:nvPr>
            <p:extLst>
              <p:ext uri="{D42A27DB-BD31-4B8C-83A1-F6EECF244321}">
                <p14:modId xmlns:p14="http://schemas.microsoft.com/office/powerpoint/2010/main" val="3573548657"/>
              </p:ext>
            </p:extLst>
          </p:nvPr>
        </p:nvGraphicFramePr>
        <p:xfrm>
          <a:off x="4639372" y="2656938"/>
          <a:ext cx="7126804" cy="3591465"/>
        </p:xfrm>
        <a:graphic>
          <a:graphicData uri="http://schemas.openxmlformats.org/drawingml/2006/table">
            <a:tbl>
              <a:tblPr/>
              <a:tblGrid>
                <a:gridCol w="1781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17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17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17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8293">
                <a:tc>
                  <a:txBody>
                    <a:bodyPr/>
                    <a:lstStyle/>
                    <a:p>
                      <a:pPr defTabSz="914400">
                        <a:defRPr sz="3800"/>
                      </a:pPr>
                      <a:endParaRPr sz="1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5400" marR="25400" marT="25400" marB="25400" anchor="ctr" horzOverflow="overflow">
                    <a:lnL w="12700">
                      <a:solidFill>
                        <a:srgbClr val="D6D6D6"/>
                      </a:solidFill>
                      <a:miter lim="400000"/>
                    </a:lnL>
                    <a:lnT w="12700">
                      <a:solidFill>
                        <a:srgbClr val="D6D6D6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800"/>
                      </a:pPr>
                      <a:endParaRPr sz="1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5400" marR="25400" marT="25400" marB="25400" anchor="ctr" horzOverflow="overflow">
                    <a:lnT w="12700">
                      <a:solidFill>
                        <a:srgbClr val="D6D6D6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800"/>
                      </a:pPr>
                      <a:endParaRPr sz="1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5400" marR="25400" marT="25400" marB="25400" anchor="ctr" horzOverflow="overflow">
                    <a:lnT w="12700">
                      <a:solidFill>
                        <a:srgbClr val="D6D6D6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800"/>
                      </a:pPr>
                      <a:endParaRPr sz="1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D6D6D6"/>
                      </a:solidFill>
                      <a:miter lim="400000"/>
                    </a:lnR>
                    <a:lnT w="12700">
                      <a:solidFill>
                        <a:srgbClr val="D6D6D6"/>
                      </a:solidFill>
                      <a:miter lim="400000"/>
                    </a:lnT>
                    <a:lnB w="101600">
                      <a:solidFill>
                        <a:srgbClr val="00800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293">
                <a:tc>
                  <a:txBody>
                    <a:bodyPr/>
                    <a:lstStyle/>
                    <a:p>
                      <a:pPr algn="ctr" defTabSz="914400">
                        <a:defRPr sz="3800"/>
                      </a:pPr>
                      <a:endParaRPr sz="1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5400" marR="25400" marT="25400" marB="25400" anchor="ctr" horzOverflow="overflow">
                    <a:lnL w="12700">
                      <a:solidFill>
                        <a:srgbClr val="D6D6D6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800"/>
                      </a:pPr>
                      <a:endParaRPr sz="1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3800"/>
                      </a:pPr>
                      <a:endParaRPr sz="1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5400" marR="25400" marT="25400" marB="25400" anchor="ctr" horzOverflow="overflow">
                    <a:lnR w="101600">
                      <a:solidFill>
                        <a:srgbClr val="008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800"/>
                      </a:pPr>
                      <a:endParaRPr sz="1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5400" marR="25400" marT="25400" marB="25400" anchor="ctr" horzOverflow="overflow">
                    <a:lnL w="101600">
                      <a:solidFill>
                        <a:srgbClr val="008000"/>
                      </a:solidFill>
                      <a:miter lim="400000"/>
                    </a:lnL>
                    <a:lnR w="101600">
                      <a:solidFill>
                        <a:srgbClr val="008000"/>
                      </a:solidFill>
                      <a:miter lim="400000"/>
                    </a:lnR>
                    <a:lnT w="101600">
                      <a:solidFill>
                        <a:srgbClr val="008000"/>
                      </a:solidFill>
                      <a:miter lim="400000"/>
                    </a:lnT>
                    <a:lnB w="101600">
                      <a:solidFill>
                        <a:srgbClr val="00800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293">
                <a:tc>
                  <a:txBody>
                    <a:bodyPr/>
                    <a:lstStyle/>
                    <a:p>
                      <a:pPr algn="ctr" defTabSz="914400">
                        <a:defRPr sz="3800"/>
                      </a:pPr>
                      <a:endParaRPr sz="1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5400" marR="25400" marT="25400" marB="25400" anchor="ctr" horzOverflow="overflow">
                    <a:lnL w="12700">
                      <a:solidFill>
                        <a:srgbClr val="D6D6D6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800"/>
                      </a:pPr>
                      <a:endParaRPr sz="1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5400" marR="25400" marT="25400" marB="25400" anchor="ctr" horzOverflow="overflow">
                    <a:lnB w="101600">
                      <a:solidFill>
                        <a:srgbClr val="008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800"/>
                      </a:pPr>
                      <a:endParaRPr sz="1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5400" marR="25400" marT="25400" marB="25400" anchor="ctr" horzOverflow="overflow">
                    <a:lnR w="101600">
                      <a:solidFill>
                        <a:srgbClr val="008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800"/>
                      </a:pPr>
                      <a:endParaRPr sz="1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5400" marR="25400" marT="25400" marB="25400" anchor="ctr" horzOverflow="overflow">
                    <a:lnL w="101600">
                      <a:solidFill>
                        <a:srgbClr val="008000"/>
                      </a:solidFill>
                      <a:miter lim="400000"/>
                    </a:lnL>
                    <a:lnR w="101600">
                      <a:solidFill>
                        <a:srgbClr val="008000"/>
                      </a:solidFill>
                      <a:miter lim="400000"/>
                    </a:lnR>
                    <a:lnT w="101600">
                      <a:solidFill>
                        <a:srgbClr val="008000"/>
                      </a:solidFill>
                      <a:miter lim="400000"/>
                    </a:lnT>
                    <a:lnB w="101600">
                      <a:solidFill>
                        <a:srgbClr val="00800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293">
                <a:tc>
                  <a:txBody>
                    <a:bodyPr/>
                    <a:lstStyle/>
                    <a:p>
                      <a:pPr algn="ctr" defTabSz="914400">
                        <a:defRPr sz="3800"/>
                      </a:pPr>
                      <a:endParaRPr sz="1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5400" marR="25400" marT="25400" marB="25400" anchor="ctr" horzOverflow="overflow">
                    <a:lnL w="12700">
                      <a:solidFill>
                        <a:srgbClr val="D6D6D6"/>
                      </a:solidFill>
                      <a:miter lim="400000"/>
                    </a:lnL>
                    <a:lnR w="101600">
                      <a:solidFill>
                        <a:srgbClr val="008000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800"/>
                      </a:pPr>
                      <a:endParaRPr sz="1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5400" marR="25400" marT="25400" marB="25400" anchor="ctr" horzOverflow="overflow">
                    <a:lnL w="101600">
                      <a:solidFill>
                        <a:srgbClr val="008000"/>
                      </a:solidFill>
                      <a:miter lim="400000"/>
                    </a:lnL>
                    <a:lnR w="101600">
                      <a:solidFill>
                        <a:srgbClr val="008000"/>
                      </a:solidFill>
                      <a:miter lim="400000"/>
                    </a:lnR>
                    <a:lnT w="101600">
                      <a:solidFill>
                        <a:srgbClr val="008000"/>
                      </a:solidFill>
                      <a:miter lim="400000"/>
                    </a:lnT>
                    <a:lnB w="101600">
                      <a:solidFill>
                        <a:srgbClr val="008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800"/>
                      </a:pPr>
                      <a:endParaRPr sz="1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5400" marR="25400" marT="25400" marB="25400" anchor="ctr" horzOverflow="overflow">
                    <a:lnL w="101600">
                      <a:solidFill>
                        <a:srgbClr val="008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800"/>
                      </a:pPr>
                      <a:endParaRPr sz="1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D6D6D6"/>
                      </a:solidFill>
                      <a:miter lim="400000"/>
                    </a:lnR>
                    <a:lnT w="101600">
                      <a:solidFill>
                        <a:srgbClr val="008000"/>
                      </a:solidFill>
                      <a:miter lim="400000"/>
                    </a:lnT>
                    <a:lnB w="101600">
                      <a:solidFill>
                        <a:srgbClr val="00800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293">
                <a:tc>
                  <a:txBody>
                    <a:bodyPr/>
                    <a:lstStyle/>
                    <a:p>
                      <a:pPr algn="ctr" defTabSz="914400">
                        <a:defRPr sz="3800"/>
                      </a:pPr>
                      <a:endParaRPr sz="1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5400" marR="25400" marT="25400" marB="25400" anchor="ctr" horzOverflow="overflow">
                    <a:lnL w="12700">
                      <a:solidFill>
                        <a:srgbClr val="D6D6D6"/>
                      </a:solidFill>
                      <a:miter lim="400000"/>
                    </a:lnL>
                    <a:lnB w="12700">
                      <a:solidFill>
                        <a:srgbClr val="D6D6D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800"/>
                      </a:pPr>
                      <a:endParaRPr sz="1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5400" marR="25400" marT="25400" marB="25400" anchor="ctr" horzOverflow="overflow">
                    <a:lnT w="101600">
                      <a:solidFill>
                        <a:srgbClr val="008000"/>
                      </a:solidFill>
                      <a:miter lim="400000"/>
                    </a:lnT>
                    <a:lnB w="12700">
                      <a:solidFill>
                        <a:srgbClr val="D6D6D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800"/>
                      </a:pPr>
                      <a:endParaRPr sz="1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5400" marR="25400" marT="25400" marB="25400" anchor="ctr" horzOverflow="overflow">
                    <a:lnR w="101600">
                      <a:solidFill>
                        <a:srgbClr val="008000"/>
                      </a:solidFill>
                      <a:miter lim="400000"/>
                    </a:lnR>
                    <a:lnB w="12700">
                      <a:solidFill>
                        <a:srgbClr val="D6D6D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800"/>
                      </a:pPr>
                      <a:endParaRPr sz="1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5400" marR="25400" marT="25400" marB="25400" anchor="ctr" horzOverflow="overflow">
                    <a:lnL w="101600">
                      <a:solidFill>
                        <a:srgbClr val="008000"/>
                      </a:solidFill>
                      <a:miter lim="400000"/>
                    </a:lnL>
                    <a:lnR w="101600">
                      <a:solidFill>
                        <a:srgbClr val="008000"/>
                      </a:solidFill>
                      <a:miter lim="400000"/>
                    </a:lnR>
                    <a:lnT w="101600">
                      <a:solidFill>
                        <a:srgbClr val="008000"/>
                      </a:solidFill>
                      <a:miter lim="400000"/>
                    </a:lnT>
                    <a:lnB w="101600">
                      <a:solidFill>
                        <a:srgbClr val="008000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hought Bubble: Cloud 3">
            <a:extLst>
              <a:ext uri="{FF2B5EF4-FFF2-40B4-BE49-F238E27FC236}">
                <a16:creationId xmlns:a16="http://schemas.microsoft.com/office/drawing/2014/main" id="{EB72833C-8C7A-91E5-499E-E61D9F4797B0}"/>
              </a:ext>
            </a:extLst>
          </p:cNvPr>
          <p:cNvSpPr/>
          <p:nvPr/>
        </p:nvSpPr>
        <p:spPr>
          <a:xfrm>
            <a:off x="201987" y="2671433"/>
            <a:ext cx="4011561" cy="2428566"/>
          </a:xfrm>
          <a:prstGeom prst="cloudCallout">
            <a:avLst>
              <a:gd name="adj1" fmla="val 20098"/>
              <a:gd name="adj2" fmla="val 5197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If only your agent had a table with all the average reward for each state-action pair (or the quality)</a:t>
            </a:r>
          </a:p>
        </p:txBody>
      </p:sp>
    </p:spTree>
    <p:extLst>
      <p:ext uri="{BB962C8B-B14F-4D97-AF65-F5344CB8AC3E}">
        <p14:creationId xmlns:p14="http://schemas.microsoft.com/office/powerpoint/2010/main" val="2891060204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" grpId="0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11ED80F-AB9D-2DA5-19C6-6B4CD9753F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91" r="13817" b="-1"/>
          <a:stretch/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228616A-3477-B129-430D-19D6B5955DD9}"/>
              </a:ext>
            </a:extLst>
          </p:cNvPr>
          <p:cNvSpPr/>
          <p:nvPr/>
        </p:nvSpPr>
        <p:spPr>
          <a:xfrm>
            <a:off x="1362808" y="3708730"/>
            <a:ext cx="10829189" cy="314927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dirty="0">
                <a:solidFill>
                  <a:schemeClr val="bg1"/>
                </a:solidFill>
              </a:rPr>
              <a:t>The agent does not initially have an overview, it must experience and find out</a:t>
            </a:r>
            <a:endParaRPr lang="en-NL" sz="4400" dirty="0"/>
          </a:p>
        </p:txBody>
      </p:sp>
    </p:spTree>
    <p:extLst>
      <p:ext uri="{BB962C8B-B14F-4D97-AF65-F5344CB8AC3E}">
        <p14:creationId xmlns:p14="http://schemas.microsoft.com/office/powerpoint/2010/main" val="269859221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Reward"/>
          <p:cNvSpPr txBox="1"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typical scenarios we have to learn the Q function</a:t>
            </a:r>
            <a:endParaRPr lang="en-US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51" name="Table"/>
          <p:cNvGraphicFramePr/>
          <p:nvPr>
            <p:extLst>
              <p:ext uri="{D42A27DB-BD31-4B8C-83A1-F6EECF244321}">
                <p14:modId xmlns:p14="http://schemas.microsoft.com/office/powerpoint/2010/main" val="1563268116"/>
              </p:ext>
            </p:extLst>
          </p:nvPr>
        </p:nvGraphicFramePr>
        <p:xfrm>
          <a:off x="4639372" y="2656938"/>
          <a:ext cx="7126804" cy="3591465"/>
        </p:xfrm>
        <a:graphic>
          <a:graphicData uri="http://schemas.openxmlformats.org/drawingml/2006/table">
            <a:tbl>
              <a:tblPr/>
              <a:tblGrid>
                <a:gridCol w="1781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17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17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17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8293">
                <a:tc>
                  <a:txBody>
                    <a:bodyPr/>
                    <a:lstStyle/>
                    <a:p>
                      <a:pPr defTabSz="914400">
                        <a:defRPr sz="3800"/>
                      </a:pPr>
                      <a:endParaRPr sz="1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5400" marR="25400" marT="25400" marB="25400" anchor="ctr" horzOverflow="overflow">
                    <a:lnL w="12700">
                      <a:solidFill>
                        <a:srgbClr val="D6D6D6"/>
                      </a:solidFill>
                      <a:miter lim="400000"/>
                    </a:lnL>
                    <a:lnT w="12700">
                      <a:solidFill>
                        <a:srgbClr val="D6D6D6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action 1</a:t>
                      </a:r>
                    </a:p>
                  </a:txBody>
                  <a:tcPr marL="25400" marR="25400" marT="25400" marB="25400" anchor="ctr" horzOverflow="overflow">
                    <a:lnT w="12700">
                      <a:solidFill>
                        <a:srgbClr val="D6D6D6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action 2</a:t>
                      </a:r>
                    </a:p>
                  </a:txBody>
                  <a:tcPr marL="25400" marR="25400" marT="25400" marB="25400" anchor="ctr" horzOverflow="overflow">
                    <a:lnT w="12700">
                      <a:solidFill>
                        <a:srgbClr val="D6D6D6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9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action 3</a:t>
                      </a: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D6D6D6"/>
                      </a:solidFill>
                      <a:miter lim="400000"/>
                    </a:lnR>
                    <a:lnT w="12700">
                      <a:solidFill>
                        <a:srgbClr val="D6D6D6"/>
                      </a:solidFill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293">
                <a:tc>
                  <a:txBody>
                    <a:bodyPr/>
                    <a:lstStyle/>
                    <a:p>
                      <a:pPr algn="ct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state 1</a:t>
                      </a:r>
                    </a:p>
                  </a:txBody>
                  <a:tcPr marL="25400" marR="25400" marT="25400" marB="25400" anchor="ctr" horzOverflow="overflow">
                    <a:lnL w="12700">
                      <a:solidFill>
                        <a:srgbClr val="D6D6D6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?</a:t>
                      </a:r>
                      <a:endParaRPr sz="1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?</a:t>
                      </a:r>
                      <a:endParaRPr sz="1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?</a:t>
                      </a:r>
                      <a:endParaRPr sz="1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D6D6D6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293">
                <a:tc>
                  <a:txBody>
                    <a:bodyPr/>
                    <a:lstStyle/>
                    <a:p>
                      <a:pPr algn="ct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state 2</a:t>
                      </a:r>
                    </a:p>
                  </a:txBody>
                  <a:tcPr marL="25400" marR="25400" marT="25400" marB="25400" anchor="ctr" horzOverflow="overflow">
                    <a:lnL w="12700">
                      <a:solidFill>
                        <a:srgbClr val="D6D6D6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?</a:t>
                      </a:r>
                      <a:endParaRPr sz="1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?</a:t>
                      </a:r>
                      <a:endParaRPr sz="1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?</a:t>
                      </a:r>
                      <a:endParaRPr sz="1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D6D6D6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293">
                <a:tc>
                  <a:txBody>
                    <a:bodyPr/>
                    <a:lstStyle/>
                    <a:p>
                      <a:pPr algn="ct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state 3</a:t>
                      </a:r>
                    </a:p>
                  </a:txBody>
                  <a:tcPr marL="25400" marR="25400" marT="25400" marB="25400" anchor="ctr" horzOverflow="overflow">
                    <a:lnL w="12700">
                      <a:solidFill>
                        <a:srgbClr val="D6D6D6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?</a:t>
                      </a:r>
                      <a:endParaRPr sz="1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?</a:t>
                      </a:r>
                      <a:endParaRPr sz="1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?</a:t>
                      </a:r>
                      <a:endParaRPr sz="1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D6D6D6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293">
                <a:tc>
                  <a:txBody>
                    <a:bodyPr/>
                    <a:lstStyle/>
                    <a:p>
                      <a:pPr algn="ct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state 4</a:t>
                      </a:r>
                    </a:p>
                  </a:txBody>
                  <a:tcPr marL="25400" marR="25400" marT="25400" marB="25400" anchor="ctr" horzOverflow="overflow">
                    <a:lnL w="12700">
                      <a:solidFill>
                        <a:srgbClr val="D6D6D6"/>
                      </a:solidFill>
                      <a:miter lim="400000"/>
                    </a:lnL>
                    <a:lnB w="12700">
                      <a:solidFill>
                        <a:srgbClr val="D6D6D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?</a:t>
                      </a:r>
                      <a:endParaRPr sz="1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5400" marR="25400" marT="25400" marB="25400" anchor="ctr" horzOverflow="overflow">
                    <a:lnB w="12700">
                      <a:solidFill>
                        <a:srgbClr val="D6D6D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?</a:t>
                      </a:r>
                      <a:endParaRPr sz="1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5400" marR="25400" marT="25400" marB="25400" anchor="ctr" horzOverflow="overflow">
                    <a:lnB w="12700">
                      <a:solidFill>
                        <a:srgbClr val="D6D6D6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?</a:t>
                      </a:r>
                      <a:endParaRPr sz="1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D6D6D6"/>
                      </a:solidFill>
                      <a:miter lim="400000"/>
                    </a:lnR>
                    <a:lnB w="12700">
                      <a:solidFill>
                        <a:srgbClr val="D6D6D6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" name="Picture 1" descr="Two dice rolling in mid-air">
            <a:extLst>
              <a:ext uri="{FF2B5EF4-FFF2-40B4-BE49-F238E27FC236}">
                <a16:creationId xmlns:a16="http://schemas.microsoft.com/office/drawing/2014/main" id="{BE2A55BE-2CA2-69B8-B6C2-23260985D80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7548" r="-3" b="4708"/>
          <a:stretch/>
        </p:blipFill>
        <p:spPr>
          <a:xfrm>
            <a:off x="351287" y="3786758"/>
            <a:ext cx="3689772" cy="1680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07252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8210C-AFDF-2656-BEEE-A7D0824F8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D6D9B-0215-539D-8DD9-CADE16711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Explore-Exploit Trade-offs</a:t>
            </a:r>
            <a:endParaRPr lang="en-NL" dirty="0"/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EC7C2E52-52ED-C66B-D138-626F35BB1A4B}"/>
              </a:ext>
            </a:extLst>
          </p:cNvPr>
          <p:cNvGraphicFramePr>
            <a:graphicFrameLocks/>
          </p:cNvGraphicFramePr>
          <p:nvPr/>
        </p:nvGraphicFramePr>
        <p:xfrm>
          <a:off x="647700" y="1690688"/>
          <a:ext cx="10896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00169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6ECF5-784D-4F2E-699C-E653454A6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F7480-BE3E-E0EC-CBB3-B10C5DC17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Use-cases</a:t>
            </a:r>
            <a:endParaRPr lang="en-NL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F49A3BB-17BF-D005-D397-B51830EE310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37909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umbrella over a piggybank">
            <a:extLst>
              <a:ext uri="{FF2B5EF4-FFF2-40B4-BE49-F238E27FC236}">
                <a16:creationId xmlns:a16="http://schemas.microsoft.com/office/drawing/2014/main" id="{67599672-AAF7-A246-8E5D-2771A62B49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748" r="1" b="10567"/>
          <a:stretch/>
        </p:blipFill>
        <p:spPr>
          <a:xfrm>
            <a:off x="1068586" y="348258"/>
            <a:ext cx="8697517" cy="4318972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0D82B5-F5D1-12E6-1E5D-9B4E73D86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Don’t be Greedy</a:t>
            </a:r>
            <a:endParaRPr lang="en-NL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387005A-ADAB-AF61-E279-528619648584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Or you will get stuck</a:t>
            </a:r>
          </a:p>
        </p:txBody>
      </p:sp>
    </p:spTree>
    <p:extLst>
      <p:ext uri="{BB962C8B-B14F-4D97-AF65-F5344CB8AC3E}">
        <p14:creationId xmlns:p14="http://schemas.microsoft.com/office/powerpoint/2010/main" val="96312919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1D28D1-079D-0B30-CB64-3264AE64E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exploration - exploitation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27A5E359-5761-57F6-7421-CEBAFF9E97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41477998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50815373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Hyper paramete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Hyper parameters</a:t>
            </a:r>
          </a:p>
        </p:txBody>
      </p:sp>
      <p:pic>
        <p:nvPicPr>
          <p:cNvPr id="276" name="1*DbOZJdOMIUC60NhlG7Gkgg.jpeg" descr="1*DbOZJdOMIUC60NhlG7Gkgg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759" y="2628033"/>
            <a:ext cx="3073742" cy="2151525"/>
          </a:xfrm>
          <a:prstGeom prst="rect">
            <a:avLst/>
          </a:prstGeom>
          <a:ln w="12700">
            <a:miter lim="400000"/>
          </a:ln>
        </p:spPr>
      </p:pic>
      <p:sp>
        <p:nvSpPr>
          <p:cNvPr id="277" name="𝛆 (Epsilon, greediness)"/>
          <p:cNvSpPr txBox="1"/>
          <p:nvPr/>
        </p:nvSpPr>
        <p:spPr>
          <a:xfrm>
            <a:off x="112891" y="4897834"/>
            <a:ext cx="3103415" cy="472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 algn="l">
              <a:spcBef>
                <a:spcPts val="5900"/>
              </a:spcBef>
              <a:defRPr sz="5200"/>
            </a:lvl1pPr>
          </a:lstStyle>
          <a:p>
            <a:pPr defTabSz="410766" hangingPunct="0">
              <a:spcBef>
                <a:spcPts val="2950"/>
              </a:spcBef>
            </a:pPr>
            <a:r>
              <a:rPr sz="2600" kern="0">
                <a:latin typeface="Helvetica Light"/>
                <a:sym typeface="Helvetica Light"/>
              </a:rPr>
              <a:t>𝛆 (Epsilon, greediness)</a:t>
            </a:r>
          </a:p>
        </p:txBody>
      </p:sp>
      <p:pic>
        <p:nvPicPr>
          <p:cNvPr id="278" name="binoculars-blond-blonde-160514.jpg" descr="binoculars-blond-blonde-16051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3159" y="2628033"/>
            <a:ext cx="3524115" cy="2151525"/>
          </a:xfrm>
          <a:prstGeom prst="rect">
            <a:avLst/>
          </a:prstGeom>
          <a:ln w="12700">
            <a:miter lim="400000"/>
          </a:ln>
        </p:spPr>
      </p:pic>
      <p:sp>
        <p:nvSpPr>
          <p:cNvPr id="279" name="𝛄 (Gamma, discount)"/>
          <p:cNvSpPr txBox="1"/>
          <p:nvPr/>
        </p:nvSpPr>
        <p:spPr>
          <a:xfrm>
            <a:off x="8542896" y="4897834"/>
            <a:ext cx="2920672" cy="472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 algn="l">
              <a:spcBef>
                <a:spcPts val="5900"/>
              </a:spcBef>
              <a:defRPr sz="5200"/>
            </a:lvl1pPr>
          </a:lstStyle>
          <a:p>
            <a:pPr defTabSz="410766" hangingPunct="0">
              <a:spcBef>
                <a:spcPts val="2950"/>
              </a:spcBef>
            </a:pPr>
            <a:r>
              <a:rPr sz="2600" kern="0" dirty="0">
                <a:latin typeface="Helvetica Light"/>
                <a:sym typeface="Helvetica Light"/>
              </a:rPr>
              <a:t>𝛄 (Gamma, discount)</a:t>
            </a:r>
          </a:p>
        </p:txBody>
      </p:sp>
      <p:pic>
        <p:nvPicPr>
          <p:cNvPr id="280" name="23PD-ple.jpg" descr="23PD-pl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3895" y="2628033"/>
            <a:ext cx="2604210" cy="2151525"/>
          </a:xfrm>
          <a:prstGeom prst="rect">
            <a:avLst/>
          </a:prstGeom>
          <a:ln w="12700">
            <a:miter lim="400000"/>
          </a:ln>
        </p:spPr>
      </p:pic>
      <p:sp>
        <p:nvSpPr>
          <p:cNvPr id="281" name="𝛈/𝛂  (Eta/alpha, learning rate)"/>
          <p:cNvSpPr txBox="1"/>
          <p:nvPr/>
        </p:nvSpPr>
        <p:spPr>
          <a:xfrm>
            <a:off x="3888518" y="4897834"/>
            <a:ext cx="4177427" cy="4722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 algn="l">
              <a:spcBef>
                <a:spcPts val="5900"/>
              </a:spcBef>
              <a:defRPr sz="5200"/>
            </a:lvl1pPr>
          </a:lstStyle>
          <a:p>
            <a:pPr defTabSz="410766" hangingPunct="0">
              <a:spcBef>
                <a:spcPts val="2950"/>
              </a:spcBef>
            </a:pPr>
            <a:r>
              <a:rPr sz="2600" kern="0" dirty="0">
                <a:latin typeface="Helvetica Light"/>
                <a:sym typeface="Helvetica Light"/>
              </a:rPr>
              <a:t>𝛈/𝛂  (Eta/alpha, learning rate)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EAD5C-BD22-22FF-5B4E-C3BA69C9C0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NL" dirty="0"/>
              <a:t>Gymnasium and Tabular Q-Learning Code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5D6CC-666A-3769-61A7-6BB2207BF9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71984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FEB46-472A-8137-F9DB-CA7E9E5EB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Slippery Frozen Lake</a:t>
            </a:r>
            <a:br>
              <a:rPr lang="en-US" dirty="0"/>
            </a:br>
            <a:r>
              <a:rPr lang="en-US" dirty="0">
                <a:hlinkClick r:id="rId3"/>
              </a:rPr>
              <a:t>Frozen Lake - Gymnasium Documentation (farama.org)</a:t>
            </a:r>
            <a:endParaRPr lang="en-NL" dirty="0"/>
          </a:p>
        </p:txBody>
      </p:sp>
      <p:pic>
        <p:nvPicPr>
          <p:cNvPr id="1026" name="Picture 2" descr="Introduction: Reinforcement Learning with OpenAI Gym">
            <a:extLst>
              <a:ext uri="{FF2B5EF4-FFF2-40B4-BE49-F238E27FC236}">
                <a16:creationId xmlns:a16="http://schemas.microsoft.com/office/drawing/2014/main" id="{9A202E7C-FDC8-3821-7876-6B7648D387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204" y="2213830"/>
            <a:ext cx="6191250" cy="189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94CA0146-93DB-D0D0-D13F-3D8031B7C128}"/>
              </a:ext>
            </a:extLst>
          </p:cNvPr>
          <p:cNvSpPr/>
          <p:nvPr/>
        </p:nvSpPr>
        <p:spPr>
          <a:xfrm>
            <a:off x="7836877" y="3783257"/>
            <a:ext cx="3516923" cy="1412997"/>
          </a:xfrm>
          <a:prstGeom prst="wedgeRoundRectCallout">
            <a:avLst>
              <a:gd name="adj1" fmla="val -71833"/>
              <a:gd name="adj2" fmla="val -50574"/>
              <a:gd name="adj3" fmla="val 16667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The agent does NOT have this overview initially, it must figure out the map by experimenting.</a:t>
            </a:r>
            <a:endParaRPr lang="en-NL" dirty="0"/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C41587DF-EDEF-B311-9EC8-802846FCB477}"/>
              </a:ext>
            </a:extLst>
          </p:cNvPr>
          <p:cNvSpPr/>
          <p:nvPr/>
        </p:nvSpPr>
        <p:spPr>
          <a:xfrm>
            <a:off x="1512278" y="4788511"/>
            <a:ext cx="5527430" cy="1412997"/>
          </a:xfrm>
          <a:prstGeom prst="wedgeRoundRectCallout">
            <a:avLst>
              <a:gd name="adj1" fmla="val 21753"/>
              <a:gd name="adj2" fmla="val -95998"/>
              <a:gd name="adj3" fmla="val 16667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The agent starts at </a:t>
            </a:r>
            <a:r>
              <a:rPr lang="en-US" b="1" dirty="0">
                <a:solidFill>
                  <a:schemeClr val="accent1"/>
                </a:solidFill>
              </a:rPr>
              <a:t>S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and receives a reward when reaching </a:t>
            </a:r>
            <a:r>
              <a:rPr lang="en-US" sz="2000" b="1" dirty="0">
                <a:solidFill>
                  <a:srgbClr val="00B050"/>
                </a:solidFill>
              </a:rPr>
              <a:t>G</a:t>
            </a:r>
            <a:r>
              <a:rPr lang="en-US" dirty="0"/>
              <a:t>. If it falls into hole</a:t>
            </a:r>
            <a:r>
              <a:rPr lang="en-US" b="1" dirty="0"/>
              <a:t>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H</a:t>
            </a:r>
            <a:r>
              <a:rPr lang="en-US" b="1" dirty="0"/>
              <a:t> </a:t>
            </a:r>
            <a:r>
              <a:rPr lang="en-US" dirty="0"/>
              <a:t>the episode ends (and it may start over)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837821235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CBF762-F4D1-28DC-0936-A1C44098BC50}"/>
              </a:ext>
            </a:extLst>
          </p:cNvPr>
          <p:cNvSpPr txBox="1"/>
          <p:nvPr/>
        </p:nvSpPr>
        <p:spPr>
          <a:xfrm>
            <a:off x="317500" y="56954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Gymnasium Documentation (farama.org)</a:t>
            </a:r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6EE38C-09FC-1888-D497-6300437F8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165" y="2116990"/>
            <a:ext cx="7254869" cy="2293819"/>
          </a:xfrm>
          <a:prstGeom prst="rect">
            <a:avLst/>
          </a:prstGeom>
        </p:spPr>
      </p:pic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8E7887B7-A359-2569-D6FC-C056760FD3DC}"/>
              </a:ext>
            </a:extLst>
          </p:cNvPr>
          <p:cNvSpPr/>
          <p:nvPr/>
        </p:nvSpPr>
        <p:spPr>
          <a:xfrm>
            <a:off x="596900" y="406400"/>
            <a:ext cx="2387600" cy="1710590"/>
          </a:xfrm>
          <a:prstGeom prst="wedgeRoundRectCallout">
            <a:avLst>
              <a:gd name="adj1" fmla="val 42000"/>
              <a:gd name="adj2" fmla="val 67932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environment 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</a:rPr>
              <a:t>env</a:t>
            </a:r>
            <a:r>
              <a:rPr lang="en-US" dirty="0"/>
              <a:t> manages the update of the state and calculation of the reward. It knows in which state we are. 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837126221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CBF762-F4D1-28DC-0936-A1C44098BC50}"/>
              </a:ext>
            </a:extLst>
          </p:cNvPr>
          <p:cNvSpPr txBox="1"/>
          <p:nvPr/>
        </p:nvSpPr>
        <p:spPr>
          <a:xfrm>
            <a:off x="317500" y="56954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Gymnasium Documentation (farama.org)</a:t>
            </a:r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6EE38C-09FC-1888-D497-6300437F8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165" y="2116990"/>
            <a:ext cx="7254869" cy="2293819"/>
          </a:xfrm>
          <a:prstGeom prst="rect">
            <a:avLst/>
          </a:prstGeom>
        </p:spPr>
      </p:pic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8E7887B7-A359-2569-D6FC-C056760FD3DC}"/>
              </a:ext>
            </a:extLst>
          </p:cNvPr>
          <p:cNvSpPr/>
          <p:nvPr/>
        </p:nvSpPr>
        <p:spPr>
          <a:xfrm>
            <a:off x="2497932" y="1449131"/>
            <a:ext cx="1631156" cy="622557"/>
          </a:xfrm>
          <a:prstGeom prst="wedgeRoundRectCallout">
            <a:avLst>
              <a:gd name="adj1" fmla="val 3701"/>
              <a:gd name="adj2" fmla="val 130781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Initial state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877320578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CBF762-F4D1-28DC-0936-A1C44098BC50}"/>
              </a:ext>
            </a:extLst>
          </p:cNvPr>
          <p:cNvSpPr txBox="1"/>
          <p:nvPr/>
        </p:nvSpPr>
        <p:spPr>
          <a:xfrm>
            <a:off x="317500" y="56954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Gymnasium Documentation (farama.org)</a:t>
            </a:r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6EE38C-09FC-1888-D497-6300437F8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165" y="2116990"/>
            <a:ext cx="7254869" cy="22938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Speech Bubble: Rectangle with Corners Rounded 7">
                <a:extLst>
                  <a:ext uri="{FF2B5EF4-FFF2-40B4-BE49-F238E27FC236}">
                    <a16:creationId xmlns:a16="http://schemas.microsoft.com/office/drawing/2014/main" id="{8E7887B7-A359-2569-D6FC-C056760FD3DC}"/>
                  </a:ext>
                </a:extLst>
              </p:cNvPr>
              <p:cNvSpPr/>
              <p:nvPr/>
            </p:nvSpPr>
            <p:spPr>
              <a:xfrm>
                <a:off x="2697165" y="1873249"/>
                <a:ext cx="2882900" cy="704373"/>
              </a:xfrm>
              <a:prstGeom prst="wedgeRoundRectCallout">
                <a:avLst>
                  <a:gd name="adj1" fmla="val -7468"/>
                  <a:gd name="adj2" fmla="val 73500"/>
                  <a:gd name="adj3" fmla="val 16667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lang="en-US" dirty="0"/>
                  <a:t>0 in our slides</a:t>
                </a:r>
                <a:endParaRPr lang="en-NL" dirty="0"/>
              </a:p>
            </p:txBody>
          </p:sp>
        </mc:Choice>
        <mc:Fallback xmlns="">
          <p:sp>
            <p:nvSpPr>
              <p:cNvPr id="8" name="Speech Bubble: Rectangle with Corners Rounded 7">
                <a:extLst>
                  <a:ext uri="{FF2B5EF4-FFF2-40B4-BE49-F238E27FC236}">
                    <a16:creationId xmlns:a16="http://schemas.microsoft.com/office/drawing/2014/main" id="{8E7887B7-A359-2569-D6FC-C056760FD3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7165" y="1873249"/>
                <a:ext cx="2882900" cy="704373"/>
              </a:xfrm>
              <a:prstGeom prst="wedgeRoundRectCallout">
                <a:avLst>
                  <a:gd name="adj1" fmla="val -7468"/>
                  <a:gd name="adj2" fmla="val 73500"/>
                  <a:gd name="adj3" fmla="val 16667"/>
                </a:avLst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9753611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CBF762-F4D1-28DC-0936-A1C44098BC50}"/>
              </a:ext>
            </a:extLst>
          </p:cNvPr>
          <p:cNvSpPr txBox="1"/>
          <p:nvPr/>
        </p:nvSpPr>
        <p:spPr>
          <a:xfrm>
            <a:off x="317500" y="56954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Gymnasium Documentation (farama.org)</a:t>
            </a:r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6EE38C-09FC-1888-D497-6300437F8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165" y="2116990"/>
            <a:ext cx="7254869" cy="2293819"/>
          </a:xfrm>
          <a:prstGeom prst="rect">
            <a:avLst/>
          </a:prstGeom>
        </p:spPr>
      </p:pic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8E7887B7-A359-2569-D6FC-C056760FD3DC}"/>
              </a:ext>
            </a:extLst>
          </p:cNvPr>
          <p:cNvSpPr/>
          <p:nvPr/>
        </p:nvSpPr>
        <p:spPr>
          <a:xfrm>
            <a:off x="2303465" y="730251"/>
            <a:ext cx="2974972" cy="1244122"/>
          </a:xfrm>
          <a:prstGeom prst="wedgeRoundRectCallout">
            <a:avLst>
              <a:gd name="adj1" fmla="val 12540"/>
              <a:gd name="adj2" fmla="val 130781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</a:rPr>
              <a:t>env.action_space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/>
              <a:t>is the set of feasible actions </a:t>
            </a:r>
            <a:br>
              <a:rPr lang="en-US" dirty="0"/>
            </a:br>
            <a:r>
              <a:rPr lang="en-US" dirty="0"/>
              <a:t>(state-dependent)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703127130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CBF762-F4D1-28DC-0936-A1C44098BC50}"/>
              </a:ext>
            </a:extLst>
          </p:cNvPr>
          <p:cNvSpPr txBox="1"/>
          <p:nvPr/>
        </p:nvSpPr>
        <p:spPr>
          <a:xfrm>
            <a:off x="317500" y="56954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Gymnasium Documentation (farama.org)</a:t>
            </a:r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6EE38C-09FC-1888-D497-6300437F8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165" y="2116990"/>
            <a:ext cx="7254869" cy="2293819"/>
          </a:xfrm>
          <a:prstGeom prst="rect">
            <a:avLst/>
          </a:prstGeom>
        </p:spPr>
      </p:pic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8E7887B7-A359-2569-D6FC-C056760FD3DC}"/>
              </a:ext>
            </a:extLst>
          </p:cNvPr>
          <p:cNvSpPr/>
          <p:nvPr/>
        </p:nvSpPr>
        <p:spPr>
          <a:xfrm>
            <a:off x="3160715" y="725489"/>
            <a:ext cx="2974972" cy="1244122"/>
          </a:xfrm>
          <a:prstGeom prst="wedgeRoundRectCallout">
            <a:avLst>
              <a:gd name="adj1" fmla="val 12540"/>
              <a:gd name="adj2" fmla="val 130781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Here we select a random move! (random policy, maximum exploration)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898017914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CBF762-F4D1-28DC-0936-A1C44098BC50}"/>
              </a:ext>
            </a:extLst>
          </p:cNvPr>
          <p:cNvSpPr txBox="1"/>
          <p:nvPr/>
        </p:nvSpPr>
        <p:spPr>
          <a:xfrm>
            <a:off x="317500" y="56954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Gymnasium Documentation (farama.org)</a:t>
            </a:r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6EE38C-09FC-1888-D497-6300437F8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165" y="2116990"/>
            <a:ext cx="7254869" cy="2293819"/>
          </a:xfrm>
          <a:prstGeom prst="rect">
            <a:avLst/>
          </a:prstGeom>
        </p:spPr>
      </p:pic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8E7887B7-A359-2569-D6FC-C056760FD3DC}"/>
              </a:ext>
            </a:extLst>
          </p:cNvPr>
          <p:cNvSpPr/>
          <p:nvPr/>
        </p:nvSpPr>
        <p:spPr>
          <a:xfrm>
            <a:off x="4975228" y="872868"/>
            <a:ext cx="2974972" cy="1244122"/>
          </a:xfrm>
          <a:prstGeom prst="wedgeRoundRectCallout">
            <a:avLst>
              <a:gd name="adj1" fmla="val 12540"/>
              <a:gd name="adj2" fmla="val 130781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Here we ask the environment to execute the action give the state we are in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664508130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CBF762-F4D1-28DC-0936-A1C44098BC50}"/>
              </a:ext>
            </a:extLst>
          </p:cNvPr>
          <p:cNvSpPr txBox="1"/>
          <p:nvPr/>
        </p:nvSpPr>
        <p:spPr>
          <a:xfrm>
            <a:off x="317500" y="56954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Gymnasium Documentation (farama.org)</a:t>
            </a:r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6EE38C-09FC-1888-D497-6300437F8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165" y="2116990"/>
            <a:ext cx="7254869" cy="2293819"/>
          </a:xfrm>
          <a:prstGeom prst="rect">
            <a:avLst/>
          </a:prstGeom>
        </p:spPr>
      </p:pic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8E7887B7-A359-2569-D6FC-C056760FD3DC}"/>
              </a:ext>
            </a:extLst>
          </p:cNvPr>
          <p:cNvSpPr/>
          <p:nvPr/>
        </p:nvSpPr>
        <p:spPr>
          <a:xfrm>
            <a:off x="4975227" y="872868"/>
            <a:ext cx="3663947" cy="1244122"/>
          </a:xfrm>
          <a:prstGeom prst="wedgeRoundRectCallout">
            <a:avLst>
              <a:gd name="adj1" fmla="val 3701"/>
              <a:gd name="adj2" fmla="val 130781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Here we ask the environment to execute the action give the state we are in (state is an environment variable)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319872431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CBF762-F4D1-28DC-0936-A1C44098BC50}"/>
              </a:ext>
            </a:extLst>
          </p:cNvPr>
          <p:cNvSpPr txBox="1"/>
          <p:nvPr/>
        </p:nvSpPr>
        <p:spPr>
          <a:xfrm>
            <a:off x="317500" y="56954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Gymnasium Documentation (farama.org)</a:t>
            </a:r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6EE38C-09FC-1888-D497-6300437F8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165" y="2116990"/>
            <a:ext cx="7254869" cy="2293819"/>
          </a:xfrm>
          <a:prstGeom prst="rect">
            <a:avLst/>
          </a:prstGeom>
        </p:spPr>
      </p:pic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8E7887B7-A359-2569-D6FC-C056760FD3DC}"/>
              </a:ext>
            </a:extLst>
          </p:cNvPr>
          <p:cNvSpPr/>
          <p:nvPr/>
        </p:nvSpPr>
        <p:spPr>
          <a:xfrm>
            <a:off x="2721769" y="872868"/>
            <a:ext cx="1287461" cy="1244122"/>
          </a:xfrm>
          <a:prstGeom prst="wedgeRoundRectCallout">
            <a:avLst>
              <a:gd name="adj1" fmla="val 3701"/>
              <a:gd name="adj2" fmla="val 130781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New state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013341874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42C05-F527-72F4-D161-E76F0484C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Tabular Q-Learning Code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2238B-F5E3-36E7-4D8F-0B9D7212F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am going to provide you with a code that can guide your work. </a:t>
            </a:r>
          </a:p>
          <a:p>
            <a:endParaRPr lang="en-US" dirty="0"/>
          </a:p>
          <a:p>
            <a:r>
              <a:rPr lang="en-US" dirty="0"/>
              <a:t>Try to match the code against the slide contents</a:t>
            </a:r>
          </a:p>
          <a:p>
            <a:endParaRPr lang="en-US" dirty="0"/>
          </a:p>
          <a:p>
            <a:r>
              <a:rPr lang="en-US" dirty="0"/>
              <a:t>The code will not work as is, you need to figure out how to build the solution yourself, but it should make it clear what I exactly mean</a:t>
            </a:r>
          </a:p>
        </p:txBody>
      </p:sp>
    </p:spTree>
    <p:extLst>
      <p:ext uri="{BB962C8B-B14F-4D97-AF65-F5344CB8AC3E}">
        <p14:creationId xmlns:p14="http://schemas.microsoft.com/office/powerpoint/2010/main" val="6506156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9" name="Rectangle 278">
            <a:extLst>
              <a:ext uri="{FF2B5EF4-FFF2-40B4-BE49-F238E27FC236}">
                <a16:creationId xmlns:a16="http://schemas.microsoft.com/office/drawing/2014/main" id="{B66D7F65-E9B6-4775-8355-D095CC73C1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61707E60-CEC9-4661-AA82-69242EB4B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7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8F035CD8-AE30-4146-96F2-036B0CE5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BC0DCF26-85E7-E82F-8E37-C45DB2B6C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156"/>
            <a:ext cx="65" cy="430887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NL" altLang="en-N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-apple-system"/>
              </a:rPr>
            </a:b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F827FF-E760-DA81-FA99-A423D7D478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import </a:t>
            </a:r>
            <a:r>
              <a:rPr lang="en-US" sz="2000" dirty="0" err="1"/>
              <a:t>numpy</a:t>
            </a:r>
            <a:r>
              <a:rPr lang="en-US" sz="2000" dirty="0"/>
              <a:t> as np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class </a:t>
            </a:r>
            <a:r>
              <a:rPr lang="en-US" sz="2000" dirty="0" err="1"/>
              <a:t>TabularQLearning</a:t>
            </a:r>
            <a:r>
              <a:rPr lang="en-US" sz="2000" dirty="0"/>
              <a:t>:</a:t>
            </a:r>
          </a:p>
          <a:p>
            <a:pPr marL="0" indent="0">
              <a:buNone/>
            </a:pPr>
            <a:r>
              <a:rPr lang="en-US" sz="2000" dirty="0"/>
              <a:t>    def __</a:t>
            </a:r>
            <a:r>
              <a:rPr lang="en-US" sz="2000" dirty="0" err="1"/>
              <a:t>init</a:t>
            </a:r>
            <a:r>
              <a:rPr lang="en-US" sz="2000" dirty="0"/>
              <a:t>__(self, </a:t>
            </a:r>
            <a:r>
              <a:rPr lang="en-US" sz="2000" dirty="0" err="1"/>
              <a:t>num_states</a:t>
            </a:r>
            <a:r>
              <a:rPr lang="en-US" sz="2000" dirty="0"/>
              <a:t>, </a:t>
            </a:r>
            <a:r>
              <a:rPr lang="en-US" sz="2000" dirty="0" err="1"/>
              <a:t>num_actions</a:t>
            </a:r>
            <a:r>
              <a:rPr lang="en-US" sz="2000" dirty="0"/>
              <a:t>, </a:t>
            </a:r>
            <a:r>
              <a:rPr lang="en-US" sz="2000" dirty="0" err="1"/>
              <a:t>learning_rate</a:t>
            </a:r>
            <a:r>
              <a:rPr lang="en-US" sz="2000" dirty="0"/>
              <a:t>=0.1, </a:t>
            </a:r>
            <a:r>
              <a:rPr lang="en-US" sz="2000" dirty="0" err="1"/>
              <a:t>discount_factor</a:t>
            </a:r>
            <a:r>
              <a:rPr lang="en-US" sz="2000" dirty="0"/>
              <a:t>=0.9, epsilon=0.1):</a:t>
            </a:r>
          </a:p>
          <a:p>
            <a:pPr marL="0" indent="0">
              <a:buNone/>
            </a:pPr>
            <a:r>
              <a:rPr lang="en-US" sz="2000" dirty="0"/>
              <a:t>        </a:t>
            </a:r>
            <a:r>
              <a:rPr lang="en-US" sz="2000" dirty="0" err="1"/>
              <a:t>self.num_states</a:t>
            </a:r>
            <a:r>
              <a:rPr lang="en-US" sz="2000" dirty="0"/>
              <a:t> = </a:t>
            </a:r>
            <a:r>
              <a:rPr lang="en-US" sz="2000" dirty="0" err="1"/>
              <a:t>num_states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    </a:t>
            </a:r>
            <a:r>
              <a:rPr lang="en-US" sz="2000" dirty="0" err="1"/>
              <a:t>self.num_actions</a:t>
            </a:r>
            <a:r>
              <a:rPr lang="en-US" sz="2000" dirty="0"/>
              <a:t> = </a:t>
            </a:r>
            <a:r>
              <a:rPr lang="en-US" sz="2000" dirty="0" err="1"/>
              <a:t>num_actions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    </a:t>
            </a:r>
            <a:r>
              <a:rPr lang="en-US" sz="2000" dirty="0" err="1"/>
              <a:t>self.learning_rate</a:t>
            </a:r>
            <a:r>
              <a:rPr lang="en-US" sz="2000" dirty="0"/>
              <a:t> = </a:t>
            </a:r>
            <a:r>
              <a:rPr lang="en-US" sz="2000" dirty="0" err="1"/>
              <a:t>learning_rate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    </a:t>
            </a:r>
            <a:r>
              <a:rPr lang="en-US" sz="2000" dirty="0" err="1"/>
              <a:t>self.discount_factor</a:t>
            </a:r>
            <a:r>
              <a:rPr lang="en-US" sz="2000" dirty="0"/>
              <a:t> = </a:t>
            </a:r>
            <a:r>
              <a:rPr lang="en-US" sz="2000" dirty="0" err="1"/>
              <a:t>discount_factor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    </a:t>
            </a:r>
            <a:r>
              <a:rPr lang="en-US" sz="2000" dirty="0" err="1"/>
              <a:t>self.epsilon</a:t>
            </a:r>
            <a:r>
              <a:rPr lang="en-US" sz="2000" dirty="0"/>
              <a:t> = epsilon</a:t>
            </a:r>
          </a:p>
          <a:p>
            <a:pPr marL="0" indent="0">
              <a:buNone/>
            </a:pPr>
            <a:r>
              <a:rPr lang="en-US" sz="2000" dirty="0"/>
              <a:t>        </a:t>
            </a:r>
            <a:r>
              <a:rPr lang="en-US" sz="2000" dirty="0" err="1"/>
              <a:t>self.q_table</a:t>
            </a:r>
            <a:r>
              <a:rPr lang="en-US" sz="2000" dirty="0"/>
              <a:t> = </a:t>
            </a:r>
            <a:r>
              <a:rPr lang="en-US" sz="2000" dirty="0" err="1"/>
              <a:t>np.zeros</a:t>
            </a:r>
            <a:r>
              <a:rPr lang="en-US" sz="2000" dirty="0"/>
              <a:t>((</a:t>
            </a:r>
            <a:r>
              <a:rPr lang="en-US" sz="2000" dirty="0" err="1"/>
              <a:t>num_states</a:t>
            </a:r>
            <a:r>
              <a:rPr lang="en-US" sz="2000" dirty="0"/>
              <a:t>, </a:t>
            </a:r>
            <a:r>
              <a:rPr lang="en-US" sz="2000" dirty="0" err="1"/>
              <a:t>num_actions</a:t>
            </a:r>
            <a:r>
              <a:rPr lang="en-US" sz="2000" dirty="0"/>
              <a:t>))</a:t>
            </a:r>
            <a:endParaRPr lang="en-NL" sz="20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CFF1FAA-E8C6-82BC-C336-BAA89692C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8599"/>
            <a:ext cx="10515600" cy="1325563"/>
          </a:xfrm>
        </p:spPr>
        <p:txBody>
          <a:bodyPr/>
          <a:lstStyle/>
          <a:p>
            <a:r>
              <a:rPr lang="en-US" dirty="0"/>
              <a:t>Tabular Q-learning Code: Initialization</a:t>
            </a:r>
            <a:endParaRPr lang="en-NL" dirty="0"/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5E8E8-7E18-E8AE-E2D9-D77DAE88A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1DB8CF24-65CE-2620-435C-D2C385B39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156"/>
            <a:ext cx="65" cy="430887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NL" altLang="en-N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-apple-system"/>
              </a:rPr>
            </a:b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766256-44C6-F05F-894E-38FFF8A869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def </a:t>
            </a:r>
            <a:r>
              <a:rPr lang="en-US" sz="2000" dirty="0" err="1"/>
              <a:t>choose_action</a:t>
            </a:r>
            <a:r>
              <a:rPr lang="en-US" sz="2000" dirty="0"/>
              <a:t>(self, state):</a:t>
            </a:r>
          </a:p>
          <a:p>
            <a:pPr marL="0" indent="0">
              <a:buNone/>
            </a:pPr>
            <a:r>
              <a:rPr lang="en-US" sz="2000" dirty="0"/>
              <a:t>        if </a:t>
            </a:r>
            <a:r>
              <a:rPr lang="en-US" sz="2000" dirty="0" err="1"/>
              <a:t>np.random.rand</a:t>
            </a:r>
            <a:r>
              <a:rPr lang="en-US" sz="2000" dirty="0"/>
              <a:t>() &lt; </a:t>
            </a:r>
            <a:r>
              <a:rPr lang="en-US" sz="2000" dirty="0" err="1"/>
              <a:t>self.epsilon</a:t>
            </a:r>
            <a:r>
              <a:rPr lang="en-US" sz="2000" dirty="0"/>
              <a:t>:</a:t>
            </a:r>
          </a:p>
          <a:p>
            <a:pPr marL="0" indent="0">
              <a:buNone/>
            </a:pPr>
            <a:r>
              <a:rPr lang="en-US" sz="2000" dirty="0"/>
              <a:t>            return </a:t>
            </a:r>
            <a:r>
              <a:rPr lang="en-US" sz="2000" dirty="0" err="1"/>
              <a:t>np.random.choice</a:t>
            </a:r>
            <a:r>
              <a:rPr lang="en-US" sz="2000" dirty="0"/>
              <a:t>(</a:t>
            </a:r>
            <a:r>
              <a:rPr lang="en-US" sz="2000" dirty="0" err="1"/>
              <a:t>self.num_actions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        else:</a:t>
            </a:r>
          </a:p>
          <a:p>
            <a:pPr marL="0" indent="0">
              <a:buNone/>
            </a:pPr>
            <a:r>
              <a:rPr lang="en-US" sz="2000" dirty="0"/>
              <a:t>            return </a:t>
            </a:r>
            <a:r>
              <a:rPr lang="en-US" sz="2000" dirty="0" err="1"/>
              <a:t>np.argmax</a:t>
            </a:r>
            <a:r>
              <a:rPr lang="en-US" sz="2000" dirty="0"/>
              <a:t>(</a:t>
            </a:r>
            <a:r>
              <a:rPr lang="en-US" sz="2000" dirty="0" err="1"/>
              <a:t>self.q_table</a:t>
            </a:r>
            <a:r>
              <a:rPr lang="en-US" sz="2000" dirty="0"/>
              <a:t>[state])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1B20B62-E920-E100-2F38-AE23F59D6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8599"/>
            <a:ext cx="10515600" cy="1325563"/>
          </a:xfrm>
        </p:spPr>
        <p:txBody>
          <a:bodyPr/>
          <a:lstStyle/>
          <a:p>
            <a:r>
              <a:rPr lang="en-US" dirty="0"/>
              <a:t>Tabular Q-learning Code: Epsilon Greedy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131088499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A2EB0-D163-1B8E-B789-5F32FC39F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1C198E35-9383-EE2B-BDE4-519DD50138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156"/>
            <a:ext cx="65" cy="430887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NL" altLang="en-N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-apple-system"/>
              </a:rPr>
            </a:b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D5F9F0-5682-DB8D-AAFD-BCC81A7E6D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def </a:t>
            </a:r>
            <a:r>
              <a:rPr lang="en-US" sz="1600" dirty="0" err="1"/>
              <a:t>update_q_table</a:t>
            </a:r>
            <a:r>
              <a:rPr lang="en-US" sz="1600" dirty="0"/>
              <a:t>(self, state, action, reward, </a:t>
            </a:r>
            <a:r>
              <a:rPr lang="en-US" sz="1600" dirty="0" err="1"/>
              <a:t>next_state</a:t>
            </a:r>
            <a:r>
              <a:rPr lang="en-US" sz="1600" dirty="0"/>
              <a:t>):</a:t>
            </a:r>
          </a:p>
          <a:p>
            <a:pPr marL="0" indent="0">
              <a:buNone/>
            </a:pPr>
            <a:r>
              <a:rPr lang="en-US" sz="1600" dirty="0"/>
              <a:t>        </a:t>
            </a:r>
            <a:r>
              <a:rPr lang="en-US" sz="1600" dirty="0" err="1"/>
              <a:t>old_q_value</a:t>
            </a:r>
            <a:r>
              <a:rPr lang="en-US" sz="1600" dirty="0"/>
              <a:t> = </a:t>
            </a:r>
            <a:r>
              <a:rPr lang="en-US" sz="1600" dirty="0" err="1"/>
              <a:t>self.q_table</a:t>
            </a:r>
            <a:r>
              <a:rPr lang="en-US" sz="1600" dirty="0"/>
              <a:t>[state, action]</a:t>
            </a:r>
          </a:p>
          <a:p>
            <a:pPr marL="0" indent="0">
              <a:buNone/>
            </a:pPr>
            <a:r>
              <a:rPr lang="en-US" sz="1600" dirty="0"/>
              <a:t>        </a:t>
            </a:r>
            <a:r>
              <a:rPr lang="en-US" sz="1600" dirty="0" err="1"/>
              <a:t>next_max</a:t>
            </a:r>
            <a:r>
              <a:rPr lang="en-US" sz="1600" dirty="0"/>
              <a:t> = </a:t>
            </a:r>
            <a:r>
              <a:rPr lang="en-US" sz="1600" dirty="0" err="1"/>
              <a:t>np.max</a:t>
            </a:r>
            <a:r>
              <a:rPr lang="en-US" sz="1600" dirty="0"/>
              <a:t>(</a:t>
            </a:r>
            <a:r>
              <a:rPr lang="en-US" sz="1600" dirty="0" err="1"/>
              <a:t>self.q_table</a:t>
            </a:r>
            <a:r>
              <a:rPr lang="en-US" sz="1600" dirty="0"/>
              <a:t>[</a:t>
            </a:r>
            <a:r>
              <a:rPr lang="en-US" sz="1600" dirty="0" err="1"/>
              <a:t>next_state</a:t>
            </a:r>
            <a:r>
              <a:rPr lang="en-US" sz="1600" dirty="0"/>
              <a:t>])</a:t>
            </a:r>
          </a:p>
          <a:p>
            <a:pPr marL="0" indent="0">
              <a:buNone/>
            </a:pPr>
            <a:r>
              <a:rPr lang="en-US" sz="1600" dirty="0"/>
              <a:t>        </a:t>
            </a:r>
            <a:r>
              <a:rPr lang="en-US" sz="1600" dirty="0" err="1"/>
              <a:t>new_q_value</a:t>
            </a:r>
            <a:r>
              <a:rPr lang="en-US" sz="1600" dirty="0"/>
              <a:t> = </a:t>
            </a:r>
            <a:r>
              <a:rPr lang="en-US" sz="1600" dirty="0" err="1"/>
              <a:t>old_q_value</a:t>
            </a:r>
            <a:r>
              <a:rPr lang="en-US" sz="1600" dirty="0"/>
              <a:t> + </a:t>
            </a:r>
            <a:r>
              <a:rPr lang="en-US" sz="1600" dirty="0" err="1"/>
              <a:t>self.learning_rate</a:t>
            </a:r>
            <a:r>
              <a:rPr lang="en-US" sz="1600" dirty="0"/>
              <a:t> * (reward + </a:t>
            </a:r>
            <a:r>
              <a:rPr lang="en-US" sz="1600" dirty="0" err="1"/>
              <a:t>self.discount_factor</a:t>
            </a:r>
            <a:r>
              <a:rPr lang="en-US" sz="1600" dirty="0"/>
              <a:t> * </a:t>
            </a:r>
            <a:r>
              <a:rPr lang="en-US" sz="1600" dirty="0" err="1"/>
              <a:t>next_max</a:t>
            </a:r>
            <a:r>
              <a:rPr lang="en-US" sz="1600" dirty="0"/>
              <a:t> - </a:t>
            </a:r>
            <a:r>
              <a:rPr lang="en-US" sz="1600" dirty="0" err="1"/>
              <a:t>old_q_value</a:t>
            </a:r>
            <a:r>
              <a:rPr lang="en-US" sz="1600" dirty="0"/>
              <a:t>)</a:t>
            </a:r>
          </a:p>
          <a:p>
            <a:pPr marL="0" indent="0">
              <a:buNone/>
            </a:pPr>
            <a:r>
              <a:rPr lang="en-US" sz="1600" dirty="0"/>
              <a:t>        </a:t>
            </a:r>
            <a:r>
              <a:rPr lang="en-US" sz="1600" dirty="0" err="1"/>
              <a:t>self.q_table</a:t>
            </a:r>
            <a:r>
              <a:rPr lang="en-US" sz="1600" dirty="0"/>
              <a:t>[state, action] = </a:t>
            </a:r>
            <a:r>
              <a:rPr lang="en-US" sz="1600" dirty="0" err="1"/>
              <a:t>new_q_value</a:t>
            </a:r>
            <a:endParaRPr lang="en-US" sz="16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230B19B-7D20-A82B-DB55-DB120AEA8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8599"/>
            <a:ext cx="10515600" cy="1325563"/>
          </a:xfrm>
        </p:spPr>
        <p:txBody>
          <a:bodyPr/>
          <a:lstStyle/>
          <a:p>
            <a:r>
              <a:rPr lang="en-US" dirty="0"/>
              <a:t>Tabular Q-learning Code: Q-learning Update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912246252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BAD0C-54AB-2672-C048-0D7351FD6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000A3978-6A03-2C88-4434-2F8AAACC71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156"/>
            <a:ext cx="65" cy="430887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NL" altLang="en-N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-apple-system"/>
              </a:rPr>
            </a:b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ACC94-9F7C-110E-1032-6240AFA187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# Simulated environment interactions</a:t>
            </a:r>
          </a:p>
          <a:p>
            <a:pPr marL="0" indent="0">
              <a:buNone/>
            </a:pPr>
            <a:r>
              <a:rPr lang="en-US" sz="1600" dirty="0" err="1"/>
              <a:t>num_episodes</a:t>
            </a:r>
            <a:r>
              <a:rPr lang="en-US" sz="1600" dirty="0"/>
              <a:t> = 1000</a:t>
            </a:r>
          </a:p>
          <a:p>
            <a:pPr marL="0" indent="0">
              <a:buNone/>
            </a:pPr>
            <a:r>
              <a:rPr lang="en-US" sz="1600" dirty="0"/>
              <a:t>for episode in range(</a:t>
            </a:r>
            <a:r>
              <a:rPr lang="en-US" sz="1600" dirty="0" err="1"/>
              <a:t>num_episodes</a:t>
            </a:r>
            <a:r>
              <a:rPr lang="en-US" sz="1600" dirty="0"/>
              <a:t>):</a:t>
            </a:r>
          </a:p>
          <a:p>
            <a:pPr marL="0" indent="0">
              <a:buNone/>
            </a:pPr>
            <a:r>
              <a:rPr lang="en-US" sz="1600" dirty="0"/>
              <a:t>    state = </a:t>
            </a:r>
            <a:r>
              <a:rPr lang="en-US" sz="1600" dirty="0" err="1"/>
              <a:t>np.random.randint</a:t>
            </a:r>
            <a:r>
              <a:rPr lang="en-US" sz="1600" dirty="0"/>
              <a:t>(0, </a:t>
            </a:r>
            <a:r>
              <a:rPr lang="en-US" sz="1600" dirty="0" err="1"/>
              <a:t>num_states</a:t>
            </a:r>
            <a:r>
              <a:rPr lang="en-US" sz="1600" dirty="0"/>
              <a:t>)  # Random initial state</a:t>
            </a:r>
          </a:p>
          <a:p>
            <a:pPr marL="0" indent="0">
              <a:buNone/>
            </a:pPr>
            <a:r>
              <a:rPr lang="en-US" sz="1600" dirty="0"/>
              <a:t>    while not done:</a:t>
            </a:r>
          </a:p>
          <a:p>
            <a:pPr marL="0" indent="0">
              <a:buNone/>
            </a:pPr>
            <a:r>
              <a:rPr lang="en-US" sz="1600" dirty="0"/>
              <a:t>        action = </a:t>
            </a:r>
            <a:r>
              <a:rPr lang="en-US" sz="1600" dirty="0" err="1"/>
              <a:t>agent.choose_action</a:t>
            </a:r>
            <a:r>
              <a:rPr lang="en-US" sz="1600" dirty="0"/>
              <a:t>(state)</a:t>
            </a:r>
          </a:p>
          <a:p>
            <a:pPr marL="0" indent="0">
              <a:buNone/>
            </a:pPr>
            <a:r>
              <a:rPr lang="en-US" sz="1600" dirty="0"/>
              <a:t>        # Simulate environment: obtain reward and next state</a:t>
            </a:r>
          </a:p>
          <a:p>
            <a:pPr marL="0" indent="0">
              <a:buNone/>
            </a:pPr>
            <a:r>
              <a:rPr lang="en-US" sz="1600" dirty="0"/>
              <a:t>        </a:t>
            </a:r>
            <a:r>
              <a:rPr lang="en-US" sz="1600" dirty="0" err="1"/>
              <a:t>next_state</a:t>
            </a:r>
            <a:r>
              <a:rPr lang="en-US" sz="1600" dirty="0"/>
              <a:t>, reward, done = </a:t>
            </a:r>
            <a:r>
              <a:rPr lang="en-US" sz="1600" dirty="0" err="1"/>
              <a:t>env.step</a:t>
            </a:r>
            <a:r>
              <a:rPr lang="en-US" sz="1600" dirty="0"/>
              <a:t>(action)</a:t>
            </a:r>
          </a:p>
          <a:p>
            <a:pPr marL="0" indent="0">
              <a:buNone/>
            </a:pPr>
            <a:r>
              <a:rPr lang="en-US" sz="1600" dirty="0"/>
              <a:t>        # Update Q-table based on the observed transition</a:t>
            </a:r>
          </a:p>
          <a:p>
            <a:pPr marL="0" indent="0">
              <a:buNone/>
            </a:pPr>
            <a:r>
              <a:rPr lang="en-US" sz="1600" dirty="0"/>
              <a:t>        </a:t>
            </a:r>
            <a:r>
              <a:rPr lang="en-US" sz="1600" dirty="0" err="1"/>
              <a:t>agent.update_q_table</a:t>
            </a:r>
            <a:r>
              <a:rPr lang="en-US" sz="1600" dirty="0"/>
              <a:t>(state, action, reward, </a:t>
            </a:r>
            <a:r>
              <a:rPr lang="en-US" sz="1600" dirty="0" err="1"/>
              <a:t>next_state</a:t>
            </a:r>
            <a:r>
              <a:rPr lang="en-US" sz="1600" dirty="0"/>
              <a:t>)</a:t>
            </a:r>
          </a:p>
          <a:p>
            <a:pPr marL="0" indent="0">
              <a:buNone/>
            </a:pPr>
            <a:r>
              <a:rPr lang="en-US" sz="1600" dirty="0"/>
              <a:t>        state = </a:t>
            </a:r>
            <a:r>
              <a:rPr lang="en-US" sz="1600" dirty="0" err="1"/>
              <a:t>next_state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        # YOUR KPI CALCULATIONS HERE TO PROVE AGENT IS LEARNING</a:t>
            </a:r>
          </a:p>
          <a:p>
            <a:pPr marL="0" indent="0">
              <a:buNone/>
            </a:pPr>
            <a:endParaRPr lang="en-NL" sz="16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E87B158-1B4D-5490-01CE-CCC0B730D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8599"/>
            <a:ext cx="10515600" cy="1325563"/>
          </a:xfrm>
        </p:spPr>
        <p:txBody>
          <a:bodyPr/>
          <a:lstStyle/>
          <a:p>
            <a:r>
              <a:rPr lang="en-US" dirty="0"/>
              <a:t>Tabular Q-learning: Main Loop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829418300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07F9B-D21A-9DA0-EBA4-AA25D8CEB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834280-7811-E466-C053-BCBCD6F62C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 environment from Gymnasium or comparable libraries is acceptable.</a:t>
            </a:r>
          </a:p>
          <a:p>
            <a:r>
              <a:rPr lang="en-US" dirty="0"/>
              <a:t>The simplest environment is Frozen Lake, if you want to try it, please use the 8x8 version: </a:t>
            </a:r>
            <a:r>
              <a:rPr lang="en-US" dirty="0">
                <a:hlinkClick r:id="rId2"/>
              </a:rPr>
              <a:t>Frozen Lake - Gymnasium Documentation (farama.org)</a:t>
            </a:r>
            <a:endParaRPr lang="en-US" dirty="0"/>
          </a:p>
          <a:p>
            <a:pPr lvl="1"/>
            <a:r>
              <a:rPr lang="en-US" dirty="0"/>
              <a:t>You can solve this with a simple table.</a:t>
            </a:r>
          </a:p>
          <a:p>
            <a:r>
              <a:rPr lang="en-US" dirty="0"/>
              <a:t>Try out a deep network without vision with discrete actions </a:t>
            </a:r>
          </a:p>
          <a:p>
            <a:pPr lvl="1"/>
            <a:r>
              <a:rPr lang="en-US" dirty="0"/>
              <a:t>(cart-pole)</a:t>
            </a:r>
          </a:p>
          <a:p>
            <a:pPr lvl="1"/>
            <a:r>
              <a:rPr lang="en-US" dirty="0">
                <a:hlinkClick r:id="rId3"/>
              </a:rPr>
              <a:t>Classic Control - Gymnasium Documentation (farama.org)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423292572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38C51E-BFDC-EB33-FAD3-92D8DC3BF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Plot and justify on agent behavior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75AA69-C966-D826-2510-DBFAD7824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318" y="467208"/>
            <a:ext cx="6907968" cy="5923584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B1BCAFFE-0B62-2D40-D66A-7C4C7DE63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2" y="386265"/>
            <a:ext cx="368808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6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</a:rPr>
              <a:t>Generate a Python function that takes a Q-table and map size, returns the maximum Q-values</a:t>
            </a:r>
            <a:r>
              <a:rPr kumimoji="0" lang="en-US" altLang="en-NL" sz="16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</a:rPr>
              <a:t>,</a:t>
            </a:r>
            <a:r>
              <a:rPr kumimoji="0" lang="en-NL" altLang="en-NL" sz="16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</a:rPr>
              <a:t> and the </a:t>
            </a:r>
            <a:r>
              <a:rPr kumimoji="0" lang="en-US" altLang="en-NL" sz="16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</a:rPr>
              <a:t>best-learned</a:t>
            </a:r>
            <a:r>
              <a:rPr kumimoji="0" lang="en-NL" altLang="en-NL" sz="16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</a:rPr>
              <a:t> actions mapped to arrows (←, ↓, →, ↑) on a grid. </a:t>
            </a:r>
          </a:p>
        </p:txBody>
      </p:sp>
    </p:spTree>
    <p:extLst>
      <p:ext uri="{BB962C8B-B14F-4D97-AF65-F5344CB8AC3E}">
        <p14:creationId xmlns:p14="http://schemas.microsoft.com/office/powerpoint/2010/main" val="3327398630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3" descr="Checkmate in a chess game">
            <a:extLst>
              <a:ext uri="{FF2B5EF4-FFF2-40B4-BE49-F238E27FC236}">
                <a16:creationId xmlns:a16="http://schemas.microsoft.com/office/drawing/2014/main" id="{0FB78D29-96A4-E862-4446-054635A0E7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743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680E82-2A8C-C19F-85D9-5106AB671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b="1" dirty="0">
                <a:solidFill>
                  <a:srgbClr val="FFFFFF"/>
                </a:solidFill>
              </a:rPr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2008493381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ff1e5e1-48aa-43db-ac16-23f9346d3df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7AF3FCBCD8C0478434E861EE8922B4" ma:contentTypeVersion="15" ma:contentTypeDescription="Een nieuw document maken." ma:contentTypeScope="" ma:versionID="cdea2146c90c2c970af277065315cb2e">
  <xsd:schema xmlns:xsd="http://www.w3.org/2001/XMLSchema" xmlns:xs="http://www.w3.org/2001/XMLSchema" xmlns:p="http://schemas.microsoft.com/office/2006/metadata/properties" xmlns:ns3="3ff1e5e1-48aa-43db-ac16-23f9346d3df9" xmlns:ns4="d6a131df-5620-4a44-9959-b4e12bece6b7" targetNamespace="http://schemas.microsoft.com/office/2006/metadata/properties" ma:root="true" ma:fieldsID="a41474a78146cd2cdf78e29ad6c770de" ns3:_="" ns4:_="">
    <xsd:import namespace="3ff1e5e1-48aa-43db-ac16-23f9346d3df9"/>
    <xsd:import namespace="d6a131df-5620-4a44-9959-b4e12bece6b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f1e5e1-48aa-43db-ac16-23f9346d3d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a131df-5620-4a44-9959-b4e12bece6b7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Hint-hash delen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37C9007-21A8-47FE-BEFE-4DC7CB0DF76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F246976-D026-4F44-A630-8F182187A66F}">
  <ds:schemaRefs>
    <ds:schemaRef ds:uri="http://purl.org/dc/terms/"/>
    <ds:schemaRef ds:uri="http://schemas.openxmlformats.org/package/2006/metadata/core-properties"/>
    <ds:schemaRef ds:uri="3ff1e5e1-48aa-43db-ac16-23f9346d3df9"/>
    <ds:schemaRef ds:uri="d6a131df-5620-4a44-9959-b4e12bece6b7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1366BA0-C6AB-4C25-8A4E-07D5E3805A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ff1e5e1-48aa-43db-ac16-23f9346d3df9"/>
    <ds:schemaRef ds:uri="d6a131df-5620-4a44-9959-b4e12bece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</TotalTime>
  <Words>1618</Words>
  <Application>Microsoft Macintosh PowerPoint</Application>
  <PresentationFormat>Widescreen</PresentationFormat>
  <Paragraphs>190</Paragraphs>
  <Slides>33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-apple-system</vt:lpstr>
      <vt:lpstr>Arial</vt:lpstr>
      <vt:lpstr>Calibri</vt:lpstr>
      <vt:lpstr>Calibri Light</vt:lpstr>
      <vt:lpstr>Cambria Math</vt:lpstr>
      <vt:lpstr>Helvetica Light</vt:lpstr>
      <vt:lpstr>Söhne</vt:lpstr>
      <vt:lpstr>Office Theme</vt:lpstr>
      <vt:lpstr>PowerPoint Presentation</vt:lpstr>
      <vt:lpstr>iman.mossavat@fontys.nl </vt:lpstr>
      <vt:lpstr>PowerPoint Presentation</vt:lpstr>
      <vt:lpstr>PowerPoint Presentation</vt:lpstr>
      <vt:lpstr>PowerPoint Presentation</vt:lpstr>
      <vt:lpstr>An Explosion in RL Application</vt:lpstr>
      <vt:lpstr>The Learning Loop</vt:lpstr>
      <vt:lpstr>Expected Future Reward or Quality Q is state and action dependent</vt:lpstr>
      <vt:lpstr>PowerPoint Presentation</vt:lpstr>
      <vt:lpstr>In typical scenarios we have to learn the Q function</vt:lpstr>
      <vt:lpstr>Explore-Exploit Trade-offs</vt:lpstr>
      <vt:lpstr>Use-cases</vt:lpstr>
      <vt:lpstr>Don’t be Greedy</vt:lpstr>
      <vt:lpstr>exploration - exploitation</vt:lpstr>
      <vt:lpstr>Hyper parameters</vt:lpstr>
      <vt:lpstr>Gymnasium and Tabular Q-Learning Code</vt:lpstr>
      <vt:lpstr>Example: Slippery Frozen Lake Frozen Lake - Gymnasium Documentation (farama.org)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Tabular Q-Learning Code</vt:lpstr>
      <vt:lpstr>Tabular Q-learning Code: Initialization</vt:lpstr>
      <vt:lpstr>Tabular Q-learning Code: Epsilon Greedy</vt:lpstr>
      <vt:lpstr>Tabular Q-learning Code: Q-learning Update</vt:lpstr>
      <vt:lpstr>Tabular Q-learning: Main Loop</vt:lpstr>
      <vt:lpstr>Assignment</vt:lpstr>
      <vt:lpstr>Plot and justify on agent behavior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Reinforcement Learning</dc:title>
  <dc:creator>Mossavat,Iman S.I.</dc:creator>
  <cp:lastModifiedBy>Mossavat,Iman S.I.</cp:lastModifiedBy>
  <cp:revision>10</cp:revision>
  <dcterms:created xsi:type="dcterms:W3CDTF">2022-12-27T19:07:09Z</dcterms:created>
  <dcterms:modified xsi:type="dcterms:W3CDTF">2026-09-18T10:51:37Z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0x010100707AF3FCBCD8C0478434E861EE8922B4</vt:lpwstr>
  </property>
</Properties>
</file>