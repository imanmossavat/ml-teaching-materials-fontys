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webextensions/webextension1.xml" ContentType="application/vnd.ms-office.webextension+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1"/>
  </p:notesMasterIdLst>
  <p:sldIdLst>
    <p:sldId id="256" r:id="rId2"/>
    <p:sldId id="257" r:id="rId3"/>
    <p:sldId id="258" r:id="rId4"/>
    <p:sldId id="850" r:id="rId5"/>
    <p:sldId id="849" r:id="rId6"/>
    <p:sldId id="851" r:id="rId7"/>
    <p:sldId id="847" r:id="rId8"/>
    <p:sldId id="848" r:id="rId9"/>
    <p:sldId id="377" r:id="rId10"/>
    <p:sldId id="362" r:id="rId11"/>
    <p:sldId id="363" r:id="rId12"/>
    <p:sldId id="804" r:id="rId13"/>
    <p:sldId id="806" r:id="rId14"/>
    <p:sldId id="807" r:id="rId15"/>
    <p:sldId id="805" r:id="rId16"/>
    <p:sldId id="376" r:id="rId17"/>
    <p:sldId id="365" r:id="rId18"/>
    <p:sldId id="366" r:id="rId19"/>
    <p:sldId id="367" r:id="rId20"/>
    <p:sldId id="368" r:id="rId21"/>
    <p:sldId id="369" r:id="rId22"/>
    <p:sldId id="370" r:id="rId23"/>
    <p:sldId id="371" r:id="rId24"/>
    <p:sldId id="372" r:id="rId25"/>
    <p:sldId id="373" r:id="rId26"/>
    <p:sldId id="361" r:id="rId27"/>
    <p:sldId id="374" r:id="rId28"/>
    <p:sldId id="259" r:id="rId29"/>
    <p:sldId id="264" r:id="rId30"/>
    <p:sldId id="265" r:id="rId31"/>
    <p:sldId id="266" r:id="rId32"/>
    <p:sldId id="267" r:id="rId33"/>
    <p:sldId id="268" r:id="rId34"/>
    <p:sldId id="269" r:id="rId35"/>
    <p:sldId id="827" r:id="rId36"/>
    <p:sldId id="828" r:id="rId37"/>
    <p:sldId id="826" r:id="rId38"/>
    <p:sldId id="829" r:id="rId39"/>
    <p:sldId id="824" r:id="rId40"/>
    <p:sldId id="830" r:id="rId41"/>
    <p:sldId id="831" r:id="rId42"/>
    <p:sldId id="832" r:id="rId43"/>
    <p:sldId id="833" r:id="rId44"/>
    <p:sldId id="834" r:id="rId45"/>
    <p:sldId id="835" r:id="rId46"/>
    <p:sldId id="270" r:id="rId47"/>
    <p:sldId id="271" r:id="rId48"/>
    <p:sldId id="263" r:id="rId49"/>
    <p:sldId id="260" r:id="rId50"/>
    <p:sldId id="356" r:id="rId51"/>
    <p:sldId id="359" r:id="rId52"/>
    <p:sldId id="357" r:id="rId53"/>
    <p:sldId id="814" r:id="rId54"/>
    <p:sldId id="815" r:id="rId55"/>
    <p:sldId id="816" r:id="rId56"/>
    <p:sldId id="817" r:id="rId57"/>
    <p:sldId id="808" r:id="rId58"/>
    <p:sldId id="812" r:id="rId59"/>
    <p:sldId id="811" r:id="rId60"/>
    <p:sldId id="375" r:id="rId61"/>
    <p:sldId id="809" r:id="rId62"/>
    <p:sldId id="813" r:id="rId63"/>
    <p:sldId id="818" r:id="rId64"/>
    <p:sldId id="819" r:id="rId65"/>
    <p:sldId id="820" r:id="rId66"/>
    <p:sldId id="822" r:id="rId67"/>
    <p:sldId id="823" r:id="rId68"/>
    <p:sldId id="348" r:id="rId69"/>
    <p:sldId id="344" r:id="rId70"/>
    <p:sldId id="342" r:id="rId71"/>
    <p:sldId id="343" r:id="rId72"/>
    <p:sldId id="345" r:id="rId73"/>
    <p:sldId id="346" r:id="rId74"/>
    <p:sldId id="347" r:id="rId75"/>
    <p:sldId id="355" r:id="rId76"/>
    <p:sldId id="349" r:id="rId77"/>
    <p:sldId id="350" r:id="rId78"/>
    <p:sldId id="351" r:id="rId79"/>
    <p:sldId id="353" r:id="rId80"/>
    <p:sldId id="262" r:id="rId81"/>
    <p:sldId id="796" r:id="rId82"/>
    <p:sldId id="797" r:id="rId83"/>
    <p:sldId id="784" r:id="rId84"/>
    <p:sldId id="786" r:id="rId85"/>
    <p:sldId id="788" r:id="rId86"/>
    <p:sldId id="790" r:id="rId87"/>
    <p:sldId id="783" r:id="rId88"/>
    <p:sldId id="795" r:id="rId89"/>
    <p:sldId id="798" r:id="rId90"/>
    <p:sldId id="801" r:id="rId91"/>
    <p:sldId id="800" r:id="rId92"/>
    <p:sldId id="799" r:id="rId93"/>
    <p:sldId id="789" r:id="rId94"/>
    <p:sldId id="836" r:id="rId95"/>
    <p:sldId id="841" r:id="rId96"/>
    <p:sldId id="837" r:id="rId97"/>
    <p:sldId id="838" r:id="rId98"/>
    <p:sldId id="839" r:id="rId99"/>
    <p:sldId id="842" r:id="rId100"/>
    <p:sldId id="843" r:id="rId101"/>
    <p:sldId id="844" r:id="rId102"/>
    <p:sldId id="845" r:id="rId103"/>
    <p:sldId id="846" r:id="rId104"/>
    <p:sldId id="852" r:id="rId105"/>
    <p:sldId id="854" r:id="rId106"/>
    <p:sldId id="855" r:id="rId107"/>
    <p:sldId id="856" r:id="rId108"/>
    <p:sldId id="857" r:id="rId109"/>
    <p:sldId id="858" r:id="rId11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075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56" autoAdjust="0"/>
    <p:restoredTop sz="88412" autoAdjust="0"/>
  </p:normalViewPr>
  <p:slideViewPr>
    <p:cSldViewPr snapToGrid="0">
      <p:cViewPr varScale="1">
        <p:scale>
          <a:sx n="63" d="100"/>
          <a:sy n="63" d="100"/>
        </p:scale>
        <p:origin x="184"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hyperlink" Target="https://www.princeton.edu/~smello/papers/cops.pdf" TargetMode="External"/></Relationships>
</file>

<file path=ppt/diagrams/_rels/data2.xml.rels><?xml version="1.0" encoding="UTF-8" standalone="yes"?>
<Relationships xmlns="http://schemas.openxmlformats.org/package/2006/relationships"><Relationship Id="rId1" Type="http://schemas.openxmlformats.org/officeDocument/2006/relationships/hyperlink" Target="https://www.theguardian.com/technology/2014/jun/05/ebay-search-ads-no-benefit-google-brands-berkeley-chicago"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princeton.edu/~smello/papers/cops.pdf"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www.theguardian.com/technology/2014/jun/05/ebay-search-ads-no-benefit-google-brands-berkeley-chicago" TargetMode="External"/></Relationships>
</file>

<file path=ppt/diagrams/colors1.xml><?xml version="1.0" encoding="utf-8"?>
<dgm:colorsDef xmlns:dgm="http://schemas.openxmlformats.org/drawingml/2006/diagram" xmlns:a="http://schemas.openxmlformats.org/drawingml/2006/main" uniqueId="urn:microsoft.com/office/officeart/2005/8/colors/accent5_2#1">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64DAD8-376D-40FF-9365-0EA7728CE6AE}" type="doc">
      <dgm:prSet loTypeId="urn:microsoft.com/office/officeart/2008/layout/LinedList" loCatId="list" qsTypeId="urn:microsoft.com/office/officeart/2005/8/quickstyle/simple2#1" qsCatId="simple" csTypeId="urn:microsoft.com/office/officeart/2005/8/colors/accent5_2#1" csCatId="accent5"/>
      <dgm:spPr/>
      <dgm:t>
        <a:bodyPr/>
        <a:lstStyle/>
        <a:p>
          <a:endParaRPr lang="en-US"/>
        </a:p>
      </dgm:t>
    </dgm:pt>
    <dgm:pt modelId="{79630403-907F-4DFB-9796-FD4597D5F104}">
      <dgm:prSet/>
      <dgm:spPr/>
      <dgm:t>
        <a:bodyPr/>
        <a:lstStyle/>
        <a:p>
          <a:r>
            <a:rPr lang="en-US" b="0" i="0" dirty="0"/>
            <a:t>A 2020 Washington Post article concluded that, “A review of spending on state and local police over the past 60 years…shows no correlation nationally between spending and crime rates.” </a:t>
          </a:r>
          <a:endParaRPr lang="en-US" dirty="0"/>
        </a:p>
      </dgm:t>
    </dgm:pt>
    <dgm:pt modelId="{3A01C32D-99B3-41C0-AFB3-2DA1BDB8DB0E}" type="parTrans" cxnId="{18285D9E-5654-4104-A8BA-D9ED4404B16B}">
      <dgm:prSet/>
      <dgm:spPr/>
      <dgm:t>
        <a:bodyPr/>
        <a:lstStyle/>
        <a:p>
          <a:endParaRPr lang="en-US"/>
        </a:p>
      </dgm:t>
    </dgm:pt>
    <dgm:pt modelId="{DFA008FC-F39D-45AE-9BA7-04C7877E30F2}" type="sibTrans" cxnId="{18285D9E-5654-4104-A8BA-D9ED4404B16B}">
      <dgm:prSet/>
      <dgm:spPr/>
      <dgm:t>
        <a:bodyPr/>
        <a:lstStyle/>
        <a:p>
          <a:endParaRPr lang="en-US"/>
        </a:p>
      </dgm:t>
    </dgm:pt>
    <dgm:pt modelId="{AEDFECEA-3BEF-4F19-A4DA-B68AFAD6461B}">
      <dgm:prSet/>
      <dgm:spPr/>
      <dgm:t>
        <a:bodyPr/>
        <a:lstStyle/>
        <a:p>
          <a:r>
            <a:rPr lang="en-US" b="0" i="0"/>
            <a:t>This correlation is misleading. </a:t>
          </a:r>
          <a:endParaRPr lang="en-US"/>
        </a:p>
      </dgm:t>
    </dgm:pt>
    <dgm:pt modelId="{830C1AC9-D7FA-493A-8A05-1296D3C21376}" type="parTrans" cxnId="{E5978B8C-9D03-4B61-8FF6-EB074AE333DE}">
      <dgm:prSet/>
      <dgm:spPr/>
      <dgm:t>
        <a:bodyPr/>
        <a:lstStyle/>
        <a:p>
          <a:endParaRPr lang="en-US"/>
        </a:p>
      </dgm:t>
    </dgm:pt>
    <dgm:pt modelId="{F96C3922-1197-41D2-B1BA-2ECFD2492002}" type="sibTrans" cxnId="{E5978B8C-9D03-4B61-8FF6-EB074AE333DE}">
      <dgm:prSet/>
      <dgm:spPr/>
      <dgm:t>
        <a:bodyPr/>
        <a:lstStyle/>
        <a:p>
          <a:endParaRPr lang="en-US"/>
        </a:p>
      </dgm:t>
    </dgm:pt>
    <dgm:pt modelId="{8FA50AB3-6805-4DF7-BA8B-79904CCD9729}">
      <dgm:prSet/>
      <dgm:spPr/>
      <dgm:t>
        <a:bodyPr/>
        <a:lstStyle/>
        <a:p>
          <a:r>
            <a:rPr lang="en-US" b="0" i="0"/>
            <a:t>An important driver of police spending </a:t>
          </a:r>
          <a:r>
            <a:rPr lang="en-US" b="0" i="1"/>
            <a:t>is the current level of crime</a:t>
          </a:r>
          <a:r>
            <a:rPr lang="en-US" b="0" i="0"/>
            <a:t>, which creates a chicken and egg scenario. </a:t>
          </a:r>
          <a:endParaRPr lang="en-US"/>
        </a:p>
      </dgm:t>
    </dgm:pt>
    <dgm:pt modelId="{63AEC7FC-9C89-4C4D-ACE4-EFB77E89D991}" type="parTrans" cxnId="{BE2536EE-8817-4D27-987F-73B5A9E821DB}">
      <dgm:prSet/>
      <dgm:spPr/>
      <dgm:t>
        <a:bodyPr/>
        <a:lstStyle/>
        <a:p>
          <a:endParaRPr lang="en-US"/>
        </a:p>
      </dgm:t>
    </dgm:pt>
    <dgm:pt modelId="{73166191-3813-4470-8199-F12201545254}" type="sibTrans" cxnId="{BE2536EE-8817-4D27-987F-73B5A9E821DB}">
      <dgm:prSet/>
      <dgm:spPr/>
      <dgm:t>
        <a:bodyPr/>
        <a:lstStyle/>
        <a:p>
          <a:endParaRPr lang="en-US"/>
        </a:p>
      </dgm:t>
    </dgm:pt>
    <dgm:pt modelId="{8EB60561-F84A-4AFD-8F94-CF0423DA5AED}">
      <dgm:prSet/>
      <dgm:spPr/>
      <dgm:t>
        <a:bodyPr/>
        <a:lstStyle/>
        <a:p>
          <a:r>
            <a:rPr lang="en-US" b="0" i="1"/>
            <a:t>Causal </a:t>
          </a:r>
          <a:r>
            <a:rPr lang="en-US" b="0" i="0"/>
            <a:t>research has, in fact, shown that </a:t>
          </a:r>
          <a:r>
            <a:rPr lang="en-US" b="0" i="0">
              <a:hlinkClick xmlns:r="http://schemas.openxmlformats.org/officeDocument/2006/relationships" r:id="rId1">
                <a:extLst>
                  <a:ext uri="{A12FA001-AC4F-418D-AE19-62706E023703}">
                    <ahyp:hlinkClr xmlns:ahyp="http://schemas.microsoft.com/office/drawing/2018/hyperlinkcolor" val="tx"/>
                  </a:ext>
                </a:extLst>
              </a:hlinkClick>
            </a:rPr>
            <a:t>more police lead to a reduction in crime</a:t>
          </a:r>
          <a:r>
            <a:rPr lang="en-US" b="0" i="0"/>
            <a:t>.</a:t>
          </a:r>
          <a:endParaRPr lang="en-US"/>
        </a:p>
      </dgm:t>
    </dgm:pt>
    <dgm:pt modelId="{C71C184C-0561-4F8F-BCFA-7C25EA12369E}" type="parTrans" cxnId="{7C37A084-62E0-49AB-81AF-99D484A49B4A}">
      <dgm:prSet/>
      <dgm:spPr/>
      <dgm:t>
        <a:bodyPr/>
        <a:lstStyle/>
        <a:p>
          <a:endParaRPr lang="en-US"/>
        </a:p>
      </dgm:t>
    </dgm:pt>
    <dgm:pt modelId="{40F9540A-FA75-483E-9866-38DDF08D063B}" type="sibTrans" cxnId="{7C37A084-62E0-49AB-81AF-99D484A49B4A}">
      <dgm:prSet/>
      <dgm:spPr/>
      <dgm:t>
        <a:bodyPr/>
        <a:lstStyle/>
        <a:p>
          <a:endParaRPr lang="en-US"/>
        </a:p>
      </dgm:t>
    </dgm:pt>
    <dgm:pt modelId="{5A527E2A-DF49-4B4C-9CC8-528AAF4CB821}" type="pres">
      <dgm:prSet presAssocID="{DD64DAD8-376D-40FF-9365-0EA7728CE6AE}" presName="vert0" presStyleCnt="0">
        <dgm:presLayoutVars>
          <dgm:dir/>
          <dgm:animOne val="branch"/>
          <dgm:animLvl val="lvl"/>
        </dgm:presLayoutVars>
      </dgm:prSet>
      <dgm:spPr/>
    </dgm:pt>
    <dgm:pt modelId="{DEF9D04A-C993-4E04-9FD0-D004D283A1C9}" type="pres">
      <dgm:prSet presAssocID="{79630403-907F-4DFB-9796-FD4597D5F104}" presName="thickLine" presStyleLbl="alignNode1" presStyleIdx="0" presStyleCnt="4"/>
      <dgm:spPr/>
    </dgm:pt>
    <dgm:pt modelId="{CCF0D209-D64F-4A87-B48B-3FAA168B9942}" type="pres">
      <dgm:prSet presAssocID="{79630403-907F-4DFB-9796-FD4597D5F104}" presName="horz1" presStyleCnt="0"/>
      <dgm:spPr/>
    </dgm:pt>
    <dgm:pt modelId="{2648B96B-03CE-4A1F-8C1D-2E557A537E66}" type="pres">
      <dgm:prSet presAssocID="{79630403-907F-4DFB-9796-FD4597D5F104}" presName="tx1" presStyleLbl="revTx" presStyleIdx="0" presStyleCnt="4"/>
      <dgm:spPr/>
    </dgm:pt>
    <dgm:pt modelId="{0183494F-B49C-43A3-9955-8F72695F687C}" type="pres">
      <dgm:prSet presAssocID="{79630403-907F-4DFB-9796-FD4597D5F104}" presName="vert1" presStyleCnt="0"/>
      <dgm:spPr/>
    </dgm:pt>
    <dgm:pt modelId="{33D50685-B867-4313-A0AC-FB51AE66C853}" type="pres">
      <dgm:prSet presAssocID="{AEDFECEA-3BEF-4F19-A4DA-B68AFAD6461B}" presName="thickLine" presStyleLbl="alignNode1" presStyleIdx="1" presStyleCnt="4"/>
      <dgm:spPr/>
    </dgm:pt>
    <dgm:pt modelId="{FEEF773B-7B6A-4B55-B209-AE0F5CE86904}" type="pres">
      <dgm:prSet presAssocID="{AEDFECEA-3BEF-4F19-A4DA-B68AFAD6461B}" presName="horz1" presStyleCnt="0"/>
      <dgm:spPr/>
    </dgm:pt>
    <dgm:pt modelId="{39CB151A-BC43-4A85-BC64-CDD3E79B596B}" type="pres">
      <dgm:prSet presAssocID="{AEDFECEA-3BEF-4F19-A4DA-B68AFAD6461B}" presName="tx1" presStyleLbl="revTx" presStyleIdx="1" presStyleCnt="4"/>
      <dgm:spPr/>
    </dgm:pt>
    <dgm:pt modelId="{F1D43F39-DFE2-4621-9351-95448C001F3E}" type="pres">
      <dgm:prSet presAssocID="{AEDFECEA-3BEF-4F19-A4DA-B68AFAD6461B}" presName="vert1" presStyleCnt="0"/>
      <dgm:spPr/>
    </dgm:pt>
    <dgm:pt modelId="{70ED359A-E26C-473D-9142-28813E963F75}" type="pres">
      <dgm:prSet presAssocID="{8FA50AB3-6805-4DF7-BA8B-79904CCD9729}" presName="thickLine" presStyleLbl="alignNode1" presStyleIdx="2" presStyleCnt="4"/>
      <dgm:spPr/>
    </dgm:pt>
    <dgm:pt modelId="{3F8FBCC6-5A5C-4C9D-930C-2901360A09A5}" type="pres">
      <dgm:prSet presAssocID="{8FA50AB3-6805-4DF7-BA8B-79904CCD9729}" presName="horz1" presStyleCnt="0"/>
      <dgm:spPr/>
    </dgm:pt>
    <dgm:pt modelId="{9AE30171-D205-4C5E-BEEE-3866DB124D7B}" type="pres">
      <dgm:prSet presAssocID="{8FA50AB3-6805-4DF7-BA8B-79904CCD9729}" presName="tx1" presStyleLbl="revTx" presStyleIdx="2" presStyleCnt="4"/>
      <dgm:spPr/>
    </dgm:pt>
    <dgm:pt modelId="{1BA3B86B-34F7-4F06-8309-0534301DE72D}" type="pres">
      <dgm:prSet presAssocID="{8FA50AB3-6805-4DF7-BA8B-79904CCD9729}" presName="vert1" presStyleCnt="0"/>
      <dgm:spPr/>
    </dgm:pt>
    <dgm:pt modelId="{EE266D85-FA94-4288-AD4A-20994FEE8130}" type="pres">
      <dgm:prSet presAssocID="{8EB60561-F84A-4AFD-8F94-CF0423DA5AED}" presName="thickLine" presStyleLbl="alignNode1" presStyleIdx="3" presStyleCnt="4"/>
      <dgm:spPr/>
    </dgm:pt>
    <dgm:pt modelId="{C1B3299B-446C-4568-BF41-3D5CEA397551}" type="pres">
      <dgm:prSet presAssocID="{8EB60561-F84A-4AFD-8F94-CF0423DA5AED}" presName="horz1" presStyleCnt="0"/>
      <dgm:spPr/>
    </dgm:pt>
    <dgm:pt modelId="{0FD80717-6F3F-46F0-B45F-28385DAF4035}" type="pres">
      <dgm:prSet presAssocID="{8EB60561-F84A-4AFD-8F94-CF0423DA5AED}" presName="tx1" presStyleLbl="revTx" presStyleIdx="3" presStyleCnt="4"/>
      <dgm:spPr/>
    </dgm:pt>
    <dgm:pt modelId="{10E4CC8A-9CCF-473F-8BD5-469E4C20B403}" type="pres">
      <dgm:prSet presAssocID="{8EB60561-F84A-4AFD-8F94-CF0423DA5AED}" presName="vert1" presStyleCnt="0"/>
      <dgm:spPr/>
    </dgm:pt>
  </dgm:ptLst>
  <dgm:cxnLst>
    <dgm:cxn modelId="{F867F12E-A26A-4942-8095-D797B7250F89}" type="presOf" srcId="{8EB60561-F84A-4AFD-8F94-CF0423DA5AED}" destId="{0FD80717-6F3F-46F0-B45F-28385DAF4035}" srcOrd="0" destOrd="0" presId="urn:microsoft.com/office/officeart/2008/layout/LinedList"/>
    <dgm:cxn modelId="{61D63E67-40E6-4F38-AEDC-2EB4C691D586}" type="presOf" srcId="{DD64DAD8-376D-40FF-9365-0EA7728CE6AE}" destId="{5A527E2A-DF49-4B4C-9CC8-528AAF4CB821}" srcOrd="0" destOrd="0" presId="urn:microsoft.com/office/officeart/2008/layout/LinedList"/>
    <dgm:cxn modelId="{BDB5B76E-FD75-4E51-A574-145B375FAEC8}" type="presOf" srcId="{8FA50AB3-6805-4DF7-BA8B-79904CCD9729}" destId="{9AE30171-D205-4C5E-BEEE-3866DB124D7B}" srcOrd="0" destOrd="0" presId="urn:microsoft.com/office/officeart/2008/layout/LinedList"/>
    <dgm:cxn modelId="{7C37A084-62E0-49AB-81AF-99D484A49B4A}" srcId="{DD64DAD8-376D-40FF-9365-0EA7728CE6AE}" destId="{8EB60561-F84A-4AFD-8F94-CF0423DA5AED}" srcOrd="3" destOrd="0" parTransId="{C71C184C-0561-4F8F-BCFA-7C25EA12369E}" sibTransId="{40F9540A-FA75-483E-9866-38DDF08D063B}"/>
    <dgm:cxn modelId="{E5978B8C-9D03-4B61-8FF6-EB074AE333DE}" srcId="{DD64DAD8-376D-40FF-9365-0EA7728CE6AE}" destId="{AEDFECEA-3BEF-4F19-A4DA-B68AFAD6461B}" srcOrd="1" destOrd="0" parTransId="{830C1AC9-D7FA-493A-8A05-1296D3C21376}" sibTransId="{F96C3922-1197-41D2-B1BA-2ECFD2492002}"/>
    <dgm:cxn modelId="{18285D9E-5654-4104-A8BA-D9ED4404B16B}" srcId="{DD64DAD8-376D-40FF-9365-0EA7728CE6AE}" destId="{79630403-907F-4DFB-9796-FD4597D5F104}" srcOrd="0" destOrd="0" parTransId="{3A01C32D-99B3-41C0-AFB3-2DA1BDB8DB0E}" sibTransId="{DFA008FC-F39D-45AE-9BA7-04C7877E30F2}"/>
    <dgm:cxn modelId="{5A8F96E6-0247-48F1-AEA5-5B99F47880B0}" type="presOf" srcId="{AEDFECEA-3BEF-4F19-A4DA-B68AFAD6461B}" destId="{39CB151A-BC43-4A85-BC64-CDD3E79B596B}" srcOrd="0" destOrd="0" presId="urn:microsoft.com/office/officeart/2008/layout/LinedList"/>
    <dgm:cxn modelId="{F625D5EB-E72B-4561-B627-CAE85B05954F}" type="presOf" srcId="{79630403-907F-4DFB-9796-FD4597D5F104}" destId="{2648B96B-03CE-4A1F-8C1D-2E557A537E66}" srcOrd="0" destOrd="0" presId="urn:microsoft.com/office/officeart/2008/layout/LinedList"/>
    <dgm:cxn modelId="{BE2536EE-8817-4D27-987F-73B5A9E821DB}" srcId="{DD64DAD8-376D-40FF-9365-0EA7728CE6AE}" destId="{8FA50AB3-6805-4DF7-BA8B-79904CCD9729}" srcOrd="2" destOrd="0" parTransId="{63AEC7FC-9C89-4C4D-ACE4-EFB77E89D991}" sibTransId="{73166191-3813-4470-8199-F12201545254}"/>
    <dgm:cxn modelId="{F9271609-F0EA-499A-BE5D-B48AEC230B51}" type="presParOf" srcId="{5A527E2A-DF49-4B4C-9CC8-528AAF4CB821}" destId="{DEF9D04A-C993-4E04-9FD0-D004D283A1C9}" srcOrd="0" destOrd="0" presId="urn:microsoft.com/office/officeart/2008/layout/LinedList"/>
    <dgm:cxn modelId="{188FBE56-C78A-4060-B126-02EC54227391}" type="presParOf" srcId="{5A527E2A-DF49-4B4C-9CC8-528AAF4CB821}" destId="{CCF0D209-D64F-4A87-B48B-3FAA168B9942}" srcOrd="1" destOrd="0" presId="urn:microsoft.com/office/officeart/2008/layout/LinedList"/>
    <dgm:cxn modelId="{4B381AD6-48A7-439C-809A-F433E5720E20}" type="presParOf" srcId="{CCF0D209-D64F-4A87-B48B-3FAA168B9942}" destId="{2648B96B-03CE-4A1F-8C1D-2E557A537E66}" srcOrd="0" destOrd="0" presId="urn:microsoft.com/office/officeart/2008/layout/LinedList"/>
    <dgm:cxn modelId="{39A57C8D-F0D2-455C-9040-BAD879D3AD3C}" type="presParOf" srcId="{CCF0D209-D64F-4A87-B48B-3FAA168B9942}" destId="{0183494F-B49C-43A3-9955-8F72695F687C}" srcOrd="1" destOrd="0" presId="urn:microsoft.com/office/officeart/2008/layout/LinedList"/>
    <dgm:cxn modelId="{8B3D3ED7-8C40-4883-9168-DB28348C14C1}" type="presParOf" srcId="{5A527E2A-DF49-4B4C-9CC8-528AAF4CB821}" destId="{33D50685-B867-4313-A0AC-FB51AE66C853}" srcOrd="2" destOrd="0" presId="urn:microsoft.com/office/officeart/2008/layout/LinedList"/>
    <dgm:cxn modelId="{B854BB4C-0253-46DC-814A-DC26D6BCFE94}" type="presParOf" srcId="{5A527E2A-DF49-4B4C-9CC8-528AAF4CB821}" destId="{FEEF773B-7B6A-4B55-B209-AE0F5CE86904}" srcOrd="3" destOrd="0" presId="urn:microsoft.com/office/officeart/2008/layout/LinedList"/>
    <dgm:cxn modelId="{A4DC41EA-E552-4D52-B8DD-54A8858A73DF}" type="presParOf" srcId="{FEEF773B-7B6A-4B55-B209-AE0F5CE86904}" destId="{39CB151A-BC43-4A85-BC64-CDD3E79B596B}" srcOrd="0" destOrd="0" presId="urn:microsoft.com/office/officeart/2008/layout/LinedList"/>
    <dgm:cxn modelId="{FAD14282-9CFA-4766-80F5-4C0DD6F11596}" type="presParOf" srcId="{FEEF773B-7B6A-4B55-B209-AE0F5CE86904}" destId="{F1D43F39-DFE2-4621-9351-95448C001F3E}" srcOrd="1" destOrd="0" presId="urn:microsoft.com/office/officeart/2008/layout/LinedList"/>
    <dgm:cxn modelId="{B9410EFD-9EFC-45FC-85B8-AA6FA6D09648}" type="presParOf" srcId="{5A527E2A-DF49-4B4C-9CC8-528AAF4CB821}" destId="{70ED359A-E26C-473D-9142-28813E963F75}" srcOrd="4" destOrd="0" presId="urn:microsoft.com/office/officeart/2008/layout/LinedList"/>
    <dgm:cxn modelId="{3951A91B-1D6D-406E-A33A-A1888181013B}" type="presParOf" srcId="{5A527E2A-DF49-4B4C-9CC8-528AAF4CB821}" destId="{3F8FBCC6-5A5C-4C9D-930C-2901360A09A5}" srcOrd="5" destOrd="0" presId="urn:microsoft.com/office/officeart/2008/layout/LinedList"/>
    <dgm:cxn modelId="{30612827-9E07-4AC1-B3C3-E5E30983D75E}" type="presParOf" srcId="{3F8FBCC6-5A5C-4C9D-930C-2901360A09A5}" destId="{9AE30171-D205-4C5E-BEEE-3866DB124D7B}" srcOrd="0" destOrd="0" presId="urn:microsoft.com/office/officeart/2008/layout/LinedList"/>
    <dgm:cxn modelId="{E5FFD577-8864-4D75-AFF0-75BC3F939F2F}" type="presParOf" srcId="{3F8FBCC6-5A5C-4C9D-930C-2901360A09A5}" destId="{1BA3B86B-34F7-4F06-8309-0534301DE72D}" srcOrd="1" destOrd="0" presId="urn:microsoft.com/office/officeart/2008/layout/LinedList"/>
    <dgm:cxn modelId="{25872240-27A2-4AA5-B799-E0E8F1F988EE}" type="presParOf" srcId="{5A527E2A-DF49-4B4C-9CC8-528AAF4CB821}" destId="{EE266D85-FA94-4288-AD4A-20994FEE8130}" srcOrd="6" destOrd="0" presId="urn:microsoft.com/office/officeart/2008/layout/LinedList"/>
    <dgm:cxn modelId="{A9098124-7352-4F41-9FEB-93D6F0443E68}" type="presParOf" srcId="{5A527E2A-DF49-4B4C-9CC8-528AAF4CB821}" destId="{C1B3299B-446C-4568-BF41-3D5CEA397551}" srcOrd="7" destOrd="0" presId="urn:microsoft.com/office/officeart/2008/layout/LinedList"/>
    <dgm:cxn modelId="{35F4B2E6-A832-40DE-8667-DF5CE58D5C6C}" type="presParOf" srcId="{C1B3299B-446C-4568-BF41-3D5CEA397551}" destId="{0FD80717-6F3F-46F0-B45F-28385DAF4035}" srcOrd="0" destOrd="0" presId="urn:microsoft.com/office/officeart/2008/layout/LinedList"/>
    <dgm:cxn modelId="{74F8E300-9556-4094-A8BA-611908FF472D}" type="presParOf" srcId="{C1B3299B-446C-4568-BF41-3D5CEA397551}" destId="{10E4CC8A-9CCF-473F-8BD5-469E4C20B40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1FCCC5-4B24-4D63-821C-83CD5C5E433B}" type="doc">
      <dgm:prSet loTypeId="urn:microsoft.com/office/officeart/2005/8/layout/vList2" loCatId="list" qsTypeId="urn:microsoft.com/office/officeart/2005/8/quickstyle/simple1#1" qsCatId="simple" csTypeId="urn:microsoft.com/office/officeart/2005/8/colors/accent0_3#1" csCatId="mainScheme" phldr="1"/>
      <dgm:spPr/>
      <dgm:t>
        <a:bodyPr/>
        <a:lstStyle/>
        <a:p>
          <a:endParaRPr lang="en-US"/>
        </a:p>
      </dgm:t>
    </dgm:pt>
    <dgm:pt modelId="{A82E1F87-3396-42E9-B4A9-D90C4C97C27F}">
      <dgm:prSet/>
      <dgm:spPr/>
      <dgm:t>
        <a:bodyPr/>
        <a:lstStyle/>
        <a:p>
          <a:r>
            <a:rPr lang="en-US" b="0" i="0"/>
            <a:t>In 2013, eBay was spending roughly $50 million dollars per year advertising on search engines. </a:t>
          </a:r>
          <a:endParaRPr lang="en-US"/>
        </a:p>
      </dgm:t>
    </dgm:pt>
    <dgm:pt modelId="{7CB246FD-661D-4093-9465-BC15761AA1AF}" type="parTrans" cxnId="{8612B975-AE4C-4EEC-81C8-1793F4985760}">
      <dgm:prSet/>
      <dgm:spPr/>
      <dgm:t>
        <a:bodyPr/>
        <a:lstStyle/>
        <a:p>
          <a:endParaRPr lang="en-US"/>
        </a:p>
      </dgm:t>
    </dgm:pt>
    <dgm:pt modelId="{4FF0EF54-3FC2-40D9-AE3C-BE1CE3E5F4C9}" type="sibTrans" cxnId="{8612B975-AE4C-4EEC-81C8-1793F4985760}">
      <dgm:prSet/>
      <dgm:spPr/>
      <dgm:t>
        <a:bodyPr/>
        <a:lstStyle/>
        <a:p>
          <a:endParaRPr lang="en-US"/>
        </a:p>
      </dgm:t>
    </dgm:pt>
    <dgm:pt modelId="{A49D9C0B-0B62-4F81-8DDF-8EF740CE33B7}">
      <dgm:prSet/>
      <dgm:spPr/>
      <dgm:t>
        <a:bodyPr/>
        <a:lstStyle/>
        <a:p>
          <a:r>
            <a:rPr lang="en-US" b="0" i="0"/>
            <a:t>An analysis from consultants had shown that in areas where more advertisements were shown, sales were higher. </a:t>
          </a:r>
          <a:endParaRPr lang="en-US"/>
        </a:p>
      </dgm:t>
    </dgm:pt>
    <dgm:pt modelId="{6BB20892-FC44-4891-A2CA-DC8FD02E137A}" type="parTrans" cxnId="{CE37778B-BC6E-4A84-B831-394739E1D18F}">
      <dgm:prSet/>
      <dgm:spPr/>
      <dgm:t>
        <a:bodyPr/>
        <a:lstStyle/>
        <a:p>
          <a:endParaRPr lang="en-US"/>
        </a:p>
      </dgm:t>
    </dgm:pt>
    <dgm:pt modelId="{98B24FF5-1761-4B40-8170-6BB5924A0948}" type="sibTrans" cxnId="{CE37778B-BC6E-4A84-B831-394739E1D18F}">
      <dgm:prSet/>
      <dgm:spPr/>
      <dgm:t>
        <a:bodyPr/>
        <a:lstStyle/>
        <a:p>
          <a:endParaRPr lang="en-US"/>
        </a:p>
      </dgm:t>
    </dgm:pt>
    <dgm:pt modelId="{1BA5A8C5-DC6D-4D2A-9071-B8C9B9B4FE2B}">
      <dgm:prSet/>
      <dgm:spPr/>
      <dgm:t>
        <a:bodyPr/>
        <a:lstStyle/>
        <a:p>
          <a:r>
            <a:rPr lang="en-US" b="0" i="0"/>
            <a:t>However, economists found that </a:t>
          </a:r>
          <a:r>
            <a:rPr lang="en-US" b="0" i="0">
              <a:hlinkClick xmlns:r="http://schemas.openxmlformats.org/officeDocument/2006/relationships" r:id="rId1">
                <a:extLst>
                  <a:ext uri="{A12FA001-AC4F-418D-AE19-62706E023703}">
                    <ahyp:hlinkClr xmlns:ahyp="http://schemas.microsoft.com/office/drawing/2018/hyperlinkcolor" val="tx"/>
                  </a:ext>
                </a:extLst>
              </a:hlinkClick>
            </a:rPr>
            <a:t>these ads were largely a waste</a:t>
          </a:r>
          <a:r>
            <a:rPr lang="en-US"/>
            <a:t>.</a:t>
          </a:r>
        </a:p>
      </dgm:t>
    </dgm:pt>
    <dgm:pt modelId="{DEB6DE71-0E90-449B-9130-76D8B5E6BCAC}" type="parTrans" cxnId="{10778AE9-EFC1-4D2E-8CFD-3E64A21FF6FB}">
      <dgm:prSet/>
      <dgm:spPr/>
      <dgm:t>
        <a:bodyPr/>
        <a:lstStyle/>
        <a:p>
          <a:endParaRPr lang="en-US"/>
        </a:p>
      </dgm:t>
    </dgm:pt>
    <dgm:pt modelId="{101A1C1B-7855-426E-A441-AAB464A2494A}" type="sibTrans" cxnId="{10778AE9-EFC1-4D2E-8CFD-3E64A21FF6FB}">
      <dgm:prSet/>
      <dgm:spPr/>
      <dgm:t>
        <a:bodyPr/>
        <a:lstStyle/>
        <a:p>
          <a:endParaRPr lang="en-US"/>
        </a:p>
      </dgm:t>
    </dgm:pt>
    <dgm:pt modelId="{A2630257-7EC6-4A8B-B9D0-CF74F98EAB19}">
      <dgm:prSet/>
      <dgm:spPr/>
      <dgm:t>
        <a:bodyPr/>
        <a:lstStyle/>
        <a:p>
          <a:r>
            <a:rPr lang="en-US" b="0" i="0" dirty="0"/>
            <a:t>The advertisements were targeting people who were already likely to shop on eBay.</a:t>
          </a:r>
          <a:endParaRPr lang="en-US" dirty="0"/>
        </a:p>
      </dgm:t>
    </dgm:pt>
    <dgm:pt modelId="{4826643A-4D68-463D-BEA2-6A5B830F0155}" type="parTrans" cxnId="{F19AC0CE-0292-4ECB-98E2-034681FABD80}">
      <dgm:prSet/>
      <dgm:spPr/>
      <dgm:t>
        <a:bodyPr/>
        <a:lstStyle/>
        <a:p>
          <a:endParaRPr lang="en-US"/>
        </a:p>
      </dgm:t>
    </dgm:pt>
    <dgm:pt modelId="{D144660A-F916-47E6-808F-714149DEADB8}" type="sibTrans" cxnId="{F19AC0CE-0292-4ECB-98E2-034681FABD80}">
      <dgm:prSet/>
      <dgm:spPr/>
      <dgm:t>
        <a:bodyPr/>
        <a:lstStyle/>
        <a:p>
          <a:endParaRPr lang="en-US"/>
        </a:p>
      </dgm:t>
    </dgm:pt>
    <dgm:pt modelId="{8D62AFD4-BDFE-40B4-B5DC-F0C1D1BF5BB7}">
      <dgm:prSet/>
      <dgm:spPr/>
      <dgm:t>
        <a:bodyPr/>
        <a:lstStyle/>
        <a:p>
          <a:r>
            <a:rPr lang="en-US" b="0" i="0" dirty="0"/>
            <a:t>The targeted customers’ pre-existing purchase intentions were responsible for both the advertisements being shown </a:t>
          </a:r>
          <a:r>
            <a:rPr lang="en-US" b="1" i="1" dirty="0">
              <a:solidFill>
                <a:srgbClr val="FF0000"/>
              </a:solidFill>
            </a:rPr>
            <a:t>and</a:t>
          </a:r>
          <a:r>
            <a:rPr lang="en-US" b="0" i="1" dirty="0"/>
            <a:t> </a:t>
          </a:r>
          <a:r>
            <a:rPr lang="en-US" b="0" i="0" dirty="0"/>
            <a:t>the purchase decisions. </a:t>
          </a:r>
          <a:endParaRPr lang="en-US" dirty="0"/>
        </a:p>
      </dgm:t>
    </dgm:pt>
    <dgm:pt modelId="{C644A943-4E0C-48AF-8A13-9BF4936EEDFE}" type="parTrans" cxnId="{5DB01107-D68E-41B6-9CA4-8A921A09F51A}">
      <dgm:prSet/>
      <dgm:spPr/>
      <dgm:t>
        <a:bodyPr/>
        <a:lstStyle/>
        <a:p>
          <a:endParaRPr lang="en-NL"/>
        </a:p>
      </dgm:t>
    </dgm:pt>
    <dgm:pt modelId="{9DDAF9A3-0733-4FD3-BAC0-8D1D9475CA41}" type="sibTrans" cxnId="{5DB01107-D68E-41B6-9CA4-8A921A09F51A}">
      <dgm:prSet/>
      <dgm:spPr/>
      <dgm:t>
        <a:bodyPr/>
        <a:lstStyle/>
        <a:p>
          <a:endParaRPr lang="en-NL"/>
        </a:p>
      </dgm:t>
    </dgm:pt>
    <dgm:pt modelId="{69BE4A82-1CC5-4527-B70B-4B2705A58434}" type="pres">
      <dgm:prSet presAssocID="{791FCCC5-4B24-4D63-821C-83CD5C5E433B}" presName="linear" presStyleCnt="0">
        <dgm:presLayoutVars>
          <dgm:animLvl val="lvl"/>
          <dgm:resizeHandles val="exact"/>
        </dgm:presLayoutVars>
      </dgm:prSet>
      <dgm:spPr/>
    </dgm:pt>
    <dgm:pt modelId="{3438DC91-3E4D-4D83-91F7-5B2E33EE872C}" type="pres">
      <dgm:prSet presAssocID="{A82E1F87-3396-42E9-B4A9-D90C4C97C27F}" presName="parentText" presStyleLbl="node1" presStyleIdx="0" presStyleCnt="5">
        <dgm:presLayoutVars>
          <dgm:chMax val="0"/>
          <dgm:bulletEnabled val="1"/>
        </dgm:presLayoutVars>
      </dgm:prSet>
      <dgm:spPr/>
    </dgm:pt>
    <dgm:pt modelId="{B6AE972B-AA7F-43D1-9395-7181F5158E44}" type="pres">
      <dgm:prSet presAssocID="{4FF0EF54-3FC2-40D9-AE3C-BE1CE3E5F4C9}" presName="spacer" presStyleCnt="0"/>
      <dgm:spPr/>
    </dgm:pt>
    <dgm:pt modelId="{107C7DCB-9428-4BBC-9A14-2431CE86A5B2}" type="pres">
      <dgm:prSet presAssocID="{A49D9C0B-0B62-4F81-8DDF-8EF740CE33B7}" presName="parentText" presStyleLbl="node1" presStyleIdx="1" presStyleCnt="5">
        <dgm:presLayoutVars>
          <dgm:chMax val="0"/>
          <dgm:bulletEnabled val="1"/>
        </dgm:presLayoutVars>
      </dgm:prSet>
      <dgm:spPr/>
    </dgm:pt>
    <dgm:pt modelId="{79CB5808-B700-4E59-991B-C1CF911127D8}" type="pres">
      <dgm:prSet presAssocID="{98B24FF5-1761-4B40-8170-6BB5924A0948}" presName="spacer" presStyleCnt="0"/>
      <dgm:spPr/>
    </dgm:pt>
    <dgm:pt modelId="{041C71F6-268E-4CA7-AB8B-B27B545E5698}" type="pres">
      <dgm:prSet presAssocID="{1BA5A8C5-DC6D-4D2A-9071-B8C9B9B4FE2B}" presName="parentText" presStyleLbl="node1" presStyleIdx="2" presStyleCnt="5">
        <dgm:presLayoutVars>
          <dgm:chMax val="0"/>
          <dgm:bulletEnabled val="1"/>
        </dgm:presLayoutVars>
      </dgm:prSet>
      <dgm:spPr/>
    </dgm:pt>
    <dgm:pt modelId="{9EEB927B-5E2C-4FA3-83BF-FA162061D732}" type="pres">
      <dgm:prSet presAssocID="{101A1C1B-7855-426E-A441-AAB464A2494A}" presName="spacer" presStyleCnt="0"/>
      <dgm:spPr/>
    </dgm:pt>
    <dgm:pt modelId="{110F2068-CC0E-4D91-BA8D-32B4A8BD1654}" type="pres">
      <dgm:prSet presAssocID="{A2630257-7EC6-4A8B-B9D0-CF74F98EAB19}" presName="parentText" presStyleLbl="node1" presStyleIdx="3" presStyleCnt="5">
        <dgm:presLayoutVars>
          <dgm:chMax val="0"/>
          <dgm:bulletEnabled val="1"/>
        </dgm:presLayoutVars>
      </dgm:prSet>
      <dgm:spPr/>
    </dgm:pt>
    <dgm:pt modelId="{02246FF6-B562-453B-B43A-2B782FC34536}" type="pres">
      <dgm:prSet presAssocID="{D144660A-F916-47E6-808F-714149DEADB8}" presName="spacer" presStyleCnt="0"/>
      <dgm:spPr/>
    </dgm:pt>
    <dgm:pt modelId="{B33A2A97-F070-4423-8E8A-E4A131D0048A}" type="pres">
      <dgm:prSet presAssocID="{8D62AFD4-BDFE-40B4-B5DC-F0C1D1BF5BB7}" presName="parentText" presStyleLbl="node1" presStyleIdx="4" presStyleCnt="5">
        <dgm:presLayoutVars>
          <dgm:chMax val="0"/>
          <dgm:bulletEnabled val="1"/>
        </dgm:presLayoutVars>
      </dgm:prSet>
      <dgm:spPr/>
    </dgm:pt>
  </dgm:ptLst>
  <dgm:cxnLst>
    <dgm:cxn modelId="{F8AAF106-2DC3-47C0-9123-55ED87CBD291}" type="presOf" srcId="{A2630257-7EC6-4A8B-B9D0-CF74F98EAB19}" destId="{110F2068-CC0E-4D91-BA8D-32B4A8BD1654}" srcOrd="0" destOrd="0" presId="urn:microsoft.com/office/officeart/2005/8/layout/vList2"/>
    <dgm:cxn modelId="{5DB01107-D68E-41B6-9CA4-8A921A09F51A}" srcId="{791FCCC5-4B24-4D63-821C-83CD5C5E433B}" destId="{8D62AFD4-BDFE-40B4-B5DC-F0C1D1BF5BB7}" srcOrd="4" destOrd="0" parTransId="{C644A943-4E0C-48AF-8A13-9BF4936EEDFE}" sibTransId="{9DDAF9A3-0733-4FD3-BAC0-8D1D9475CA41}"/>
    <dgm:cxn modelId="{2BBD710A-1DFA-4A76-AC54-A64B31F30BB4}" type="presOf" srcId="{8D62AFD4-BDFE-40B4-B5DC-F0C1D1BF5BB7}" destId="{B33A2A97-F070-4423-8E8A-E4A131D0048A}" srcOrd="0" destOrd="0" presId="urn:microsoft.com/office/officeart/2005/8/layout/vList2"/>
    <dgm:cxn modelId="{4C49D23C-D44E-45F2-84AC-508E8D87EC18}" type="presOf" srcId="{A49D9C0B-0B62-4F81-8DDF-8EF740CE33B7}" destId="{107C7DCB-9428-4BBC-9A14-2431CE86A5B2}" srcOrd="0" destOrd="0" presId="urn:microsoft.com/office/officeart/2005/8/layout/vList2"/>
    <dgm:cxn modelId="{8612B975-AE4C-4EEC-81C8-1793F4985760}" srcId="{791FCCC5-4B24-4D63-821C-83CD5C5E433B}" destId="{A82E1F87-3396-42E9-B4A9-D90C4C97C27F}" srcOrd="0" destOrd="0" parTransId="{7CB246FD-661D-4093-9465-BC15761AA1AF}" sibTransId="{4FF0EF54-3FC2-40D9-AE3C-BE1CE3E5F4C9}"/>
    <dgm:cxn modelId="{CE37778B-BC6E-4A84-B831-394739E1D18F}" srcId="{791FCCC5-4B24-4D63-821C-83CD5C5E433B}" destId="{A49D9C0B-0B62-4F81-8DDF-8EF740CE33B7}" srcOrd="1" destOrd="0" parTransId="{6BB20892-FC44-4891-A2CA-DC8FD02E137A}" sibTransId="{98B24FF5-1761-4B40-8170-6BB5924A0948}"/>
    <dgm:cxn modelId="{FD9EBCC7-635B-40E0-8DC4-8A2DF17BE054}" type="presOf" srcId="{791FCCC5-4B24-4D63-821C-83CD5C5E433B}" destId="{69BE4A82-1CC5-4527-B70B-4B2705A58434}" srcOrd="0" destOrd="0" presId="urn:microsoft.com/office/officeart/2005/8/layout/vList2"/>
    <dgm:cxn modelId="{F19AC0CE-0292-4ECB-98E2-034681FABD80}" srcId="{791FCCC5-4B24-4D63-821C-83CD5C5E433B}" destId="{A2630257-7EC6-4A8B-B9D0-CF74F98EAB19}" srcOrd="3" destOrd="0" parTransId="{4826643A-4D68-463D-BEA2-6A5B830F0155}" sibTransId="{D144660A-F916-47E6-808F-714149DEADB8}"/>
    <dgm:cxn modelId="{B9E309DB-E7D1-471C-9261-FD01D4C30B31}" type="presOf" srcId="{A82E1F87-3396-42E9-B4A9-D90C4C97C27F}" destId="{3438DC91-3E4D-4D83-91F7-5B2E33EE872C}" srcOrd="0" destOrd="0" presId="urn:microsoft.com/office/officeart/2005/8/layout/vList2"/>
    <dgm:cxn modelId="{10778AE9-EFC1-4D2E-8CFD-3E64A21FF6FB}" srcId="{791FCCC5-4B24-4D63-821C-83CD5C5E433B}" destId="{1BA5A8C5-DC6D-4D2A-9071-B8C9B9B4FE2B}" srcOrd="2" destOrd="0" parTransId="{DEB6DE71-0E90-449B-9130-76D8B5E6BCAC}" sibTransId="{101A1C1B-7855-426E-A441-AAB464A2494A}"/>
    <dgm:cxn modelId="{437FC3FA-9A14-4CE6-9586-ED2005C6DB07}" type="presOf" srcId="{1BA5A8C5-DC6D-4D2A-9071-B8C9B9B4FE2B}" destId="{041C71F6-268E-4CA7-AB8B-B27B545E5698}" srcOrd="0" destOrd="0" presId="urn:microsoft.com/office/officeart/2005/8/layout/vList2"/>
    <dgm:cxn modelId="{1CC54DEB-3394-4138-9077-3D879C4C7487}" type="presParOf" srcId="{69BE4A82-1CC5-4527-B70B-4B2705A58434}" destId="{3438DC91-3E4D-4D83-91F7-5B2E33EE872C}" srcOrd="0" destOrd="0" presId="urn:microsoft.com/office/officeart/2005/8/layout/vList2"/>
    <dgm:cxn modelId="{2BCBC442-B646-40F7-B96C-5B6630FB7124}" type="presParOf" srcId="{69BE4A82-1CC5-4527-B70B-4B2705A58434}" destId="{B6AE972B-AA7F-43D1-9395-7181F5158E44}" srcOrd="1" destOrd="0" presId="urn:microsoft.com/office/officeart/2005/8/layout/vList2"/>
    <dgm:cxn modelId="{16CA04C9-486B-43C1-B188-119CBA6231FE}" type="presParOf" srcId="{69BE4A82-1CC5-4527-B70B-4B2705A58434}" destId="{107C7DCB-9428-4BBC-9A14-2431CE86A5B2}" srcOrd="2" destOrd="0" presId="urn:microsoft.com/office/officeart/2005/8/layout/vList2"/>
    <dgm:cxn modelId="{F7ABC772-7023-499E-95B8-9AF07468E0D3}" type="presParOf" srcId="{69BE4A82-1CC5-4527-B70B-4B2705A58434}" destId="{79CB5808-B700-4E59-991B-C1CF911127D8}" srcOrd="3" destOrd="0" presId="urn:microsoft.com/office/officeart/2005/8/layout/vList2"/>
    <dgm:cxn modelId="{18BCDCA2-5D8B-4A07-8DF6-93A21A8174A1}" type="presParOf" srcId="{69BE4A82-1CC5-4527-B70B-4B2705A58434}" destId="{041C71F6-268E-4CA7-AB8B-B27B545E5698}" srcOrd="4" destOrd="0" presId="urn:microsoft.com/office/officeart/2005/8/layout/vList2"/>
    <dgm:cxn modelId="{93DEAB29-2729-4F3E-9F69-DF9E42C6214A}" type="presParOf" srcId="{69BE4A82-1CC5-4527-B70B-4B2705A58434}" destId="{9EEB927B-5E2C-4FA3-83BF-FA162061D732}" srcOrd="5" destOrd="0" presId="urn:microsoft.com/office/officeart/2005/8/layout/vList2"/>
    <dgm:cxn modelId="{CB86C4B0-6ACA-4F0A-853F-A954E6BD50B2}" type="presParOf" srcId="{69BE4A82-1CC5-4527-B70B-4B2705A58434}" destId="{110F2068-CC0E-4D91-BA8D-32B4A8BD1654}" srcOrd="6" destOrd="0" presId="urn:microsoft.com/office/officeart/2005/8/layout/vList2"/>
    <dgm:cxn modelId="{88D56FB1-D4B4-4238-A0DD-7B3EA845B2E7}" type="presParOf" srcId="{69BE4A82-1CC5-4527-B70B-4B2705A58434}" destId="{02246FF6-B562-453B-B43A-2B782FC34536}" srcOrd="7" destOrd="0" presId="urn:microsoft.com/office/officeart/2005/8/layout/vList2"/>
    <dgm:cxn modelId="{17B75E88-0A24-40C6-816D-CAE9EB967A0B}" type="presParOf" srcId="{69BE4A82-1CC5-4527-B70B-4B2705A58434}" destId="{B33A2A97-F070-4423-8E8A-E4A131D0048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7E5E26-547A-4A47-8018-F44B30A16437}" type="doc">
      <dgm:prSet loTypeId="urn:microsoft.com/office/officeart/2005/8/layout/vList2" loCatId="list" qsTypeId="urn:microsoft.com/office/officeart/2005/8/quickstyle/simple1#2" qsCatId="simple" csTypeId="urn:microsoft.com/office/officeart/2005/8/colors/colorful5#1" csCatId="colorful"/>
      <dgm:spPr/>
      <dgm:t>
        <a:bodyPr/>
        <a:lstStyle/>
        <a:p>
          <a:endParaRPr lang="en-US"/>
        </a:p>
      </dgm:t>
    </dgm:pt>
    <dgm:pt modelId="{44D4492B-F97D-4A83-B544-6B599881A316}">
      <dgm:prSet/>
      <dgm:spPr/>
      <dgm:t>
        <a:bodyPr/>
        <a:lstStyle/>
        <a:p>
          <a:r>
            <a:rPr lang="en-US" b="0" i="0"/>
            <a:t>If you are worried that a correlation might not be causal, experiments can be a good starting point. </a:t>
          </a:r>
          <a:endParaRPr lang="en-US"/>
        </a:p>
      </dgm:t>
    </dgm:pt>
    <dgm:pt modelId="{47811B47-5355-4C3E-AE4E-AD4794BE3F90}" type="parTrans" cxnId="{2E34E532-8B03-44B8-8132-EB736FC0F75D}">
      <dgm:prSet/>
      <dgm:spPr/>
      <dgm:t>
        <a:bodyPr/>
        <a:lstStyle/>
        <a:p>
          <a:endParaRPr lang="en-US"/>
        </a:p>
      </dgm:t>
    </dgm:pt>
    <dgm:pt modelId="{738A6548-D121-49BC-856A-C233CE41C0B2}" type="sibTrans" cxnId="{2E34E532-8B03-44B8-8132-EB736FC0F75D}">
      <dgm:prSet/>
      <dgm:spPr/>
      <dgm:t>
        <a:bodyPr/>
        <a:lstStyle/>
        <a:p>
          <a:endParaRPr lang="en-US"/>
        </a:p>
      </dgm:t>
    </dgm:pt>
    <dgm:pt modelId="{C658AABA-4B6C-4213-BB46-F36F958D8A57}">
      <dgm:prSet/>
      <dgm:spPr/>
      <dgm:t>
        <a:bodyPr/>
        <a:lstStyle/>
        <a:p>
          <a:r>
            <a:rPr lang="en-US" b="0" i="0"/>
            <a:t>Companies such as Amazon and Booking.com put experiments at the heart of their decision-making process. </a:t>
          </a:r>
          <a:endParaRPr lang="en-US"/>
        </a:p>
      </dgm:t>
    </dgm:pt>
    <dgm:pt modelId="{ED5D8DF1-F147-49A9-92EB-99AE5215961D}" type="parTrans" cxnId="{84DB3F1B-ECD5-4AA2-9FFC-23CC0FA9D55C}">
      <dgm:prSet/>
      <dgm:spPr/>
      <dgm:t>
        <a:bodyPr/>
        <a:lstStyle/>
        <a:p>
          <a:endParaRPr lang="en-US"/>
        </a:p>
      </dgm:t>
    </dgm:pt>
    <dgm:pt modelId="{A006D257-4DE9-4226-9820-E1D2813CE313}" type="sibTrans" cxnId="{84DB3F1B-ECD5-4AA2-9FFC-23CC0FA9D55C}">
      <dgm:prSet/>
      <dgm:spPr/>
      <dgm:t>
        <a:bodyPr/>
        <a:lstStyle/>
        <a:p>
          <a:endParaRPr lang="en-US"/>
        </a:p>
      </dgm:t>
    </dgm:pt>
    <dgm:pt modelId="{3481C64C-70D1-4926-8007-E5A0CDAC0C0C}" type="pres">
      <dgm:prSet presAssocID="{F67E5E26-547A-4A47-8018-F44B30A16437}" presName="linear" presStyleCnt="0">
        <dgm:presLayoutVars>
          <dgm:animLvl val="lvl"/>
          <dgm:resizeHandles val="exact"/>
        </dgm:presLayoutVars>
      </dgm:prSet>
      <dgm:spPr/>
    </dgm:pt>
    <dgm:pt modelId="{10525363-D362-4279-80DF-094EC66F708E}" type="pres">
      <dgm:prSet presAssocID="{44D4492B-F97D-4A83-B544-6B599881A316}" presName="parentText" presStyleLbl="node1" presStyleIdx="0" presStyleCnt="2">
        <dgm:presLayoutVars>
          <dgm:chMax val="0"/>
          <dgm:bulletEnabled val="1"/>
        </dgm:presLayoutVars>
      </dgm:prSet>
      <dgm:spPr/>
    </dgm:pt>
    <dgm:pt modelId="{0510FEBE-B8BC-4053-B14C-14B27B0246E0}" type="pres">
      <dgm:prSet presAssocID="{738A6548-D121-49BC-856A-C233CE41C0B2}" presName="spacer" presStyleCnt="0"/>
      <dgm:spPr/>
    </dgm:pt>
    <dgm:pt modelId="{9E69E942-932E-4691-B898-D64B3A64F908}" type="pres">
      <dgm:prSet presAssocID="{C658AABA-4B6C-4213-BB46-F36F958D8A57}" presName="parentText" presStyleLbl="node1" presStyleIdx="1" presStyleCnt="2">
        <dgm:presLayoutVars>
          <dgm:chMax val="0"/>
          <dgm:bulletEnabled val="1"/>
        </dgm:presLayoutVars>
      </dgm:prSet>
      <dgm:spPr/>
    </dgm:pt>
  </dgm:ptLst>
  <dgm:cxnLst>
    <dgm:cxn modelId="{84DB3F1B-ECD5-4AA2-9FFC-23CC0FA9D55C}" srcId="{F67E5E26-547A-4A47-8018-F44B30A16437}" destId="{C658AABA-4B6C-4213-BB46-F36F958D8A57}" srcOrd="1" destOrd="0" parTransId="{ED5D8DF1-F147-49A9-92EB-99AE5215961D}" sibTransId="{A006D257-4DE9-4226-9820-E1D2813CE313}"/>
    <dgm:cxn modelId="{EA2A6928-1732-43DC-B2AD-64455A4FEEF2}" type="presOf" srcId="{C658AABA-4B6C-4213-BB46-F36F958D8A57}" destId="{9E69E942-932E-4691-B898-D64B3A64F908}" srcOrd="0" destOrd="0" presId="urn:microsoft.com/office/officeart/2005/8/layout/vList2"/>
    <dgm:cxn modelId="{611F2C31-AC11-473E-B954-24A3E84B32B8}" type="presOf" srcId="{F67E5E26-547A-4A47-8018-F44B30A16437}" destId="{3481C64C-70D1-4926-8007-E5A0CDAC0C0C}" srcOrd="0" destOrd="0" presId="urn:microsoft.com/office/officeart/2005/8/layout/vList2"/>
    <dgm:cxn modelId="{2E34E532-8B03-44B8-8132-EB736FC0F75D}" srcId="{F67E5E26-547A-4A47-8018-F44B30A16437}" destId="{44D4492B-F97D-4A83-B544-6B599881A316}" srcOrd="0" destOrd="0" parTransId="{47811B47-5355-4C3E-AE4E-AD4794BE3F90}" sibTransId="{738A6548-D121-49BC-856A-C233CE41C0B2}"/>
    <dgm:cxn modelId="{C1F44A6B-ACCD-45E4-8EF6-9D88BADF25FA}" type="presOf" srcId="{44D4492B-F97D-4A83-B544-6B599881A316}" destId="{10525363-D362-4279-80DF-094EC66F708E}" srcOrd="0" destOrd="0" presId="urn:microsoft.com/office/officeart/2005/8/layout/vList2"/>
    <dgm:cxn modelId="{5D033360-651E-4474-891C-38BFB570C0C4}" type="presParOf" srcId="{3481C64C-70D1-4926-8007-E5A0CDAC0C0C}" destId="{10525363-D362-4279-80DF-094EC66F708E}" srcOrd="0" destOrd="0" presId="urn:microsoft.com/office/officeart/2005/8/layout/vList2"/>
    <dgm:cxn modelId="{4B413D18-7C7C-4035-A306-064271BC85ED}" type="presParOf" srcId="{3481C64C-70D1-4926-8007-E5A0CDAC0C0C}" destId="{0510FEBE-B8BC-4053-B14C-14B27B0246E0}" srcOrd="1" destOrd="0" presId="urn:microsoft.com/office/officeart/2005/8/layout/vList2"/>
    <dgm:cxn modelId="{BCEBA9A2-80EA-47DE-82F8-DB1975D6CFBC}" type="presParOf" srcId="{3481C64C-70D1-4926-8007-E5A0CDAC0C0C}" destId="{9E69E942-932E-4691-B898-D64B3A64F90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9D04A-C993-4E04-9FD0-D004D283A1C9}">
      <dsp:nvSpPr>
        <dsp:cNvPr id="0" name=""/>
        <dsp:cNvSpPr/>
      </dsp:nvSpPr>
      <dsp:spPr>
        <a:xfrm>
          <a:off x="0" y="0"/>
          <a:ext cx="10905066"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2648B96B-03CE-4A1F-8C1D-2E557A537E66}">
      <dsp:nvSpPr>
        <dsp:cNvPr id="0" name=""/>
        <dsp:cNvSpPr/>
      </dsp:nvSpPr>
      <dsp:spPr>
        <a:xfrm>
          <a:off x="0" y="0"/>
          <a:ext cx="10905066" cy="1098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dirty="0"/>
            <a:t>A 2020 Washington Post article concluded that, “A review of spending on state and local police over the past 60 years…shows no correlation nationally between spending and crime rates.” </a:t>
          </a:r>
          <a:endParaRPr lang="en-US" sz="2200" kern="1200" dirty="0"/>
        </a:p>
      </dsp:txBody>
      <dsp:txXfrm>
        <a:off x="0" y="0"/>
        <a:ext cx="10905066" cy="1098495"/>
      </dsp:txXfrm>
    </dsp:sp>
    <dsp:sp modelId="{33D50685-B867-4313-A0AC-FB51AE66C853}">
      <dsp:nvSpPr>
        <dsp:cNvPr id="0" name=""/>
        <dsp:cNvSpPr/>
      </dsp:nvSpPr>
      <dsp:spPr>
        <a:xfrm>
          <a:off x="0" y="1098495"/>
          <a:ext cx="10905066"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39CB151A-BC43-4A85-BC64-CDD3E79B596B}">
      <dsp:nvSpPr>
        <dsp:cNvPr id="0" name=""/>
        <dsp:cNvSpPr/>
      </dsp:nvSpPr>
      <dsp:spPr>
        <a:xfrm>
          <a:off x="0" y="1098495"/>
          <a:ext cx="10905066" cy="1098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a:t>This correlation is misleading. </a:t>
          </a:r>
          <a:endParaRPr lang="en-US" sz="2200" kern="1200"/>
        </a:p>
      </dsp:txBody>
      <dsp:txXfrm>
        <a:off x="0" y="1098495"/>
        <a:ext cx="10905066" cy="1098495"/>
      </dsp:txXfrm>
    </dsp:sp>
    <dsp:sp modelId="{70ED359A-E26C-473D-9142-28813E963F75}">
      <dsp:nvSpPr>
        <dsp:cNvPr id="0" name=""/>
        <dsp:cNvSpPr/>
      </dsp:nvSpPr>
      <dsp:spPr>
        <a:xfrm>
          <a:off x="0" y="2196991"/>
          <a:ext cx="10905066"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9AE30171-D205-4C5E-BEEE-3866DB124D7B}">
      <dsp:nvSpPr>
        <dsp:cNvPr id="0" name=""/>
        <dsp:cNvSpPr/>
      </dsp:nvSpPr>
      <dsp:spPr>
        <a:xfrm>
          <a:off x="0" y="2196990"/>
          <a:ext cx="10905066" cy="1098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0" kern="1200"/>
            <a:t>An important driver of police spending </a:t>
          </a:r>
          <a:r>
            <a:rPr lang="en-US" sz="2200" b="0" i="1" kern="1200"/>
            <a:t>is the current level of crime</a:t>
          </a:r>
          <a:r>
            <a:rPr lang="en-US" sz="2200" b="0" i="0" kern="1200"/>
            <a:t>, which creates a chicken and egg scenario. </a:t>
          </a:r>
          <a:endParaRPr lang="en-US" sz="2200" kern="1200"/>
        </a:p>
      </dsp:txBody>
      <dsp:txXfrm>
        <a:off x="0" y="2196990"/>
        <a:ext cx="10905066" cy="1098495"/>
      </dsp:txXfrm>
    </dsp:sp>
    <dsp:sp modelId="{EE266D85-FA94-4288-AD4A-20994FEE8130}">
      <dsp:nvSpPr>
        <dsp:cNvPr id="0" name=""/>
        <dsp:cNvSpPr/>
      </dsp:nvSpPr>
      <dsp:spPr>
        <a:xfrm>
          <a:off x="0" y="3295486"/>
          <a:ext cx="10905066"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0FD80717-6F3F-46F0-B45F-28385DAF4035}">
      <dsp:nvSpPr>
        <dsp:cNvPr id="0" name=""/>
        <dsp:cNvSpPr/>
      </dsp:nvSpPr>
      <dsp:spPr>
        <a:xfrm>
          <a:off x="0" y="3295486"/>
          <a:ext cx="10905066" cy="1098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b="0" i="1" kern="1200"/>
            <a:t>Causal </a:t>
          </a:r>
          <a:r>
            <a:rPr lang="en-US" sz="2200" b="0" i="0" kern="1200"/>
            <a:t>research has, in fact, shown that </a:t>
          </a:r>
          <a:r>
            <a:rPr lang="en-US" sz="2200" b="0" i="0" kern="1200">
              <a:hlinkClick xmlns:r="http://schemas.openxmlformats.org/officeDocument/2006/relationships" r:id="rId1">
                <a:extLst>
                  <a:ext uri="{A12FA001-AC4F-418D-AE19-62706E023703}">
                    <ahyp:hlinkClr xmlns:ahyp="http://schemas.microsoft.com/office/drawing/2018/hyperlinkcolor" val="tx"/>
                  </a:ext>
                </a:extLst>
              </a:hlinkClick>
            </a:rPr>
            <a:t>more police lead to a reduction in crime</a:t>
          </a:r>
          <a:r>
            <a:rPr lang="en-US" sz="2200" b="0" i="0" kern="1200"/>
            <a:t>.</a:t>
          </a:r>
          <a:endParaRPr lang="en-US" sz="2200" kern="1200"/>
        </a:p>
      </dsp:txBody>
      <dsp:txXfrm>
        <a:off x="0" y="3295486"/>
        <a:ext cx="10905066" cy="10984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38DC91-3E4D-4D83-91F7-5B2E33EE872C}">
      <dsp:nvSpPr>
        <dsp:cNvPr id="0" name=""/>
        <dsp:cNvSpPr/>
      </dsp:nvSpPr>
      <dsp:spPr>
        <a:xfrm>
          <a:off x="0" y="74211"/>
          <a:ext cx="10515600" cy="79450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In 2013, eBay was spending roughly $50 million dollars per year advertising on search engines. </a:t>
          </a:r>
          <a:endParaRPr lang="en-US" sz="2000" kern="1200"/>
        </a:p>
      </dsp:txBody>
      <dsp:txXfrm>
        <a:off x="38784" y="112995"/>
        <a:ext cx="10438032" cy="716935"/>
      </dsp:txXfrm>
    </dsp:sp>
    <dsp:sp modelId="{107C7DCB-9428-4BBC-9A14-2431CE86A5B2}">
      <dsp:nvSpPr>
        <dsp:cNvPr id="0" name=""/>
        <dsp:cNvSpPr/>
      </dsp:nvSpPr>
      <dsp:spPr>
        <a:xfrm>
          <a:off x="0" y="926314"/>
          <a:ext cx="10515600" cy="79450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An analysis from consultants had shown that in areas where more advertisements were shown, sales were higher. </a:t>
          </a:r>
          <a:endParaRPr lang="en-US" sz="2000" kern="1200"/>
        </a:p>
      </dsp:txBody>
      <dsp:txXfrm>
        <a:off x="38784" y="965098"/>
        <a:ext cx="10438032" cy="716935"/>
      </dsp:txXfrm>
    </dsp:sp>
    <dsp:sp modelId="{041C71F6-268E-4CA7-AB8B-B27B545E5698}">
      <dsp:nvSpPr>
        <dsp:cNvPr id="0" name=""/>
        <dsp:cNvSpPr/>
      </dsp:nvSpPr>
      <dsp:spPr>
        <a:xfrm>
          <a:off x="0" y="1778417"/>
          <a:ext cx="10515600" cy="79450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However, economists found that </a:t>
          </a:r>
          <a:r>
            <a:rPr lang="en-US" sz="2000" b="0" i="0" kern="1200">
              <a:hlinkClick xmlns:r="http://schemas.openxmlformats.org/officeDocument/2006/relationships" r:id="rId1">
                <a:extLst>
                  <a:ext uri="{A12FA001-AC4F-418D-AE19-62706E023703}">
                    <ahyp:hlinkClr xmlns:ahyp="http://schemas.microsoft.com/office/drawing/2018/hyperlinkcolor" val="tx"/>
                  </a:ext>
                </a:extLst>
              </a:hlinkClick>
            </a:rPr>
            <a:t>these ads were largely a waste</a:t>
          </a:r>
          <a:r>
            <a:rPr lang="en-US" sz="2000" kern="1200"/>
            <a:t>.</a:t>
          </a:r>
        </a:p>
      </dsp:txBody>
      <dsp:txXfrm>
        <a:off x="38784" y="1817201"/>
        <a:ext cx="10438032" cy="716935"/>
      </dsp:txXfrm>
    </dsp:sp>
    <dsp:sp modelId="{110F2068-CC0E-4D91-BA8D-32B4A8BD1654}">
      <dsp:nvSpPr>
        <dsp:cNvPr id="0" name=""/>
        <dsp:cNvSpPr/>
      </dsp:nvSpPr>
      <dsp:spPr>
        <a:xfrm>
          <a:off x="0" y="2630520"/>
          <a:ext cx="10515600" cy="79450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The advertisements were targeting people who were already likely to shop on eBay.</a:t>
          </a:r>
          <a:endParaRPr lang="en-US" sz="2000" kern="1200" dirty="0"/>
        </a:p>
      </dsp:txBody>
      <dsp:txXfrm>
        <a:off x="38784" y="2669304"/>
        <a:ext cx="10438032" cy="716935"/>
      </dsp:txXfrm>
    </dsp:sp>
    <dsp:sp modelId="{B33A2A97-F070-4423-8E8A-E4A131D0048A}">
      <dsp:nvSpPr>
        <dsp:cNvPr id="0" name=""/>
        <dsp:cNvSpPr/>
      </dsp:nvSpPr>
      <dsp:spPr>
        <a:xfrm>
          <a:off x="0" y="3482623"/>
          <a:ext cx="10515600" cy="794503"/>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The targeted customers’ pre-existing purchase intentions were responsible for both the advertisements being shown </a:t>
          </a:r>
          <a:r>
            <a:rPr lang="en-US" sz="2000" b="1" i="1" kern="1200" dirty="0">
              <a:solidFill>
                <a:srgbClr val="FF0000"/>
              </a:solidFill>
            </a:rPr>
            <a:t>and</a:t>
          </a:r>
          <a:r>
            <a:rPr lang="en-US" sz="2000" b="0" i="1" kern="1200" dirty="0"/>
            <a:t> </a:t>
          </a:r>
          <a:r>
            <a:rPr lang="en-US" sz="2000" b="0" i="0" kern="1200" dirty="0"/>
            <a:t>the purchase decisions. </a:t>
          </a:r>
          <a:endParaRPr lang="en-US" sz="2000" kern="1200" dirty="0"/>
        </a:p>
      </dsp:txBody>
      <dsp:txXfrm>
        <a:off x="38784" y="3521407"/>
        <a:ext cx="10438032" cy="716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25363-D362-4279-80DF-094EC66F708E}">
      <dsp:nvSpPr>
        <dsp:cNvPr id="0" name=""/>
        <dsp:cNvSpPr/>
      </dsp:nvSpPr>
      <dsp:spPr>
        <a:xfrm>
          <a:off x="0" y="22745"/>
          <a:ext cx="10515600" cy="2013862"/>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b="0" i="0" kern="1200"/>
            <a:t>If you are worried that a correlation might not be causal, experiments can be a good starting point. </a:t>
          </a:r>
          <a:endParaRPr lang="en-US" sz="3600" kern="1200"/>
        </a:p>
      </dsp:txBody>
      <dsp:txXfrm>
        <a:off x="98309" y="121054"/>
        <a:ext cx="10318982" cy="1817244"/>
      </dsp:txXfrm>
    </dsp:sp>
    <dsp:sp modelId="{9E69E942-932E-4691-B898-D64B3A64F908}">
      <dsp:nvSpPr>
        <dsp:cNvPr id="0" name=""/>
        <dsp:cNvSpPr/>
      </dsp:nvSpPr>
      <dsp:spPr>
        <a:xfrm>
          <a:off x="0" y="2140288"/>
          <a:ext cx="10515600" cy="2013862"/>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n-US" sz="3600" b="0" i="0" kern="1200"/>
            <a:t>Companies such as Amazon and Booking.com put experiments at the heart of their decision-making process. </a:t>
          </a:r>
          <a:endParaRPr lang="en-US" sz="3600" kern="1200"/>
        </a:p>
      </dsp:txBody>
      <dsp:txXfrm>
        <a:off x="98309" y="2238597"/>
        <a:ext cx="10318982" cy="181724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18EAA8-DE82-4C10-AC9D-72E8F55548A0}" type="datetimeFigureOut">
              <a:rPr lang="en-NL" smtClean="0"/>
              <a:t>24/09/2026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21F08F-E976-4942-B2BE-72F9009D3743}" type="slidenum">
              <a:rPr lang="en-NL" smtClean="0"/>
              <a:t>‹#›</a:t>
            </a:fld>
            <a:endParaRPr lang="en-NL"/>
          </a:p>
        </p:txBody>
      </p:sp>
    </p:spTree>
    <p:extLst>
      <p:ext uri="{BB962C8B-B14F-4D97-AF65-F5344CB8AC3E}">
        <p14:creationId xmlns:p14="http://schemas.microsoft.com/office/powerpoint/2010/main" val="3092404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towardsdatascience.com/solving-simpsons-paradox-e85433c68d03" TargetMode="External"/><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twitter.com/hoomanhabibii/status/1624847980078460928" TargetMode="External"/><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hbr.org/2021/11/leaders-stop-confusing-correlation-with-causation" TargetMode="External"/><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hbr.org/2021/11/leaders-stop-confusing-correlation-with-causation" TargetMode="External"/><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hbr.org/2021/11/leaders-stop-confusing-correlation-with-causation" TargetMode="External"/><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ED12D-DBFD-D2BB-57E1-B71DEEAFE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4C42E-933B-F979-FFB3-6F270F4E7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AD827-E3A7-ED5A-C5D7-CF81E46D052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035314D-BD2A-AC24-A1C6-36AF4CB93CE8}"/>
              </a:ext>
            </a:extLst>
          </p:cNvPr>
          <p:cNvSpPr>
            <a:spLocks noGrp="1"/>
          </p:cNvSpPr>
          <p:nvPr>
            <p:ph type="sldNum" sz="quarter" idx="5"/>
          </p:nvPr>
        </p:nvSpPr>
        <p:spPr/>
        <p:txBody>
          <a:bodyPr/>
          <a:lstStyle/>
          <a:p>
            <a:fld id="{E621F08F-E976-4942-B2BE-72F9009D3743}" type="slidenum">
              <a:rPr lang="en-NL" smtClean="0"/>
              <a:t>6</a:t>
            </a:fld>
            <a:endParaRPr lang="en-NL"/>
          </a:p>
        </p:txBody>
      </p:sp>
    </p:spTree>
    <p:extLst>
      <p:ext uri="{BB962C8B-B14F-4D97-AF65-F5344CB8AC3E}">
        <p14:creationId xmlns:p14="http://schemas.microsoft.com/office/powerpoint/2010/main" val="3202998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10</a:t>
            </a:fld>
            <a:endParaRPr lang="en-NL"/>
          </a:p>
        </p:txBody>
      </p:sp>
    </p:spTree>
    <p:extLst>
      <p:ext uri="{BB962C8B-B14F-4D97-AF65-F5344CB8AC3E}">
        <p14:creationId xmlns:p14="http://schemas.microsoft.com/office/powerpoint/2010/main" val="42801835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Section 1.2 of Chapter 1 of PRML book: Pattern Recognition and Machine Learning (microsoft.com) Links to an external site. </a:t>
            </a:r>
          </a:p>
          <a:p>
            <a:r>
              <a:rPr lang="en-US" b="0" i="0" dirty="0">
                <a:solidFill>
                  <a:srgbClr val="000000"/>
                </a:solidFill>
                <a:effectLst/>
                <a:latin typeface="Times New Roman" panose="02020603050405020304" pitchFamily="18" charset="0"/>
              </a:rPr>
              <a:t>The first chapter of this book PP16 to 25. (more philosophical) : sivia.pdf (villanova.edu)Links to an external site.</a:t>
            </a:r>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16</a:t>
            </a:fld>
            <a:endParaRPr lang="en-NL"/>
          </a:p>
        </p:txBody>
      </p:sp>
    </p:spTree>
    <p:extLst>
      <p:ext uri="{BB962C8B-B14F-4D97-AF65-F5344CB8AC3E}">
        <p14:creationId xmlns:p14="http://schemas.microsoft.com/office/powerpoint/2010/main" val="2040743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28</a:t>
            </a:fld>
            <a:endParaRPr lang="en-NL"/>
          </a:p>
        </p:txBody>
      </p:sp>
    </p:spTree>
    <p:extLst>
      <p:ext uri="{BB962C8B-B14F-4D97-AF65-F5344CB8AC3E}">
        <p14:creationId xmlns:p14="http://schemas.microsoft.com/office/powerpoint/2010/main" val="206595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(PDF) Bayes' Rule: A Tutorial Introduction to Bayesian Analysis (researchgate.net)Links to an external site. </a:t>
            </a:r>
          </a:p>
        </p:txBody>
      </p:sp>
      <p:sp>
        <p:nvSpPr>
          <p:cNvPr id="4" name="Slide Number Placeholder 3"/>
          <p:cNvSpPr>
            <a:spLocks noGrp="1"/>
          </p:cNvSpPr>
          <p:nvPr>
            <p:ph type="sldNum" sz="quarter" idx="5"/>
          </p:nvPr>
        </p:nvSpPr>
        <p:spPr/>
        <p:txBody>
          <a:bodyPr/>
          <a:lstStyle/>
          <a:p>
            <a:fld id="{E621F08F-E976-4942-B2BE-72F9009D3743}" type="slidenum">
              <a:rPr lang="en-NL" smtClean="0"/>
              <a:t>29</a:t>
            </a:fld>
            <a:endParaRPr lang="en-NL"/>
          </a:p>
        </p:txBody>
      </p:sp>
    </p:spTree>
    <p:extLst>
      <p:ext uri="{BB962C8B-B14F-4D97-AF65-F5344CB8AC3E}">
        <p14:creationId xmlns:p14="http://schemas.microsoft.com/office/powerpoint/2010/main" val="3493207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OPERA neutrino anomaly of 2011 – Numbers are assumed.</a:t>
            </a:r>
          </a:p>
        </p:txBody>
      </p:sp>
      <p:sp>
        <p:nvSpPr>
          <p:cNvPr id="4" name="Slide Number Placeholder 3"/>
          <p:cNvSpPr>
            <a:spLocks noGrp="1"/>
          </p:cNvSpPr>
          <p:nvPr>
            <p:ph type="sldNum" sz="quarter" idx="5"/>
          </p:nvPr>
        </p:nvSpPr>
        <p:spPr/>
        <p:txBody>
          <a:bodyPr/>
          <a:lstStyle/>
          <a:p>
            <a:fld id="{E621F08F-E976-4942-B2BE-72F9009D3743}" type="slidenum">
              <a:rPr lang="en-NL" smtClean="0"/>
              <a:t>44</a:t>
            </a:fld>
            <a:endParaRPr lang="en-NL"/>
          </a:p>
        </p:txBody>
      </p:sp>
    </p:spTree>
    <p:extLst>
      <p:ext uri="{BB962C8B-B14F-4D97-AF65-F5344CB8AC3E}">
        <p14:creationId xmlns:p14="http://schemas.microsoft.com/office/powerpoint/2010/main" val="926587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50</a:t>
            </a:fld>
            <a:endParaRPr lang="en-NL"/>
          </a:p>
        </p:txBody>
      </p:sp>
    </p:spTree>
    <p:extLst>
      <p:ext uri="{BB962C8B-B14F-4D97-AF65-F5344CB8AC3E}">
        <p14:creationId xmlns:p14="http://schemas.microsoft.com/office/powerpoint/2010/main" val="11054146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Explain that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𝑥</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e>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𝑐</m:t>
                            </m:r>
                          </m:e>
                        </m:d>
                      </m:e>
                    </m:nary>
                    <m:r>
                      <a:rPr lang="en-US" b="0" i="1" smtClean="0">
                        <a:latin typeface="Cambria Math" panose="02040503050406030204" pitchFamily="18" charset="0"/>
                      </a:rPr>
                      <m:t>=1</m:t>
                    </m:r>
                  </m:oMath>
                </a14:m>
                <a:r>
                  <a:rPr lang="en-US" dirty="0"/>
                  <a:t> but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𝑐</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e>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𝑐</m:t>
                            </m:r>
                          </m:e>
                        </m:d>
                      </m:e>
                    </m:nary>
                  </m:oMath>
                </a14:m>
                <a:r>
                  <a:rPr lang="en-US" dirty="0"/>
                  <a:t> is an arbitrary number.</a:t>
                </a:r>
              </a:p>
              <a:p>
                <a:r>
                  <a:rPr lang="en-US" dirty="0"/>
                  <a:t>Explain</a:t>
                </a:r>
                <a:r>
                  <a:rPr lang="en-US" baseline="0" dirty="0"/>
                  <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e>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𝑅</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𝐻</m:t>
                        </m:r>
                      </m:e>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𝑅</m:t>
                        </m:r>
                      </m:e>
                    </m:d>
                    <m:r>
                      <a:rPr lang="en-US" b="0" i="1" smtClean="0">
                        <a:latin typeface="Cambria Math" panose="02040503050406030204" pitchFamily="18" charset="0"/>
                      </a:rPr>
                      <m:t>=1</m:t>
                    </m:r>
                  </m:oMath>
                </a14:m>
                <a:endParaRPr lang="en-US" dirty="0"/>
              </a:p>
              <a:p>
                <a:r>
                  <a:rPr lang="en-US" dirty="0"/>
                  <a:t>Notation not good, should be changed in this slide.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=1</m:t>
                        </m:r>
                      </m:e>
                      <m:e>
                        <m:r>
                          <a:rPr lang="en-US" b="0" i="1" smtClean="0">
                            <a:latin typeface="Cambria Math" panose="02040503050406030204" pitchFamily="18" charset="0"/>
                          </a:rPr>
                          <m:t>𝑆</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=0</m:t>
                        </m:r>
                      </m:e>
                      <m:e>
                        <m:r>
                          <a:rPr lang="en-US" b="0" i="1" smtClean="0">
                            <a:latin typeface="Cambria Math" panose="02040503050406030204" pitchFamily="18" charset="0"/>
                          </a:rPr>
                          <m:t>𝑆</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=1</m:t>
                        </m:r>
                      </m:e>
                    </m:d>
                    <m:r>
                      <a:rPr lang="en-US" b="0" i="1" smtClean="0">
                        <a:latin typeface="Cambria Math" panose="02040503050406030204" pitchFamily="18" charset="0"/>
                      </a:rPr>
                      <m:t>=1</m:t>
                    </m:r>
                  </m:oMath>
                </a14:m>
                <a:endParaRPr lang="en-US" dirty="0"/>
              </a:p>
              <a:p>
                <a:r>
                  <a:rPr lang="en-US" dirty="0"/>
                  <a:t>Add this model right in the beginning of explaining probabilities.</a:t>
                </a:r>
              </a:p>
              <a:p>
                <a:r>
                  <a:rPr lang="en-US" dirty="0"/>
                  <a:t>Some slide on BP</a:t>
                </a:r>
                <a:endParaRPr lang="en-NL" dirty="0"/>
              </a:p>
            </p:txBody>
          </p:sp>
        </mc:Choice>
        <mc:Fallback xmlns="">
          <p:sp>
            <p:nvSpPr>
              <p:cNvPr id="3" name="Notes Placeholder 2"/>
              <p:cNvSpPr>
                <a:spLocks noGrp="1"/>
              </p:cNvSpPr>
              <p:nvPr>
                <p:ph type="body" idx="1"/>
              </p:nvPr>
            </p:nvSpPr>
            <p:spPr/>
            <p:txBody>
              <a:bodyPr/>
              <a:lstStyle/>
              <a:p>
                <a:r>
                  <a:rPr lang="en-US" dirty="0"/>
                  <a:t>Explain that </a:t>
                </a:r>
                <a:r>
                  <a:rPr lang="en-US" b="0" i="0">
                    <a:latin typeface="Cambria Math" panose="02040503050406030204" pitchFamily="18" charset="0"/>
                  </a:rPr>
                  <a:t>∑8_𝑥▒〖𝑃(𝑋=𝑥│𝐶=𝑐) 〗=1</a:t>
                </a:r>
                <a:r>
                  <a:rPr lang="en-US" dirty="0"/>
                  <a:t> but  </a:t>
                </a:r>
                <a:r>
                  <a:rPr lang="en-US" b="0" i="0">
                    <a:latin typeface="Cambria Math" panose="02040503050406030204" pitchFamily="18" charset="0"/>
                  </a:rPr>
                  <a:t>∑_𝑐▒〖𝑃(𝑋=𝑥│𝐶=𝑐) 〗</a:t>
                </a:r>
                <a:r>
                  <a:rPr lang="en-US" dirty="0"/>
                  <a:t> is an arbitrary number.</a:t>
                </a:r>
              </a:p>
              <a:p>
                <a:r>
                  <a:rPr lang="en-US" dirty="0"/>
                  <a:t>Explain</a:t>
                </a:r>
                <a:r>
                  <a:rPr lang="en-US" baseline="0" dirty="0"/>
                  <a:t> </a:t>
                </a:r>
                <a:r>
                  <a:rPr lang="en-US" b="0" i="0">
                    <a:latin typeface="Cambria Math" panose="02040503050406030204" pitchFamily="18" charset="0"/>
                  </a:rPr>
                  <a:t>𝑃(𝐻│𝑆,𝑅)+𝑃(</a:t>
                </a:r>
                <a:r>
                  <a:rPr lang="en-US" b="0" i="0">
                    <a:latin typeface="Cambria Math" panose="02040503050406030204" pitchFamily="18" charset="0"/>
                    <a:ea typeface="Cambria Math" panose="02040503050406030204" pitchFamily="18" charset="0"/>
                  </a:rPr>
                  <a:t>¬</a:t>
                </a:r>
                <a:r>
                  <a:rPr lang="en-US" b="0" i="0">
                    <a:latin typeface="Cambria Math" panose="02040503050406030204" pitchFamily="18" charset="0"/>
                  </a:rPr>
                  <a:t>𝐻│𝑆,𝑅)=1</a:t>
                </a:r>
                <a:endParaRPr lang="en-US" dirty="0"/>
              </a:p>
              <a:p>
                <a:r>
                  <a:rPr lang="en-US" dirty="0"/>
                  <a:t>Notation not good, should be changed in this slide. </a:t>
                </a:r>
                <a:r>
                  <a:rPr lang="en-US" b="0" i="0">
                    <a:latin typeface="Cambria Math" panose="02040503050406030204" pitchFamily="18" charset="0"/>
                  </a:rPr>
                  <a:t>𝑃(𝐻=1│𝑆=1,𝑅=1)+𝑃(𝐻=0│𝑆=1,𝑅=1)=1</a:t>
                </a:r>
                <a:endParaRPr lang="en-US" dirty="0"/>
              </a:p>
              <a:p>
                <a:r>
                  <a:rPr lang="en-US" dirty="0"/>
                  <a:t>Add this model right in the beginning of explaining probabilities.</a:t>
                </a:r>
              </a:p>
              <a:p>
                <a:r>
                  <a:rPr lang="en-US"/>
                  <a:t>Some slide on BP</a:t>
                </a:r>
                <a:endParaRPr lang="en-NL" dirty="0"/>
              </a:p>
            </p:txBody>
          </p:sp>
        </mc:Fallback>
      </mc:AlternateContent>
      <p:sp>
        <p:nvSpPr>
          <p:cNvPr id="4" name="Slide Number Placeholder 3"/>
          <p:cNvSpPr>
            <a:spLocks noGrp="1"/>
          </p:cNvSpPr>
          <p:nvPr>
            <p:ph type="sldNum" sz="quarter" idx="5"/>
          </p:nvPr>
        </p:nvSpPr>
        <p:spPr/>
        <p:txBody>
          <a:bodyPr/>
          <a:lstStyle/>
          <a:p>
            <a:fld id="{E621F08F-E976-4942-B2BE-72F9009D3743}" type="slidenum">
              <a:rPr lang="en-NL" smtClean="0"/>
              <a:t>52</a:t>
            </a:fld>
            <a:endParaRPr lang="en-NL"/>
          </a:p>
        </p:txBody>
      </p:sp>
    </p:spTree>
    <p:extLst>
      <p:ext uri="{BB962C8B-B14F-4D97-AF65-F5344CB8AC3E}">
        <p14:creationId xmlns:p14="http://schemas.microsoft.com/office/powerpoint/2010/main" val="3851349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Explain that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𝑥</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e>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𝑐</m:t>
                            </m:r>
                          </m:e>
                        </m:d>
                      </m:e>
                    </m:nary>
                    <m:r>
                      <a:rPr lang="en-US" b="0" i="1" smtClean="0">
                        <a:latin typeface="Cambria Math" panose="02040503050406030204" pitchFamily="18" charset="0"/>
                      </a:rPr>
                      <m:t>=1</m:t>
                    </m:r>
                  </m:oMath>
                </a14:m>
                <a:r>
                  <a:rPr lang="en-US" dirty="0"/>
                  <a:t> but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𝑐</m:t>
                        </m:r>
                      </m:sub>
                      <m:sup/>
                      <m:e>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e>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𝑐</m:t>
                            </m:r>
                          </m:e>
                        </m:d>
                      </m:e>
                    </m:nary>
                  </m:oMath>
                </a14:m>
                <a:r>
                  <a:rPr lang="en-US" dirty="0"/>
                  <a:t> is an arbitrary number.</a:t>
                </a:r>
              </a:p>
              <a:p>
                <a:r>
                  <a:rPr lang="en-US" dirty="0"/>
                  <a:t>Explain</a:t>
                </a:r>
                <a:r>
                  <a:rPr lang="en-US" baseline="0" dirty="0"/>
                  <a:t>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e>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𝑅</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𝐻</m:t>
                        </m:r>
                      </m:e>
                      <m:e>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𝑅</m:t>
                        </m:r>
                      </m:e>
                    </m:d>
                    <m:r>
                      <a:rPr lang="en-US" b="0" i="1" smtClean="0">
                        <a:latin typeface="Cambria Math" panose="02040503050406030204" pitchFamily="18" charset="0"/>
                      </a:rPr>
                      <m:t>=1</m:t>
                    </m:r>
                  </m:oMath>
                </a14:m>
                <a:endParaRPr lang="en-US" dirty="0"/>
              </a:p>
              <a:p>
                <a:r>
                  <a:rPr lang="en-US" dirty="0"/>
                  <a:t>Notation not good, should be changed in this slide. </a:t>
                </a:r>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=1</m:t>
                        </m:r>
                      </m:e>
                      <m:e>
                        <m:r>
                          <a:rPr lang="en-US" b="0" i="1" smtClean="0">
                            <a:latin typeface="Cambria Math" panose="02040503050406030204" pitchFamily="18" charset="0"/>
                          </a:rPr>
                          <m:t>𝑆</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r>
                          <a:rPr lang="en-US" b="0" i="1" smtClean="0">
                            <a:latin typeface="Cambria Math" panose="02040503050406030204" pitchFamily="18" charset="0"/>
                          </a:rPr>
                          <m:t>=0</m:t>
                        </m:r>
                      </m:e>
                      <m:e>
                        <m:r>
                          <a:rPr lang="en-US" b="0" i="1" smtClean="0">
                            <a:latin typeface="Cambria Math" panose="02040503050406030204" pitchFamily="18" charset="0"/>
                          </a:rPr>
                          <m:t>𝑆</m:t>
                        </m:r>
                        <m:r>
                          <a:rPr lang="en-US" b="0" i="1" smtClean="0">
                            <a:latin typeface="Cambria Math" panose="02040503050406030204" pitchFamily="18" charset="0"/>
                          </a:rPr>
                          <m:t>=1,</m:t>
                        </m:r>
                        <m:r>
                          <a:rPr lang="en-US" b="0" i="1" smtClean="0">
                            <a:latin typeface="Cambria Math" panose="02040503050406030204" pitchFamily="18" charset="0"/>
                          </a:rPr>
                          <m:t>𝑅</m:t>
                        </m:r>
                        <m:r>
                          <a:rPr lang="en-US" b="0" i="1" smtClean="0">
                            <a:latin typeface="Cambria Math" panose="02040503050406030204" pitchFamily="18" charset="0"/>
                          </a:rPr>
                          <m:t>=1</m:t>
                        </m:r>
                      </m:e>
                    </m:d>
                    <m:r>
                      <a:rPr lang="en-US" b="0" i="1" smtClean="0">
                        <a:latin typeface="Cambria Math" panose="02040503050406030204" pitchFamily="18" charset="0"/>
                      </a:rPr>
                      <m:t>=1</m:t>
                    </m:r>
                  </m:oMath>
                </a14:m>
                <a:endParaRPr lang="en-US" dirty="0"/>
              </a:p>
              <a:p>
                <a:r>
                  <a:rPr lang="en-US" dirty="0"/>
                  <a:t>Add this model right in the beginning of explaining probabilities.</a:t>
                </a:r>
              </a:p>
              <a:p>
                <a:r>
                  <a:rPr lang="en-US" dirty="0"/>
                  <a:t>Some slide on BP</a:t>
                </a:r>
                <a:endParaRPr lang="en-NL" dirty="0"/>
              </a:p>
            </p:txBody>
          </p:sp>
        </mc:Choice>
        <mc:Fallback xmlns="">
          <p:sp>
            <p:nvSpPr>
              <p:cNvPr id="3" name="Notes Placeholder 2"/>
              <p:cNvSpPr>
                <a:spLocks noGrp="1"/>
              </p:cNvSpPr>
              <p:nvPr>
                <p:ph type="body" idx="1"/>
              </p:nvPr>
            </p:nvSpPr>
            <p:spPr/>
            <p:txBody>
              <a:bodyPr/>
              <a:lstStyle/>
              <a:p>
                <a:r>
                  <a:rPr lang="en-US" dirty="0"/>
                  <a:t>Explain that </a:t>
                </a:r>
                <a:r>
                  <a:rPr lang="en-US" b="0" i="0">
                    <a:latin typeface="Cambria Math" panose="02040503050406030204" pitchFamily="18" charset="0"/>
                  </a:rPr>
                  <a:t>∑8_𝑥▒〖𝑃(𝑋=𝑥│𝐶=𝑐) 〗=1</a:t>
                </a:r>
                <a:r>
                  <a:rPr lang="en-US" dirty="0"/>
                  <a:t> but  </a:t>
                </a:r>
                <a:r>
                  <a:rPr lang="en-US" b="0" i="0">
                    <a:latin typeface="Cambria Math" panose="02040503050406030204" pitchFamily="18" charset="0"/>
                  </a:rPr>
                  <a:t>∑_𝑐▒〖𝑃(𝑋=𝑥│𝐶=𝑐) 〗</a:t>
                </a:r>
                <a:r>
                  <a:rPr lang="en-US" dirty="0"/>
                  <a:t> is an arbitrary number.</a:t>
                </a:r>
              </a:p>
              <a:p>
                <a:r>
                  <a:rPr lang="en-US" dirty="0"/>
                  <a:t>Explain</a:t>
                </a:r>
                <a:r>
                  <a:rPr lang="en-US" baseline="0" dirty="0"/>
                  <a:t> </a:t>
                </a:r>
                <a:r>
                  <a:rPr lang="en-US" b="0" i="0">
                    <a:latin typeface="Cambria Math" panose="02040503050406030204" pitchFamily="18" charset="0"/>
                  </a:rPr>
                  <a:t>𝑃(𝐻│𝑆,𝑅)+𝑃(</a:t>
                </a:r>
                <a:r>
                  <a:rPr lang="en-US" b="0" i="0">
                    <a:latin typeface="Cambria Math" panose="02040503050406030204" pitchFamily="18" charset="0"/>
                    <a:ea typeface="Cambria Math" panose="02040503050406030204" pitchFamily="18" charset="0"/>
                  </a:rPr>
                  <a:t>¬</a:t>
                </a:r>
                <a:r>
                  <a:rPr lang="en-US" b="0" i="0">
                    <a:latin typeface="Cambria Math" panose="02040503050406030204" pitchFamily="18" charset="0"/>
                  </a:rPr>
                  <a:t>𝐻│𝑆,𝑅)=1</a:t>
                </a:r>
                <a:endParaRPr lang="en-US" dirty="0"/>
              </a:p>
              <a:p>
                <a:r>
                  <a:rPr lang="en-US" dirty="0"/>
                  <a:t>Notation not good, should be changed in this slide. </a:t>
                </a:r>
                <a:r>
                  <a:rPr lang="en-US" b="0" i="0">
                    <a:latin typeface="Cambria Math" panose="02040503050406030204" pitchFamily="18" charset="0"/>
                  </a:rPr>
                  <a:t>𝑃(𝐻=1│𝑆=1,𝑅=1)+𝑃(𝐻=0│𝑆=1,𝑅=1)=1</a:t>
                </a:r>
                <a:endParaRPr lang="en-US" dirty="0"/>
              </a:p>
              <a:p>
                <a:r>
                  <a:rPr lang="en-US" dirty="0"/>
                  <a:t>Add this model right in the beginning of explaining probabilities.</a:t>
                </a:r>
              </a:p>
              <a:p>
                <a:r>
                  <a:rPr lang="en-US"/>
                  <a:t>Some slide on BP</a:t>
                </a:r>
                <a:endParaRPr lang="en-NL" dirty="0"/>
              </a:p>
            </p:txBody>
          </p:sp>
        </mc:Fallback>
      </mc:AlternateContent>
      <p:sp>
        <p:nvSpPr>
          <p:cNvPr id="4" name="Slide Number Placeholder 3"/>
          <p:cNvSpPr>
            <a:spLocks noGrp="1"/>
          </p:cNvSpPr>
          <p:nvPr>
            <p:ph type="sldNum" sz="quarter" idx="5"/>
          </p:nvPr>
        </p:nvSpPr>
        <p:spPr/>
        <p:txBody>
          <a:bodyPr/>
          <a:lstStyle/>
          <a:p>
            <a:fld id="{E621F08F-E976-4942-B2BE-72F9009D3743}" type="slidenum">
              <a:rPr lang="en-NL" smtClean="0"/>
              <a:t>53</a:t>
            </a:fld>
            <a:endParaRPr lang="en-NL"/>
          </a:p>
        </p:txBody>
      </p:sp>
    </p:spTree>
    <p:extLst>
      <p:ext uri="{BB962C8B-B14F-4D97-AF65-F5344CB8AC3E}">
        <p14:creationId xmlns:p14="http://schemas.microsoft.com/office/powerpoint/2010/main" val="35769535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56</a:t>
            </a:fld>
            <a:endParaRPr lang="en-NL"/>
          </a:p>
        </p:txBody>
      </p:sp>
    </p:spTree>
    <p:extLst>
      <p:ext uri="{BB962C8B-B14F-4D97-AF65-F5344CB8AC3E}">
        <p14:creationId xmlns:p14="http://schemas.microsoft.com/office/powerpoint/2010/main" val="3228832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58</a:t>
            </a:fld>
            <a:endParaRPr lang="en-NL"/>
          </a:p>
        </p:txBody>
      </p:sp>
    </p:spTree>
    <p:extLst>
      <p:ext uri="{BB962C8B-B14F-4D97-AF65-F5344CB8AC3E}">
        <p14:creationId xmlns:p14="http://schemas.microsoft.com/office/powerpoint/2010/main" val="2342411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the number of numbers that has to be specified for the full table vs. factorized one</a:t>
            </a:r>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72</a:t>
            </a:fld>
            <a:endParaRPr lang="en-NL"/>
          </a:p>
        </p:txBody>
      </p:sp>
    </p:spTree>
    <p:extLst>
      <p:ext uri="{BB962C8B-B14F-4D97-AF65-F5344CB8AC3E}">
        <p14:creationId xmlns:p14="http://schemas.microsoft.com/office/powerpoint/2010/main" val="576711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81</a:t>
            </a:fld>
            <a:endParaRPr lang="en-NL"/>
          </a:p>
        </p:txBody>
      </p:sp>
    </p:spTree>
    <p:extLst>
      <p:ext uri="{BB962C8B-B14F-4D97-AF65-F5344CB8AC3E}">
        <p14:creationId xmlns:p14="http://schemas.microsoft.com/office/powerpoint/2010/main" val="3559979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Solving Simpson’s Paradox. Understand a key toy example in causal… | by Aleix Ruiz de Villa | Towards Data Science</a:t>
            </a:r>
            <a:endParaRPr lang="en-NL" dirty="0"/>
          </a:p>
        </p:txBody>
      </p:sp>
      <p:sp>
        <p:nvSpPr>
          <p:cNvPr id="4" name="Slide Number Placeholder 3"/>
          <p:cNvSpPr>
            <a:spLocks noGrp="1"/>
          </p:cNvSpPr>
          <p:nvPr>
            <p:ph type="sldNum" sz="quarter" idx="5"/>
          </p:nvPr>
        </p:nvSpPr>
        <p:spPr/>
        <p:txBody>
          <a:bodyPr/>
          <a:lstStyle/>
          <a:p>
            <a:fld id="{E621F08F-E976-4942-B2BE-72F9009D3743}" type="slidenum">
              <a:rPr lang="en-NL" smtClean="0"/>
              <a:t>82</a:t>
            </a:fld>
            <a:endParaRPr lang="en-NL"/>
          </a:p>
        </p:txBody>
      </p:sp>
    </p:spTree>
    <p:extLst>
      <p:ext uri="{BB962C8B-B14F-4D97-AF65-F5344CB8AC3E}">
        <p14:creationId xmlns:p14="http://schemas.microsoft.com/office/powerpoint/2010/main" val="1744661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0F1419"/>
                </a:solidFill>
                <a:effectLst/>
                <a:latin typeface="TwitterChirp"/>
              </a:rPr>
              <a:t>Correlation between covid vaccine coverage ( in subgroups) and covid death rate, which can be explained by for example age (also an example of Simpson's paradox).</a:t>
            </a:r>
          </a:p>
          <a:p>
            <a:br>
              <a:rPr lang="en-US" b="0" i="0" u="none" strike="noStrike" dirty="0">
                <a:solidFill>
                  <a:srgbClr val="536471"/>
                </a:solidFill>
                <a:effectLst/>
                <a:latin typeface="TwitterChirp"/>
                <a:hlinkClick r:id="rId3"/>
              </a:rPr>
            </a:br>
            <a:endParaRPr lang="en-NL" dirty="0"/>
          </a:p>
        </p:txBody>
      </p:sp>
      <p:sp>
        <p:nvSpPr>
          <p:cNvPr id="4" name="Slide Number Placeholder 3"/>
          <p:cNvSpPr>
            <a:spLocks noGrp="1"/>
          </p:cNvSpPr>
          <p:nvPr>
            <p:ph type="sldNum" sz="quarter" idx="5"/>
          </p:nvPr>
        </p:nvSpPr>
        <p:spPr/>
        <p:txBody>
          <a:bodyPr/>
          <a:lstStyle/>
          <a:p>
            <a:fld id="{195351E6-903D-4C61-B7D0-8ECDA6DB28E8}" type="slidenum">
              <a:rPr lang="en-NL" smtClean="0"/>
              <a:t>83</a:t>
            </a:fld>
            <a:endParaRPr lang="en-NL"/>
          </a:p>
        </p:txBody>
      </p:sp>
    </p:spTree>
    <p:extLst>
      <p:ext uri="{BB962C8B-B14F-4D97-AF65-F5344CB8AC3E}">
        <p14:creationId xmlns:p14="http://schemas.microsoft.com/office/powerpoint/2010/main" val="1112653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Leaders: Stop Confusing Correlation with Causation (hbr.org)</a:t>
            </a:r>
            <a:endParaRPr lang="en-US" dirty="0"/>
          </a:p>
          <a:p>
            <a:r>
              <a:rPr lang="en-US" b="0" i="0" dirty="0">
                <a:solidFill>
                  <a:srgbClr val="282828"/>
                </a:solidFill>
                <a:effectLst/>
                <a:latin typeface="Tiempos Text"/>
              </a:rPr>
              <a:t>randomized controlled trial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Higher sales in areas with more ads, but correlation due to pre-existing purchase intentions.</a:t>
            </a:r>
          </a:p>
          <a:p>
            <a:endParaRPr lang="en-US" b="0" i="0" dirty="0">
              <a:solidFill>
                <a:srgbClr val="282828"/>
              </a:solidFill>
              <a:effectLst/>
              <a:latin typeface="Tiempos Text"/>
            </a:endParaRPr>
          </a:p>
        </p:txBody>
      </p:sp>
      <p:sp>
        <p:nvSpPr>
          <p:cNvPr id="4" name="Slide Number Placeholder 3"/>
          <p:cNvSpPr>
            <a:spLocks noGrp="1"/>
          </p:cNvSpPr>
          <p:nvPr>
            <p:ph type="sldNum" sz="quarter" idx="5"/>
          </p:nvPr>
        </p:nvSpPr>
        <p:spPr/>
        <p:txBody>
          <a:bodyPr/>
          <a:lstStyle/>
          <a:p>
            <a:fld id="{195351E6-903D-4C61-B7D0-8ECDA6DB28E8}" type="slidenum">
              <a:rPr lang="en-NL" smtClean="0"/>
              <a:t>84</a:t>
            </a:fld>
            <a:endParaRPr lang="en-NL"/>
          </a:p>
        </p:txBody>
      </p:sp>
    </p:spTree>
    <p:extLst>
      <p:ext uri="{BB962C8B-B14F-4D97-AF65-F5344CB8AC3E}">
        <p14:creationId xmlns:p14="http://schemas.microsoft.com/office/powerpoint/2010/main" val="13398730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Leaders: Stop Confusing Correlation with Causation (hbr.org)</a:t>
            </a:r>
            <a:endParaRPr lang="en-US" dirty="0"/>
          </a:p>
          <a:p>
            <a:r>
              <a:rPr lang="en-US" b="0" i="0" dirty="0">
                <a:solidFill>
                  <a:srgbClr val="282828"/>
                </a:solidFill>
                <a:effectLst/>
                <a:latin typeface="Tiempos Text"/>
              </a:rPr>
              <a:t>randomized controlled trial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Higher sales in areas with more ads, but correlation due to pre-existing purchase intentions.</a:t>
            </a:r>
          </a:p>
          <a:p>
            <a:endParaRPr lang="en-US" b="0" i="0" dirty="0">
              <a:solidFill>
                <a:srgbClr val="282828"/>
              </a:solidFill>
              <a:effectLst/>
              <a:latin typeface="Tiempos Text"/>
            </a:endParaRPr>
          </a:p>
        </p:txBody>
      </p:sp>
      <p:sp>
        <p:nvSpPr>
          <p:cNvPr id="4" name="Slide Number Placeholder 3"/>
          <p:cNvSpPr>
            <a:spLocks noGrp="1"/>
          </p:cNvSpPr>
          <p:nvPr>
            <p:ph type="sldNum" sz="quarter" idx="5"/>
          </p:nvPr>
        </p:nvSpPr>
        <p:spPr/>
        <p:txBody>
          <a:bodyPr/>
          <a:lstStyle/>
          <a:p>
            <a:fld id="{195351E6-903D-4C61-B7D0-8ECDA6DB28E8}" type="slidenum">
              <a:rPr lang="en-NL" smtClean="0"/>
              <a:t>85</a:t>
            </a:fld>
            <a:endParaRPr lang="en-NL"/>
          </a:p>
        </p:txBody>
      </p:sp>
    </p:spTree>
    <p:extLst>
      <p:ext uri="{BB962C8B-B14F-4D97-AF65-F5344CB8AC3E}">
        <p14:creationId xmlns:p14="http://schemas.microsoft.com/office/powerpoint/2010/main" val="42125743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95351E6-903D-4C61-B7D0-8ECDA6DB28E8}" type="slidenum">
              <a:rPr lang="en-NL" smtClean="0"/>
              <a:t>88</a:t>
            </a:fld>
            <a:endParaRPr lang="en-NL"/>
          </a:p>
        </p:txBody>
      </p:sp>
    </p:spTree>
    <p:extLst>
      <p:ext uri="{BB962C8B-B14F-4D97-AF65-F5344CB8AC3E}">
        <p14:creationId xmlns:p14="http://schemas.microsoft.com/office/powerpoint/2010/main" val="2651054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Leaders: Stop Confusing Correlation with Causation (hbr.org)</a:t>
            </a:r>
            <a:endParaRPr lang="en-US" dirty="0"/>
          </a:p>
          <a:p>
            <a:r>
              <a:rPr lang="en-US" b="0" i="0" dirty="0">
                <a:solidFill>
                  <a:srgbClr val="282828"/>
                </a:solidFill>
                <a:effectLst/>
                <a:latin typeface="Tiempos Text"/>
              </a:rPr>
              <a:t>a large-scale experiment that gave packages of advertisements to thousands of randomly selected businesses.</a:t>
            </a:r>
          </a:p>
        </p:txBody>
      </p:sp>
      <p:sp>
        <p:nvSpPr>
          <p:cNvPr id="4" name="Slide Number Placeholder 3"/>
          <p:cNvSpPr>
            <a:spLocks noGrp="1"/>
          </p:cNvSpPr>
          <p:nvPr>
            <p:ph type="sldNum" sz="quarter" idx="5"/>
          </p:nvPr>
        </p:nvSpPr>
        <p:spPr/>
        <p:txBody>
          <a:bodyPr/>
          <a:lstStyle/>
          <a:p>
            <a:fld id="{195351E6-903D-4C61-B7D0-8ECDA6DB28E8}" type="slidenum">
              <a:rPr lang="en-NL" smtClean="0"/>
              <a:t>93</a:t>
            </a:fld>
            <a:endParaRPr lang="en-NL"/>
          </a:p>
        </p:txBody>
      </p:sp>
    </p:spTree>
    <p:extLst>
      <p:ext uri="{BB962C8B-B14F-4D97-AF65-F5344CB8AC3E}">
        <p14:creationId xmlns:p14="http://schemas.microsoft.com/office/powerpoint/2010/main" val="3154634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t>
            </a:r>
            <a:r>
              <a:rPr lang="en-US" b="1" i="0" dirty="0">
                <a:solidFill>
                  <a:srgbClr val="202122"/>
                </a:solidFill>
                <a:effectLst/>
                <a:latin typeface="Arial" panose="020B0604020202020204" pitchFamily="34" charset="0"/>
              </a:rPr>
              <a:t>Euler's number</a:t>
            </a:r>
            <a:r>
              <a:rPr lang="en-US" b="0" i="0" dirty="0">
                <a:solidFill>
                  <a:srgbClr val="202122"/>
                </a:solidFill>
                <a:effectLst/>
                <a:latin typeface="Arial" panose="020B0604020202020204" pitchFamily="34" charset="0"/>
              </a:rPr>
              <a:t> as a limit to see how this will converge to a gaussian when the degrees of freedom goes to </a:t>
            </a:r>
            <a:r>
              <a:rPr lang="en-US" b="0" i="0" dirty="0" err="1">
                <a:solidFill>
                  <a:srgbClr val="202122"/>
                </a:solidFill>
                <a:effectLst/>
                <a:latin typeface="Arial" panose="020B0604020202020204" pitchFamily="34" charset="0"/>
              </a:rPr>
              <a:t>infinityl</a:t>
            </a:r>
            <a:endParaRPr lang="en-NL" dirty="0"/>
          </a:p>
        </p:txBody>
      </p:sp>
      <p:sp>
        <p:nvSpPr>
          <p:cNvPr id="4" name="Slide Number Placeholder 3"/>
          <p:cNvSpPr>
            <a:spLocks noGrp="1"/>
          </p:cNvSpPr>
          <p:nvPr>
            <p:ph type="sldNum" sz="quarter" idx="5"/>
          </p:nvPr>
        </p:nvSpPr>
        <p:spPr/>
        <p:txBody>
          <a:bodyPr/>
          <a:lstStyle/>
          <a:p>
            <a:fld id="{6A4946D3-8EDA-489A-80BD-A77DFAD86406}" type="slidenum">
              <a:rPr lang="en-NL" smtClean="0"/>
              <a:t>107</a:t>
            </a:fld>
            <a:endParaRPr lang="en-NL"/>
          </a:p>
        </p:txBody>
      </p:sp>
    </p:spTree>
    <p:extLst>
      <p:ext uri="{BB962C8B-B14F-4D97-AF65-F5344CB8AC3E}">
        <p14:creationId xmlns:p14="http://schemas.microsoft.com/office/powerpoint/2010/main" val="1843839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BB86B-F693-B6C0-75FB-0402C0829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F90DDE91-FCDE-E4D7-D5FD-A5AB957E17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639864FC-DC5D-B8EE-4BF8-137D298B4ED1}"/>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5" name="Footer Placeholder 4">
            <a:extLst>
              <a:ext uri="{FF2B5EF4-FFF2-40B4-BE49-F238E27FC236}">
                <a16:creationId xmlns:a16="http://schemas.microsoft.com/office/drawing/2014/main" id="{FA5C1CD8-2589-539C-96A1-5F2F3D83FC2C}"/>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0375AB6-7BA6-ACE3-97E7-F7E3AE1F4B27}"/>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1088967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D6500-977F-6D82-D6F0-D3C724C11623}"/>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758FEA6D-9D7F-B70E-5A5B-88AC590F7A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A1A2599-4718-2626-1BC1-60C0E5DB0BA4}"/>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5" name="Footer Placeholder 4">
            <a:extLst>
              <a:ext uri="{FF2B5EF4-FFF2-40B4-BE49-F238E27FC236}">
                <a16:creationId xmlns:a16="http://schemas.microsoft.com/office/drawing/2014/main" id="{63843229-6866-084B-C058-FFF19AF1A9E2}"/>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9BD5EF7-67D7-46E9-CD32-4DC1BA746641}"/>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3755528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C3C5E-1EC1-E1FE-6E6F-E311D17A10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D3DEE15E-D33D-520F-02B8-ADFC5A5B11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09E4E3-E035-7EFE-04E2-74DEDF10FB9C}"/>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5" name="Footer Placeholder 4">
            <a:extLst>
              <a:ext uri="{FF2B5EF4-FFF2-40B4-BE49-F238E27FC236}">
                <a16:creationId xmlns:a16="http://schemas.microsoft.com/office/drawing/2014/main" id="{C54CF87C-94D0-B51B-2D1F-18B6C7A997B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FB5BF9B8-2ED4-F834-5EEE-389666A2EE0B}"/>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220365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BA214-1FEC-0484-8A8A-ABB58A3EBE4A}"/>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30EB39D0-E8DF-985B-A943-ADB63696DC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968069F-577D-D7E0-81A2-C6B7B62426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031E4C0A-5193-2F9C-48FA-A69FD1926E5E}"/>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6" name="Footer Placeholder 5">
            <a:extLst>
              <a:ext uri="{FF2B5EF4-FFF2-40B4-BE49-F238E27FC236}">
                <a16:creationId xmlns:a16="http://schemas.microsoft.com/office/drawing/2014/main" id="{0B923602-341C-45BE-B8CE-A9849DD3C17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0EA2C169-0F3D-0037-44AA-18809E11AC94}"/>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4267653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16255-1807-2A1F-6F1A-243818EDBD75}"/>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0F33CFE4-47DF-5FE8-4ABB-D58EB6BEB7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F5FC3E-DA35-A15F-DF14-DE486BEB95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45978BA4-7266-9783-D9D2-44CFF2E1B6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E28000-D597-4DB7-C671-45AE147AA6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B1FA99AC-C952-AC79-D996-C3EC63E80DD8}"/>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8" name="Footer Placeholder 7">
            <a:extLst>
              <a:ext uri="{FF2B5EF4-FFF2-40B4-BE49-F238E27FC236}">
                <a16:creationId xmlns:a16="http://schemas.microsoft.com/office/drawing/2014/main" id="{1062E2A5-00BA-FE2C-980E-D551ABA92B4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E1F429FC-C084-6638-896C-D5A89D77F95B}"/>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1261502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B822-D990-773D-7CF7-AA274BFFEEBC}"/>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9D2896D7-E93B-7489-52A4-1A7374F8F70B}"/>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4" name="Footer Placeholder 3">
            <a:extLst>
              <a:ext uri="{FF2B5EF4-FFF2-40B4-BE49-F238E27FC236}">
                <a16:creationId xmlns:a16="http://schemas.microsoft.com/office/drawing/2014/main" id="{00C02376-2D0D-689A-5F72-F0587013E746}"/>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41602808-0BC4-16F3-34B5-4878ADC96DF1}"/>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4270937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DF2B1A-4A22-F7F0-577C-6C7A82CE7126}"/>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3" name="Footer Placeholder 2">
            <a:extLst>
              <a:ext uri="{FF2B5EF4-FFF2-40B4-BE49-F238E27FC236}">
                <a16:creationId xmlns:a16="http://schemas.microsoft.com/office/drawing/2014/main" id="{FB014703-0B67-ED70-45E6-00CC3B304B2C}"/>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CFC15C02-001E-3230-73E9-2A92F870DDDE}"/>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3401150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9CFF-10F4-809E-94B0-1C89B894A9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B8F9D335-A9B3-13C2-056F-E726DAED36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0F9ECB8E-2537-9574-917A-3179EB72D0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049CE-93A4-D946-5C57-BD86FB17DCC3}"/>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6" name="Footer Placeholder 5">
            <a:extLst>
              <a:ext uri="{FF2B5EF4-FFF2-40B4-BE49-F238E27FC236}">
                <a16:creationId xmlns:a16="http://schemas.microsoft.com/office/drawing/2014/main" id="{C8962D42-D8F3-602F-5C73-CE75042B83E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6CD6BB2C-037E-DA3A-F9E7-F6B54E5AED33}"/>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791031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685A5-CC57-9703-3B1C-459DE74E87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F5C132B3-BFF4-3D13-7C85-600C415869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0D05F5E5-3AC9-7A7A-DCF5-D2262D330A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A1B2B8-18D6-7FC5-3DE0-97F7E6835016}"/>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6" name="Footer Placeholder 5">
            <a:extLst>
              <a:ext uri="{FF2B5EF4-FFF2-40B4-BE49-F238E27FC236}">
                <a16:creationId xmlns:a16="http://schemas.microsoft.com/office/drawing/2014/main" id="{F8761E42-1C37-AA7A-30A8-A3EC32C0F84F}"/>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057F8A-DCD0-4BB2-7244-16C8132C97D6}"/>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1484671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76F5-E7E2-9F21-E268-60670E751441}"/>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5E6B55A0-8F2F-73AC-E7F0-B66ED9ECC3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8DF18782-5B36-E5F0-0AE3-7C190F084A73}"/>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5" name="Footer Placeholder 4">
            <a:extLst>
              <a:ext uri="{FF2B5EF4-FFF2-40B4-BE49-F238E27FC236}">
                <a16:creationId xmlns:a16="http://schemas.microsoft.com/office/drawing/2014/main" id="{DD0103A0-394D-884C-F163-6B6C555B270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55F47E1-2E09-967E-F3EC-8C692FCD6D56}"/>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1364003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5F55BD-4EE9-9BCC-075E-B92875650A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BD60E032-1060-BE4E-451D-22FE652618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E7EA66E-46F7-12A9-9710-DC062F3F9310}"/>
              </a:ext>
            </a:extLst>
          </p:cNvPr>
          <p:cNvSpPr>
            <a:spLocks noGrp="1"/>
          </p:cNvSpPr>
          <p:nvPr>
            <p:ph type="dt" sz="half" idx="10"/>
          </p:nvPr>
        </p:nvSpPr>
        <p:spPr/>
        <p:txBody>
          <a:bodyPr/>
          <a:lstStyle/>
          <a:p>
            <a:fld id="{39CC73CA-9D67-4F06-A45E-735A2D11A133}" type="datetimeFigureOut">
              <a:rPr lang="en-NL" smtClean="0"/>
              <a:t>24/09/2026</a:t>
            </a:fld>
            <a:endParaRPr lang="en-NL"/>
          </a:p>
        </p:txBody>
      </p:sp>
      <p:sp>
        <p:nvSpPr>
          <p:cNvPr id="5" name="Footer Placeholder 4">
            <a:extLst>
              <a:ext uri="{FF2B5EF4-FFF2-40B4-BE49-F238E27FC236}">
                <a16:creationId xmlns:a16="http://schemas.microsoft.com/office/drawing/2014/main" id="{75A99CE2-C639-A307-1F4E-CFE7A5EB41F1}"/>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CB011D83-FB03-678C-2E40-D6FB00FC4144}"/>
              </a:ext>
            </a:extLst>
          </p:cNvPr>
          <p:cNvSpPr>
            <a:spLocks noGrp="1"/>
          </p:cNvSpPr>
          <p:nvPr>
            <p:ph type="sldNum" sz="quarter" idx="12"/>
          </p:nvPr>
        </p:nvSpPr>
        <p:spPr/>
        <p:txBody>
          <a:bodyPr/>
          <a:lstStyle/>
          <a:p>
            <a:fld id="{9C09461B-8A0B-407D-B01F-06FDCCA6FD2B}" type="slidenum">
              <a:rPr lang="en-NL" smtClean="0"/>
              <a:t>‹#›</a:t>
            </a:fld>
            <a:endParaRPr lang="en-NL"/>
          </a:p>
        </p:txBody>
      </p:sp>
    </p:spTree>
    <p:extLst>
      <p:ext uri="{BB962C8B-B14F-4D97-AF65-F5344CB8AC3E}">
        <p14:creationId xmlns:p14="http://schemas.microsoft.com/office/powerpoint/2010/main" val="2295368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98542876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4EEA6A-7214-8C1B-5F75-113E7C8C78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0DAE5A4-7BCC-8818-56E8-2F2B359651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97A32E7-4A1C-718A-6312-FB82F170AB7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CC73CA-9D67-4F06-A45E-735A2D11A133}" type="datetimeFigureOut">
              <a:rPr lang="en-NL" smtClean="0"/>
              <a:t>24/09/2026</a:t>
            </a:fld>
            <a:endParaRPr lang="en-NL"/>
          </a:p>
        </p:txBody>
      </p:sp>
      <p:sp>
        <p:nvSpPr>
          <p:cNvPr id="5" name="Footer Placeholder 4">
            <a:extLst>
              <a:ext uri="{FF2B5EF4-FFF2-40B4-BE49-F238E27FC236}">
                <a16:creationId xmlns:a16="http://schemas.microsoft.com/office/drawing/2014/main" id="{959D93B7-A377-FC6A-4BA7-1347F654F7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L"/>
          </a:p>
        </p:txBody>
      </p:sp>
      <p:sp>
        <p:nvSpPr>
          <p:cNvPr id="6" name="Slide Number Placeholder 5">
            <a:extLst>
              <a:ext uri="{FF2B5EF4-FFF2-40B4-BE49-F238E27FC236}">
                <a16:creationId xmlns:a16="http://schemas.microsoft.com/office/drawing/2014/main" id="{0FEE39F5-B807-D8E4-9651-889E704BD7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09461B-8A0B-407D-B01F-06FDCCA6FD2B}" type="slidenum">
              <a:rPr lang="en-NL" smtClean="0"/>
              <a:t>‹#›</a:t>
            </a:fld>
            <a:endParaRPr lang="en-NL"/>
          </a:p>
        </p:txBody>
      </p:sp>
    </p:spTree>
    <p:extLst>
      <p:ext uri="{BB962C8B-B14F-4D97-AF65-F5344CB8AC3E}">
        <p14:creationId xmlns:p14="http://schemas.microsoft.com/office/powerpoint/2010/main" val="3593951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alexdeng.github.io/causal/simpson.html"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hyperlink" Target="http://aprsa.villanova.edu/files/sivia.pdf" TargetMode="External"/><Relationship Id="rId4" Type="http://schemas.openxmlformats.org/officeDocument/2006/relationships/hyperlink" Target="https://www.microsoft.com/en-us/research/uploads/prod/2006/01/Bishop-Pattern-Recognition-and-Machine-Learning-2006.pdf"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hyperlink" Target="https://www.researchgate.net/publication/237020329_Bayes%27_Rule_A_Tutorial_Introduction_to_Bayesian_Analysis"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youtu.be/HZGCoVF3YvM" TargetMode="External"/><Relationship Id="rId2" Type="http://schemas.openxmlformats.org/officeDocument/2006/relationships/hyperlink" Target="https://youtu.be/8idr1WZ1A7Q"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ideo" Target="https://www.youtube.com/embed/HZGCoVF3YvM?feature=oembe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0.png"/><Relationship Id="rId4" Type="http://schemas.openxmlformats.org/officeDocument/2006/relationships/image" Target="../media/image210.png"/></Relationships>
</file>

<file path=ppt/slides/_rels/slide59.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ermongroup.github.io/cs228-notes/representation/directed/" TargetMode="External"/><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hyperlink" Target="https://ermongroup.github.io/cs228-notes/representation/directed/"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hyperlink" Target="https://ermongroup.github.io/cs228-notes/representation/directed/"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hyperlink" Target="https://ermongroup.github.io/cs228-notes/representation/directed/"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hyperlink" Target="https://ermongroup.github.io/cs228-notes/representation/directed/"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2.png"/><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png"/></Relationships>
</file>

<file path=ppt/slides/_rels/slide69.xml.rels><?xml version="1.0" encoding="UTF-8" standalone="yes"?>
<Relationships xmlns="http://schemas.openxmlformats.org/package/2006/relationships"><Relationship Id="rId3" Type="http://schemas.openxmlformats.org/officeDocument/2006/relationships/hyperlink" Target="https://www.microsoft.com/en-us/research/uploads/prod/2006/01/Bishop-Pattern-Recognition-and-Machine-Learning-2006.pdf" TargetMode="External"/><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hyperlink" Target="https://numpy.org/doc/stable/reference/random/generated/numpy.random.choice.html"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hyperlink" Target="https://numpy.org/doc/stable/reference/random/generated/numpy.random.choice.html"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alexdeng.github.io/causal/simpson.html" TargetMode="External"/></Relationships>
</file>

<file path=ppt/slides/_rels/slide8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towardsdatascience.com/solving-simpsons-paradox-e85433c68d03"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6.xml.rels><?xml version="1.0" encoding="UTF-8" standalone="yes"?>
<Relationships xmlns="http://schemas.openxmlformats.org/package/2006/relationships"><Relationship Id="rId2" Type="http://schemas.openxmlformats.org/officeDocument/2006/relationships/hyperlink" Target="https://hbr.org/2021/11/leaders-stop-confusing-correlation-with-causation" TargetMode="Externa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www.youtube.com/watch?v=ebEkn-BiW5k" TargetMode="External"/><Relationship Id="rId1" Type="http://schemas.openxmlformats.org/officeDocument/2006/relationships/slideLayout" Target="../slideLayouts/slideLayout2.xml"/><Relationship Id="rId5" Type="http://schemas.openxmlformats.org/officeDocument/2006/relationships/image" Target="../media/image51.png"/><Relationship Id="rId4" Type="http://schemas.microsoft.com/office/2011/relationships/webextension" Target="../webextensions/webextension1.xml"/></Relationships>
</file>

<file path=ppt/slides/_rels/slide88.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www.youtube.com/watch?v=ebEkn-BiW5k" TargetMode="External"/><Relationship Id="rId5" Type="http://schemas.openxmlformats.org/officeDocument/2006/relationships/image" Target="../media/image54.png"/><Relationship Id="rId4" Type="http://schemas.openxmlformats.org/officeDocument/2006/relationships/image" Target="../media/image53.png"/></Relationships>
</file>

<file path=ppt/slides/_rels/slide89.xml.rels><?xml version="1.0" encoding="UTF-8" standalone="yes"?>
<Relationships xmlns="http://schemas.openxmlformats.org/package/2006/relationships"><Relationship Id="rId2" Type="http://schemas.openxmlformats.org/officeDocument/2006/relationships/image" Target="../media/image63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image" Target="../media/image640.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660.png"/><Relationship Id="rId1" Type="http://schemas.openxmlformats.org/officeDocument/2006/relationships/slideLayout" Target="../slideLayouts/slideLayout2.xml"/><Relationship Id="rId5" Type="http://schemas.openxmlformats.org/officeDocument/2006/relationships/image" Target="../media/image54.png"/><Relationship Id="rId4" Type="http://schemas.openxmlformats.org/officeDocument/2006/relationships/image" Target="../media/image53.png"/></Relationships>
</file>

<file path=ppt/slides/_rels/slide9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680.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9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hyperlink" Target="https://stats.libretexts.org/Bookshelves/Introductory_Statistics/Introductory_Statistics_(Shafer_and_Zhang)" TargetMode="External"/><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hyperlink" Target="https://en.wikipedia.org/wiki/Black_Monday_(1987)" TargetMode="External"/><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511.png"/></Relationships>
</file>

<file path=ppt/slides/_rels/slide10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69.png"/><Relationship Id="rId4" Type="http://schemas.openxmlformats.org/officeDocument/2006/relationships/hyperlink" Target="https://en.wikipedia.org/wiki/Student%27s_t-distribution" TargetMode="External"/></Relationships>
</file>

<file path=ppt/slides/_rels/slide10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slideLayout" Target="../slideLayouts/slideLayout2.xml"/><Relationship Id="rId1" Type="http://schemas.openxmlformats.org/officeDocument/2006/relationships/video" Target="https://www.youtube.com/embed/VekJxtk4BYM?feature=oembed" TargetMode="External"/><Relationship Id="rId4" Type="http://schemas.openxmlformats.org/officeDocument/2006/relationships/hyperlink" Target="https://www.khanacademy.org/math/statistics-probability/significance-tests-one-sample/more-significance-testing-videos/v/z-statistics-vs-t-statistic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8AC02-1B83-AC50-19F7-13066EC572A1}"/>
              </a:ext>
            </a:extLst>
          </p:cNvPr>
          <p:cNvSpPr>
            <a:spLocks noGrp="1"/>
          </p:cNvSpPr>
          <p:nvPr>
            <p:ph type="ctrTitle"/>
          </p:nvPr>
        </p:nvSpPr>
        <p:spPr/>
        <p:txBody>
          <a:bodyPr/>
          <a:lstStyle/>
          <a:p>
            <a:r>
              <a:rPr lang="en-US" dirty="0"/>
              <a:t>AP STATS</a:t>
            </a:r>
            <a:endParaRPr lang="en-NL" dirty="0"/>
          </a:p>
        </p:txBody>
      </p:sp>
      <p:sp>
        <p:nvSpPr>
          <p:cNvPr id="3" name="Subtitle 2">
            <a:extLst>
              <a:ext uri="{FF2B5EF4-FFF2-40B4-BE49-F238E27FC236}">
                <a16:creationId xmlns:a16="http://schemas.microsoft.com/office/drawing/2014/main" id="{0553689A-32B9-9878-644B-C241D8CB2EB5}"/>
              </a:ext>
            </a:extLst>
          </p:cNvPr>
          <p:cNvSpPr>
            <a:spLocks noGrp="1"/>
          </p:cNvSpPr>
          <p:nvPr>
            <p:ph type="subTitle" idx="1"/>
          </p:nvPr>
        </p:nvSpPr>
        <p:spPr/>
        <p:txBody>
          <a:bodyPr/>
          <a:lstStyle/>
          <a:p>
            <a:r>
              <a:rPr lang="en-US" dirty="0"/>
              <a:t>Iman Mossavat</a:t>
            </a:r>
            <a:endParaRPr lang="en-NL" dirty="0"/>
          </a:p>
        </p:txBody>
      </p:sp>
    </p:spTree>
    <p:extLst>
      <p:ext uri="{BB962C8B-B14F-4D97-AF65-F5344CB8AC3E}">
        <p14:creationId xmlns:p14="http://schemas.microsoft.com/office/powerpoint/2010/main" val="629019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502B3-8563-5E45-753B-311688C1D979}"/>
              </a:ext>
            </a:extLst>
          </p:cNvPr>
          <p:cNvSpPr>
            <a:spLocks noGrp="1"/>
          </p:cNvSpPr>
          <p:nvPr>
            <p:ph type="title"/>
          </p:nvPr>
        </p:nvSpPr>
        <p:spPr/>
        <p:txBody>
          <a:bodyPr/>
          <a:lstStyle/>
          <a:p>
            <a:r>
              <a:rPr lang="en-US" dirty="0"/>
              <a:t>Agenda</a:t>
            </a:r>
            <a:endParaRPr lang="en-NL" dirty="0"/>
          </a:p>
        </p:txBody>
      </p:sp>
      <p:sp>
        <p:nvSpPr>
          <p:cNvPr id="3" name="Content Placeholder 2">
            <a:extLst>
              <a:ext uri="{FF2B5EF4-FFF2-40B4-BE49-F238E27FC236}">
                <a16:creationId xmlns:a16="http://schemas.microsoft.com/office/drawing/2014/main" id="{9B997FC6-B15C-2FE2-F6D8-2F28C904DE1C}"/>
              </a:ext>
            </a:extLst>
          </p:cNvPr>
          <p:cNvSpPr>
            <a:spLocks noGrp="1"/>
          </p:cNvSpPr>
          <p:nvPr>
            <p:ph idx="1"/>
          </p:nvPr>
        </p:nvSpPr>
        <p:spPr/>
        <p:txBody>
          <a:bodyPr>
            <a:normAutofit/>
          </a:bodyPr>
          <a:lstStyle/>
          <a:p>
            <a:pPr marL="0" indent="0" algn="l">
              <a:buNone/>
            </a:pPr>
            <a:r>
              <a:rPr lang="en-US" b="0" i="0" dirty="0">
                <a:solidFill>
                  <a:srgbClr val="374151"/>
                </a:solidFill>
                <a:effectLst/>
                <a:latin typeface="Söhne"/>
              </a:rPr>
              <a:t>Introduction</a:t>
            </a:r>
          </a:p>
          <a:p>
            <a:pPr marL="0" indent="0" algn="l">
              <a:buNone/>
            </a:pPr>
            <a:r>
              <a:rPr lang="en-US" b="0" i="0" dirty="0">
                <a:solidFill>
                  <a:srgbClr val="374151"/>
                </a:solidFill>
                <a:effectLst/>
                <a:latin typeface="Söhne"/>
              </a:rPr>
              <a:t>Probabilities</a:t>
            </a:r>
          </a:p>
          <a:p>
            <a:pPr marL="0" indent="0" algn="l">
              <a:buNone/>
            </a:pPr>
            <a:r>
              <a:rPr lang="en-US" b="0" i="0" dirty="0">
                <a:solidFill>
                  <a:srgbClr val="374151"/>
                </a:solidFill>
                <a:effectLst/>
                <a:latin typeface="Söhne"/>
              </a:rPr>
              <a:t>Bayes' Rule</a:t>
            </a:r>
          </a:p>
          <a:p>
            <a:pPr marL="0" indent="0" algn="l">
              <a:buNone/>
            </a:pPr>
            <a:r>
              <a:rPr lang="en-US" b="0" i="0" dirty="0">
                <a:solidFill>
                  <a:srgbClr val="374151"/>
                </a:solidFill>
                <a:effectLst/>
                <a:latin typeface="Söhne"/>
              </a:rPr>
              <a:t>Graphical Models</a:t>
            </a:r>
          </a:p>
          <a:p>
            <a:pPr marL="0" indent="0">
              <a:buNone/>
            </a:pPr>
            <a:r>
              <a:rPr lang="en-US" b="0" i="0" dirty="0">
                <a:solidFill>
                  <a:srgbClr val="374151"/>
                </a:solidFill>
                <a:effectLst/>
                <a:latin typeface="Söhne"/>
              </a:rPr>
              <a:t>Simpson's Paradox</a:t>
            </a:r>
          </a:p>
        </p:txBody>
      </p:sp>
    </p:spTree>
    <p:extLst>
      <p:ext uri="{BB962C8B-B14F-4D97-AF65-F5344CB8AC3E}">
        <p14:creationId xmlns:p14="http://schemas.microsoft.com/office/powerpoint/2010/main" val="335351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7E19-C22A-15F6-B06B-B64A7E46D7B3}"/>
              </a:ext>
            </a:extLst>
          </p:cNvPr>
          <p:cNvSpPr>
            <a:spLocks noGrp="1"/>
          </p:cNvSpPr>
          <p:nvPr>
            <p:ph type="ctrTitle"/>
          </p:nvPr>
        </p:nvSpPr>
        <p:spPr/>
        <p:txBody>
          <a:bodyPr/>
          <a:lstStyle/>
          <a:p>
            <a:r>
              <a:rPr lang="en-US" dirty="0"/>
              <a:t>Probabilities</a:t>
            </a:r>
            <a:endParaRPr lang="en-NL" dirty="0"/>
          </a:p>
        </p:txBody>
      </p:sp>
      <p:sp>
        <p:nvSpPr>
          <p:cNvPr id="3" name="Subtitle 2">
            <a:extLst>
              <a:ext uri="{FF2B5EF4-FFF2-40B4-BE49-F238E27FC236}">
                <a16:creationId xmlns:a16="http://schemas.microsoft.com/office/drawing/2014/main" id="{10711011-4590-EA3A-B542-8F844D41BCE5}"/>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3959734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DDA98-B65F-1D63-2D79-9221C1A1A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70394-4E65-69C0-AB58-AFC46FDA1432}"/>
              </a:ext>
            </a:extLst>
          </p:cNvPr>
          <p:cNvSpPr>
            <a:spLocks noGrp="1"/>
          </p:cNvSpPr>
          <p:nvPr>
            <p:ph type="title"/>
          </p:nvPr>
        </p:nvSpPr>
        <p:spPr/>
        <p:txBody>
          <a:bodyPr/>
          <a:lstStyle/>
          <a:p>
            <a:r>
              <a:rPr lang="en-US" dirty="0"/>
              <a:t>Is this a hill or a crater?</a:t>
            </a:r>
            <a:endParaRPr lang="en-NL" dirty="0"/>
          </a:p>
        </p:txBody>
      </p:sp>
      <p:pic>
        <p:nvPicPr>
          <p:cNvPr id="5" name="Picture 4">
            <a:extLst>
              <a:ext uri="{FF2B5EF4-FFF2-40B4-BE49-F238E27FC236}">
                <a16:creationId xmlns:a16="http://schemas.microsoft.com/office/drawing/2014/main" id="{9AB2C71A-8595-8255-0F11-65CA7AAEF284}"/>
              </a:ext>
            </a:extLst>
          </p:cNvPr>
          <p:cNvPicPr>
            <a:picLocks noChangeAspect="1"/>
          </p:cNvPicPr>
          <p:nvPr/>
        </p:nvPicPr>
        <p:blipFill>
          <a:blip r:embed="rId2"/>
          <a:stretch>
            <a:fillRect/>
          </a:stretch>
        </p:blipFill>
        <p:spPr>
          <a:xfrm>
            <a:off x="1189690" y="2795275"/>
            <a:ext cx="4252328" cy="2560542"/>
          </a:xfrm>
          <a:prstGeom prst="rect">
            <a:avLst/>
          </a:prstGeom>
        </p:spPr>
      </p:pic>
      <p:pic>
        <p:nvPicPr>
          <p:cNvPr id="9" name="Picture 8">
            <a:extLst>
              <a:ext uri="{FF2B5EF4-FFF2-40B4-BE49-F238E27FC236}">
                <a16:creationId xmlns:a16="http://schemas.microsoft.com/office/drawing/2014/main" id="{682EBE80-B3AE-E848-5694-C2A98CD978EB}"/>
              </a:ext>
            </a:extLst>
          </p:cNvPr>
          <p:cNvPicPr>
            <a:picLocks noChangeAspect="1"/>
          </p:cNvPicPr>
          <p:nvPr/>
        </p:nvPicPr>
        <p:blipFill>
          <a:blip r:embed="rId2"/>
          <a:stretch>
            <a:fillRect/>
          </a:stretch>
        </p:blipFill>
        <p:spPr>
          <a:xfrm flipV="1">
            <a:off x="6343581" y="2795275"/>
            <a:ext cx="4252328" cy="2560542"/>
          </a:xfrm>
          <a:prstGeom prst="rect">
            <a:avLst/>
          </a:prstGeom>
        </p:spPr>
      </p:pic>
      <p:sp>
        <p:nvSpPr>
          <p:cNvPr id="11" name="TextBox 10">
            <a:extLst>
              <a:ext uri="{FF2B5EF4-FFF2-40B4-BE49-F238E27FC236}">
                <a16:creationId xmlns:a16="http://schemas.microsoft.com/office/drawing/2014/main" id="{5ED5A8FD-7E8B-06D5-F5C3-28BC2B93D80E}"/>
              </a:ext>
            </a:extLst>
          </p:cNvPr>
          <p:cNvSpPr txBox="1"/>
          <p:nvPr/>
        </p:nvSpPr>
        <p:spPr>
          <a:xfrm>
            <a:off x="1189690" y="5846544"/>
            <a:ext cx="9406220" cy="646331"/>
          </a:xfrm>
          <a:prstGeom prst="rect">
            <a:avLst/>
          </a:prstGeom>
          <a:noFill/>
        </p:spPr>
        <p:txBody>
          <a:bodyPr wrap="square">
            <a:spAutoFit/>
          </a:bodyPr>
          <a:lstStyle/>
          <a:p>
            <a:r>
              <a:rPr lang="en-US" dirty="0"/>
              <a:t>Seeing is not a direct apprehension of reality, as we often like to pretend. Quite the contrary: seeing is inference from incomplete information ... ET Jaynes, 2003</a:t>
            </a:r>
            <a:endParaRPr lang="en-NL" dirty="0"/>
          </a:p>
        </p:txBody>
      </p:sp>
    </p:spTree>
    <p:extLst>
      <p:ext uri="{BB962C8B-B14F-4D97-AF65-F5344CB8AC3E}">
        <p14:creationId xmlns:p14="http://schemas.microsoft.com/office/powerpoint/2010/main" val="1419461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05545-E4DB-B979-447D-B067A5ECDB7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0C31FEC-D69D-4E51-72C1-B2D197127B94}"/>
              </a:ext>
            </a:extLst>
          </p:cNvPr>
          <p:cNvPicPr>
            <a:picLocks noChangeAspect="1"/>
          </p:cNvPicPr>
          <p:nvPr/>
        </p:nvPicPr>
        <p:blipFill>
          <a:blip r:embed="rId2"/>
          <a:stretch>
            <a:fillRect/>
          </a:stretch>
        </p:blipFill>
        <p:spPr>
          <a:xfrm>
            <a:off x="1718651" y="780680"/>
            <a:ext cx="8754697" cy="5296639"/>
          </a:xfrm>
          <a:prstGeom prst="rect">
            <a:avLst/>
          </a:prstGeom>
        </p:spPr>
      </p:pic>
      <p:sp>
        <p:nvSpPr>
          <p:cNvPr id="2" name="Rectangle 1">
            <a:extLst>
              <a:ext uri="{FF2B5EF4-FFF2-40B4-BE49-F238E27FC236}">
                <a16:creationId xmlns:a16="http://schemas.microsoft.com/office/drawing/2014/main" id="{C739352A-B838-D08D-BE69-A92495E67BFA}"/>
              </a:ext>
            </a:extLst>
          </p:cNvPr>
          <p:cNvSpPr/>
          <p:nvPr/>
        </p:nvSpPr>
        <p:spPr>
          <a:xfrm>
            <a:off x="1796716" y="585537"/>
            <a:ext cx="8676632" cy="9384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Sprinkler and Rain are Causally independent. But observing that the grass is wet makes them statistically dependent.</a:t>
            </a:r>
            <a:endParaRPr lang="en-NL" dirty="0">
              <a:solidFill>
                <a:schemeClr val="tx1"/>
              </a:solidFill>
            </a:endParaRPr>
          </a:p>
        </p:txBody>
      </p:sp>
    </p:spTree>
    <p:extLst>
      <p:ext uri="{BB962C8B-B14F-4D97-AF65-F5344CB8AC3E}">
        <p14:creationId xmlns:p14="http://schemas.microsoft.com/office/powerpoint/2010/main" val="275886655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52127-4CAF-4B5D-F92D-35BE42716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616A1-94F1-8556-63A9-9178E9D94E49}"/>
              </a:ext>
            </a:extLst>
          </p:cNvPr>
          <p:cNvSpPr>
            <a:spLocks noGrp="1"/>
          </p:cNvSpPr>
          <p:nvPr>
            <p:ph type="title"/>
          </p:nvPr>
        </p:nvSpPr>
        <p:spPr>
          <a:xfrm>
            <a:off x="818984" y="4230093"/>
            <a:ext cx="4150581" cy="1800165"/>
          </a:xfrm>
        </p:spPr>
        <p:txBody>
          <a:bodyPr vert="horz" lIns="91440" tIns="45720" rIns="91440" bIns="45720" rtlCol="0" anchor="t">
            <a:normAutofit/>
          </a:bodyPr>
          <a:lstStyle/>
          <a:p>
            <a:pPr algn="r"/>
            <a:r>
              <a:rPr lang="en-US" sz="4000" b="0" i="0" kern="1200" dirty="0">
                <a:solidFill>
                  <a:schemeClr val="tx1"/>
                </a:solidFill>
                <a:effectLst/>
                <a:latin typeface="+mj-lt"/>
                <a:ea typeface="+mj-ea"/>
                <a:cs typeface="+mj-cs"/>
              </a:rPr>
              <a:t>Simpson's Paradox</a:t>
            </a:r>
            <a:endParaRPr lang="en-US" sz="4000" kern="1200" dirty="0">
              <a:solidFill>
                <a:schemeClr val="tx1"/>
              </a:solidFill>
              <a:latin typeface="+mj-lt"/>
              <a:ea typeface="+mj-ea"/>
              <a:cs typeface="+mj-cs"/>
            </a:endParaRPr>
          </a:p>
        </p:txBody>
      </p:sp>
      <p:pic>
        <p:nvPicPr>
          <p:cNvPr id="9" name="Picture 8">
            <a:extLst>
              <a:ext uri="{FF2B5EF4-FFF2-40B4-BE49-F238E27FC236}">
                <a16:creationId xmlns:a16="http://schemas.microsoft.com/office/drawing/2014/main" id="{70B1C569-F1E0-1B5E-1008-623569151C02}"/>
              </a:ext>
            </a:extLst>
          </p:cNvPr>
          <p:cNvPicPr>
            <a:picLocks noChangeAspect="1"/>
          </p:cNvPicPr>
          <p:nvPr/>
        </p:nvPicPr>
        <p:blipFill>
          <a:blip r:embed="rId3"/>
          <a:stretch>
            <a:fillRect/>
          </a:stretch>
        </p:blipFill>
        <p:spPr>
          <a:xfrm>
            <a:off x="556592" y="513896"/>
            <a:ext cx="11139778" cy="3341932"/>
          </a:xfrm>
          <a:prstGeom prst="rect">
            <a:avLst/>
          </a:prstGeom>
        </p:spPr>
      </p:pic>
      <p:sp>
        <p:nvSpPr>
          <p:cNvPr id="11" name="TextBox 10">
            <a:extLst>
              <a:ext uri="{FF2B5EF4-FFF2-40B4-BE49-F238E27FC236}">
                <a16:creationId xmlns:a16="http://schemas.microsoft.com/office/drawing/2014/main" id="{C0032176-44E9-3E39-97AB-3DF7E3B5A0CF}"/>
              </a:ext>
            </a:extLst>
          </p:cNvPr>
          <p:cNvSpPr txBox="1"/>
          <p:nvPr/>
        </p:nvSpPr>
        <p:spPr>
          <a:xfrm>
            <a:off x="5246415" y="4230094"/>
            <a:ext cx="6235268" cy="1800164"/>
          </a:xfrm>
          <a:prstGeom prst="rect">
            <a:avLst/>
          </a:prstGeom>
        </p:spPr>
        <p:txBody>
          <a:bodyPr vert="horz" lIns="91440" tIns="45720" rIns="91440" bIns="45720" rtlCol="0" anchor="t">
            <a:normAutofit/>
          </a:bodyPr>
          <a:lstStyle/>
          <a:p>
            <a:pPr>
              <a:lnSpc>
                <a:spcPct val="90000"/>
              </a:lnSpc>
              <a:spcAft>
                <a:spcPts val="600"/>
              </a:spcAft>
            </a:pPr>
            <a:r>
              <a:rPr lang="en-US" sz="1600" dirty="0">
                <a:hlinkClick r:id="rId4"/>
              </a:rPr>
              <a:t>Chapter 2 Correlation and Simpson’s Paradox | Causal Inference and Its Applications in Online Industry (alexdeng.github.io)</a:t>
            </a:r>
            <a:endParaRPr lang="en-US" sz="1600" dirty="0"/>
          </a:p>
        </p:txBody>
      </p:sp>
      <p:sp>
        <p:nvSpPr>
          <p:cNvPr id="12" name="Rectangle 11">
            <a:extLst>
              <a:ext uri="{FF2B5EF4-FFF2-40B4-BE49-F238E27FC236}">
                <a16:creationId xmlns:a16="http://schemas.microsoft.com/office/drawing/2014/main" id="{B25144EE-631A-F364-09C9-9D342F973B29}"/>
              </a:ext>
            </a:extLst>
          </p:cNvPr>
          <p:cNvSpPr/>
          <p:nvPr/>
        </p:nvSpPr>
        <p:spPr>
          <a:xfrm>
            <a:off x="6593915" y="1890572"/>
            <a:ext cx="574140" cy="5885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&gt;</a:t>
            </a:r>
            <a:endParaRPr lang="en-NL" sz="4000" dirty="0">
              <a:solidFill>
                <a:schemeClr val="tx1"/>
              </a:solidFill>
            </a:endParaRPr>
          </a:p>
        </p:txBody>
      </p:sp>
      <p:sp>
        <p:nvSpPr>
          <p:cNvPr id="13" name="Rectangle 12">
            <a:extLst>
              <a:ext uri="{FF2B5EF4-FFF2-40B4-BE49-F238E27FC236}">
                <a16:creationId xmlns:a16="http://schemas.microsoft.com/office/drawing/2014/main" id="{78E7D09C-19A8-C887-D9C6-6C2BE2826DB4}"/>
              </a:ext>
            </a:extLst>
          </p:cNvPr>
          <p:cNvSpPr/>
          <p:nvPr/>
        </p:nvSpPr>
        <p:spPr>
          <a:xfrm>
            <a:off x="6593915" y="2479151"/>
            <a:ext cx="574140" cy="5885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&gt;</a:t>
            </a:r>
            <a:endParaRPr lang="en-NL" sz="4000" dirty="0">
              <a:solidFill>
                <a:schemeClr val="tx1"/>
              </a:solidFill>
            </a:endParaRPr>
          </a:p>
        </p:txBody>
      </p:sp>
      <p:sp>
        <p:nvSpPr>
          <p:cNvPr id="14" name="Rectangle 13">
            <a:extLst>
              <a:ext uri="{FF2B5EF4-FFF2-40B4-BE49-F238E27FC236}">
                <a16:creationId xmlns:a16="http://schemas.microsoft.com/office/drawing/2014/main" id="{683ACC1D-E40C-BF52-ABDA-C38E96F57B45}"/>
              </a:ext>
            </a:extLst>
          </p:cNvPr>
          <p:cNvSpPr/>
          <p:nvPr/>
        </p:nvSpPr>
        <p:spPr>
          <a:xfrm>
            <a:off x="6593915" y="3005101"/>
            <a:ext cx="574140" cy="5885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&lt;</a:t>
            </a:r>
            <a:endParaRPr lang="en-NL" sz="4000" dirty="0">
              <a:solidFill>
                <a:srgbClr val="FF0000"/>
              </a:solidFill>
            </a:endParaRPr>
          </a:p>
        </p:txBody>
      </p:sp>
    </p:spTree>
    <p:extLst>
      <p:ext uri="{BB962C8B-B14F-4D97-AF65-F5344CB8AC3E}">
        <p14:creationId xmlns:p14="http://schemas.microsoft.com/office/powerpoint/2010/main" val="3181525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53C1-9A64-B090-030B-04C2D6D72E7D}"/>
              </a:ext>
            </a:extLst>
          </p:cNvPr>
          <p:cNvSpPr>
            <a:spLocks noGrp="1"/>
          </p:cNvSpPr>
          <p:nvPr>
            <p:ph type="title"/>
          </p:nvPr>
        </p:nvSpPr>
        <p:spPr/>
        <p:txBody>
          <a:bodyPr/>
          <a:lstStyle/>
          <a:p>
            <a:r>
              <a:rPr lang="en-NL" dirty="0"/>
              <a:t>Population vs Sample</a:t>
            </a:r>
          </a:p>
        </p:txBody>
      </p:sp>
      <p:pic>
        <p:nvPicPr>
          <p:cNvPr id="4" name="Picture 3">
            <a:extLst>
              <a:ext uri="{FF2B5EF4-FFF2-40B4-BE49-F238E27FC236}">
                <a16:creationId xmlns:a16="http://schemas.microsoft.com/office/drawing/2014/main" id="{47388615-E991-4488-5ED6-F44BF3C289E1}"/>
              </a:ext>
            </a:extLst>
          </p:cNvPr>
          <p:cNvPicPr>
            <a:picLocks noChangeAspect="1"/>
          </p:cNvPicPr>
          <p:nvPr/>
        </p:nvPicPr>
        <p:blipFill>
          <a:blip r:embed="rId2"/>
          <a:stretch>
            <a:fillRect/>
          </a:stretch>
        </p:blipFill>
        <p:spPr>
          <a:xfrm>
            <a:off x="2459619" y="1834989"/>
            <a:ext cx="7620000" cy="3975100"/>
          </a:xfrm>
          <a:prstGeom prst="rect">
            <a:avLst/>
          </a:prstGeom>
        </p:spPr>
      </p:pic>
    </p:spTree>
    <p:extLst>
      <p:ext uri="{BB962C8B-B14F-4D97-AF65-F5344CB8AC3E}">
        <p14:creationId xmlns:p14="http://schemas.microsoft.com/office/powerpoint/2010/main" val="37868197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AD3E0-8C98-19D9-84B0-CF937480870C}"/>
              </a:ext>
            </a:extLst>
          </p:cNvPr>
          <p:cNvSpPr>
            <a:spLocks noGrp="1"/>
          </p:cNvSpPr>
          <p:nvPr>
            <p:ph type="title"/>
          </p:nvPr>
        </p:nvSpPr>
        <p:spPr/>
        <p:txBody>
          <a:bodyPr/>
          <a:lstStyle/>
          <a:p>
            <a:r>
              <a:rPr lang="en-NL" dirty="0"/>
              <a:t>From Data to Decisions: How Do We Reason Under Uncertainty?</a:t>
            </a:r>
          </a:p>
        </p:txBody>
      </p:sp>
      <p:sp>
        <p:nvSpPr>
          <p:cNvPr id="3" name="Content Placeholder 2">
            <a:extLst>
              <a:ext uri="{FF2B5EF4-FFF2-40B4-BE49-F238E27FC236}">
                <a16:creationId xmlns:a16="http://schemas.microsoft.com/office/drawing/2014/main" id="{D8CE309A-0982-68BC-DEAA-C514450EBC2A}"/>
              </a:ext>
            </a:extLst>
          </p:cNvPr>
          <p:cNvSpPr>
            <a:spLocks noGrp="1"/>
          </p:cNvSpPr>
          <p:nvPr>
            <p:ph idx="1"/>
          </p:nvPr>
        </p:nvSpPr>
        <p:spPr/>
        <p:txBody>
          <a:bodyPr/>
          <a:lstStyle/>
          <a:p>
            <a:pPr marL="0" indent="0">
              <a:buNone/>
            </a:pPr>
            <a:r>
              <a:rPr lang="en-NL" dirty="0"/>
              <a:t>A medical test is positive. How likely is it that the patient actually has the disease?</a:t>
            </a:r>
          </a:p>
          <a:p>
            <a:pPr marL="0" indent="0">
              <a:buNone/>
            </a:pPr>
            <a:endParaRPr lang="en-NL" dirty="0"/>
          </a:p>
          <a:p>
            <a:pPr lvl="1"/>
            <a:r>
              <a:rPr lang="en-NL" dirty="0"/>
              <a:t>1% of the population has the disease. </a:t>
            </a:r>
          </a:p>
          <a:p>
            <a:pPr lvl="1"/>
            <a:r>
              <a:rPr lang="en-NL" dirty="0"/>
              <a:t>The test detects the disease 95% of the time. </a:t>
            </a:r>
          </a:p>
          <a:p>
            <a:pPr lvl="1"/>
            <a:r>
              <a:rPr lang="en-NL" dirty="0"/>
              <a:t>The test is positive for 5% of healthy people.</a:t>
            </a:r>
          </a:p>
          <a:p>
            <a:pPr marL="0" indent="0">
              <a:buNone/>
            </a:pPr>
            <a:endParaRPr lang="en-NL" dirty="0"/>
          </a:p>
        </p:txBody>
      </p:sp>
    </p:spTree>
    <p:extLst>
      <p:ext uri="{BB962C8B-B14F-4D97-AF65-F5344CB8AC3E}">
        <p14:creationId xmlns:p14="http://schemas.microsoft.com/office/powerpoint/2010/main" val="861704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1F31E-BC97-78F4-FF4A-495516F93A0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E936C9C-1713-7360-9A91-77F9675CF0B6}"/>
              </a:ext>
            </a:extLst>
          </p:cNvPr>
          <p:cNvSpPr>
            <a:spLocks noGrp="1"/>
          </p:cNvSpPr>
          <p:nvPr>
            <p:ph idx="1"/>
          </p:nvPr>
        </p:nvSpPr>
        <p:spPr/>
        <p:txBody>
          <a:bodyPr/>
          <a:lstStyle/>
          <a:p>
            <a:r>
              <a:rPr lang="en-US" dirty="0"/>
              <a:t>Probabilities are explained in three different levels of abstraction:</a:t>
            </a:r>
          </a:p>
          <a:p>
            <a:pPr lvl="1"/>
            <a:r>
              <a:rPr lang="en-US" dirty="0"/>
              <a:t>Frequency tables (counts and proportions)</a:t>
            </a:r>
          </a:p>
          <a:p>
            <a:pPr lvl="1"/>
            <a:r>
              <a:rPr lang="en-US" dirty="0"/>
              <a:t>Ven diagrams (set theory)</a:t>
            </a:r>
          </a:p>
          <a:p>
            <a:pPr lvl="1"/>
            <a:r>
              <a:rPr lang="en-US" dirty="0"/>
              <a:t>The most abstract way: the three rules of probability</a:t>
            </a:r>
            <a:endParaRPr lang="en-NL" dirty="0"/>
          </a:p>
        </p:txBody>
      </p:sp>
    </p:spTree>
    <p:extLst>
      <p:ext uri="{BB962C8B-B14F-4D97-AF65-F5344CB8AC3E}">
        <p14:creationId xmlns:p14="http://schemas.microsoft.com/office/powerpoint/2010/main" val="1604283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6A47AE-CC43-0DC1-FF32-CAF319A25B33}"/>
              </a:ext>
            </a:extLst>
          </p:cNvPr>
          <p:cNvPicPr>
            <a:picLocks noChangeAspect="1"/>
          </p:cNvPicPr>
          <p:nvPr/>
        </p:nvPicPr>
        <p:blipFill>
          <a:blip r:embed="rId3"/>
          <a:stretch>
            <a:fillRect/>
          </a:stretch>
        </p:blipFill>
        <p:spPr>
          <a:xfrm>
            <a:off x="132518" y="332943"/>
            <a:ext cx="11926964" cy="6192114"/>
          </a:xfrm>
          <a:prstGeom prst="rect">
            <a:avLst/>
          </a:prstGeom>
        </p:spPr>
      </p:pic>
    </p:spTree>
    <p:extLst>
      <p:ext uri="{BB962C8B-B14F-4D97-AF65-F5344CB8AC3E}">
        <p14:creationId xmlns:p14="http://schemas.microsoft.com/office/powerpoint/2010/main" val="25742712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D37461-8FCA-9B19-2245-4AA3E64132F2}"/>
              </a:ext>
            </a:extLst>
          </p:cNvPr>
          <p:cNvPicPr>
            <a:picLocks noChangeAspect="1"/>
          </p:cNvPicPr>
          <p:nvPr/>
        </p:nvPicPr>
        <p:blipFill>
          <a:blip r:embed="rId2"/>
          <a:stretch>
            <a:fillRect/>
          </a:stretch>
        </p:blipFill>
        <p:spPr>
          <a:xfrm>
            <a:off x="508808" y="809259"/>
            <a:ext cx="11174384" cy="5239481"/>
          </a:xfrm>
          <a:prstGeom prst="rect">
            <a:avLst/>
          </a:prstGeom>
        </p:spPr>
      </p:pic>
    </p:spTree>
    <p:extLst>
      <p:ext uri="{BB962C8B-B14F-4D97-AF65-F5344CB8AC3E}">
        <p14:creationId xmlns:p14="http://schemas.microsoft.com/office/powerpoint/2010/main" val="3718536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CB83-3B69-46A0-58E5-61447EA3687A}"/>
              </a:ext>
            </a:extLst>
          </p:cNvPr>
          <p:cNvSpPr>
            <a:spLocks noGrp="1"/>
          </p:cNvSpPr>
          <p:nvPr>
            <p:ph type="title"/>
          </p:nvPr>
        </p:nvSpPr>
        <p:spPr/>
        <p:txBody>
          <a:bodyPr/>
          <a:lstStyle/>
          <a:p>
            <a:r>
              <a:rPr lang="en-US" dirty="0"/>
              <a:t>Probabilities (Normalization)</a:t>
            </a:r>
            <a:endParaRPr lang="en-NL" dirty="0"/>
          </a:p>
        </p:txBody>
      </p:sp>
      <p:sp>
        <p:nvSpPr>
          <p:cNvPr id="5" name="Teardrop 4">
            <a:extLst>
              <a:ext uri="{FF2B5EF4-FFF2-40B4-BE49-F238E27FC236}">
                <a16:creationId xmlns:a16="http://schemas.microsoft.com/office/drawing/2014/main" id="{E2BFD94D-D59A-7A47-2CEC-CEAF2630635C}"/>
              </a:ext>
            </a:extLst>
          </p:cNvPr>
          <p:cNvSpPr/>
          <p:nvPr/>
        </p:nvSpPr>
        <p:spPr>
          <a:xfrm>
            <a:off x="3626069" y="2514600"/>
            <a:ext cx="914400" cy="914400"/>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Star: 5 Points 5">
            <a:extLst>
              <a:ext uri="{FF2B5EF4-FFF2-40B4-BE49-F238E27FC236}">
                <a16:creationId xmlns:a16="http://schemas.microsoft.com/office/drawing/2014/main" id="{BA662492-5799-F89C-A93E-4797EB961351}"/>
              </a:ext>
            </a:extLst>
          </p:cNvPr>
          <p:cNvSpPr/>
          <p:nvPr/>
        </p:nvSpPr>
        <p:spPr>
          <a:xfrm>
            <a:off x="1807779" y="2443655"/>
            <a:ext cx="914400" cy="9144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ardrop 6">
            <a:extLst>
              <a:ext uri="{FF2B5EF4-FFF2-40B4-BE49-F238E27FC236}">
                <a16:creationId xmlns:a16="http://schemas.microsoft.com/office/drawing/2014/main" id="{8F69A969-047F-561E-AA00-6BCF5B251AFB}"/>
              </a:ext>
            </a:extLst>
          </p:cNvPr>
          <p:cNvSpPr/>
          <p:nvPr/>
        </p:nvSpPr>
        <p:spPr>
          <a:xfrm>
            <a:off x="3626069" y="4181967"/>
            <a:ext cx="914400" cy="914400"/>
          </a:xfrm>
          <a:prstGeom prst="teardrop">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Star: 5 Points 7">
            <a:extLst>
              <a:ext uri="{FF2B5EF4-FFF2-40B4-BE49-F238E27FC236}">
                <a16:creationId xmlns:a16="http://schemas.microsoft.com/office/drawing/2014/main" id="{12267D65-2107-4C62-B4C6-A18A05B9E86A}"/>
              </a:ext>
            </a:extLst>
          </p:cNvPr>
          <p:cNvSpPr/>
          <p:nvPr/>
        </p:nvSpPr>
        <p:spPr>
          <a:xfrm>
            <a:off x="1807779" y="4111022"/>
            <a:ext cx="914400" cy="914400"/>
          </a:xfrm>
          <a:prstGeom prst="star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Beveled 8">
            <a:extLst>
              <a:ext uri="{FF2B5EF4-FFF2-40B4-BE49-F238E27FC236}">
                <a16:creationId xmlns:a16="http://schemas.microsoft.com/office/drawing/2014/main" id="{95702565-A5C3-10B1-B17F-59831E525AA6}"/>
              </a:ext>
            </a:extLst>
          </p:cNvPr>
          <p:cNvSpPr/>
          <p:nvPr/>
        </p:nvSpPr>
        <p:spPr>
          <a:xfrm>
            <a:off x="5444359" y="2514600"/>
            <a:ext cx="1042416" cy="1042416"/>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90DCE56-C144-152C-BA06-4855C2D92BC0}"/>
                  </a:ext>
                </a:extLst>
              </p:cNvPr>
              <p:cNvSpPr txBox="1"/>
              <p:nvPr/>
            </p:nvSpPr>
            <p:spPr>
              <a:xfrm>
                <a:off x="7536545" y="2640623"/>
                <a:ext cx="1271502"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5</m:t>
                          </m:r>
                        </m:den>
                      </m:f>
                    </m:oMath>
                  </m:oMathPara>
                </a14:m>
                <a:endParaRPr lang="en-NL" dirty="0"/>
              </a:p>
            </p:txBody>
          </p:sp>
        </mc:Choice>
        <mc:Fallback xmlns="">
          <p:sp>
            <p:nvSpPr>
              <p:cNvPr id="10" name="TextBox 9">
                <a:extLst>
                  <a:ext uri="{FF2B5EF4-FFF2-40B4-BE49-F238E27FC236}">
                    <a16:creationId xmlns:a16="http://schemas.microsoft.com/office/drawing/2014/main" id="{E90DCE56-C144-152C-BA06-4855C2D92BC0}"/>
                  </a:ext>
                </a:extLst>
              </p:cNvPr>
              <p:cNvSpPr txBox="1">
                <a:spLocks noRot="1" noChangeAspect="1" noMove="1" noResize="1" noEditPoints="1" noAdjustHandles="1" noChangeArrowheads="1" noChangeShapeType="1" noTextEdit="1"/>
              </p:cNvSpPr>
              <p:nvPr/>
            </p:nvSpPr>
            <p:spPr>
              <a:xfrm>
                <a:off x="7536545" y="2640623"/>
                <a:ext cx="1271502" cy="520463"/>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F5FBB0-A690-D8A8-DD1C-D9A7399BC614}"/>
                  </a:ext>
                </a:extLst>
              </p:cNvPr>
              <p:cNvSpPr txBox="1"/>
              <p:nvPr/>
            </p:nvSpPr>
            <p:spPr>
              <a:xfrm>
                <a:off x="7536545" y="4432803"/>
                <a:ext cx="2492477"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𝑏𝑙𝑢𝑒</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𝑜𝑟𝑎𝑛𝑔𝑒</m:t>
                          </m:r>
                        </m:e>
                      </m:d>
                      <m:r>
                        <a:rPr lang="en-US" b="0" i="1" smtClean="0">
                          <a:latin typeface="Cambria Math" panose="02040503050406030204" pitchFamily="18" charset="0"/>
                        </a:rPr>
                        <m:t>=1</m:t>
                      </m:r>
                    </m:oMath>
                  </m:oMathPara>
                </a14:m>
                <a:endParaRPr lang="en-NL" dirty="0"/>
              </a:p>
            </p:txBody>
          </p:sp>
        </mc:Choice>
        <mc:Fallback xmlns="">
          <p:sp>
            <p:nvSpPr>
              <p:cNvPr id="11" name="TextBox 10">
                <a:extLst>
                  <a:ext uri="{FF2B5EF4-FFF2-40B4-BE49-F238E27FC236}">
                    <a16:creationId xmlns:a16="http://schemas.microsoft.com/office/drawing/2014/main" id="{EDF5FBB0-A690-D8A8-DD1C-D9A7399BC614}"/>
                  </a:ext>
                </a:extLst>
              </p:cNvPr>
              <p:cNvSpPr txBox="1">
                <a:spLocks noRot="1" noChangeAspect="1" noMove="1" noResize="1" noEditPoints="1" noAdjustHandles="1" noChangeArrowheads="1" noChangeShapeType="1" noTextEdit="1"/>
              </p:cNvSpPr>
              <p:nvPr/>
            </p:nvSpPr>
            <p:spPr>
              <a:xfrm>
                <a:off x="7536545" y="4432803"/>
                <a:ext cx="2492477" cy="276999"/>
              </a:xfrm>
              <a:prstGeom prst="rect">
                <a:avLst/>
              </a:prstGeom>
              <a:blipFill>
                <a:blip r:embed="rId3"/>
                <a:stretch>
                  <a:fillRect l="-1711" r="-1956" b="-23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B9F9CA8-4F88-CFBB-A28E-73AD22D49A71}"/>
                  </a:ext>
                </a:extLst>
              </p:cNvPr>
              <p:cNvSpPr txBox="1"/>
              <p:nvPr/>
            </p:nvSpPr>
            <p:spPr>
              <a:xfrm>
                <a:off x="7536545" y="3536713"/>
                <a:ext cx="1576072"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𝑜𝑟𝑎𝑛𝑔𝑒</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5</m:t>
                          </m:r>
                        </m:den>
                      </m:f>
                    </m:oMath>
                  </m:oMathPara>
                </a14:m>
                <a:endParaRPr lang="en-NL" dirty="0"/>
              </a:p>
            </p:txBody>
          </p:sp>
        </mc:Choice>
        <mc:Fallback xmlns="">
          <p:sp>
            <p:nvSpPr>
              <p:cNvPr id="12" name="TextBox 11">
                <a:extLst>
                  <a:ext uri="{FF2B5EF4-FFF2-40B4-BE49-F238E27FC236}">
                    <a16:creationId xmlns:a16="http://schemas.microsoft.com/office/drawing/2014/main" id="{DB9F9CA8-4F88-CFBB-A28E-73AD22D49A71}"/>
                  </a:ext>
                </a:extLst>
              </p:cNvPr>
              <p:cNvSpPr txBox="1">
                <a:spLocks noRot="1" noChangeAspect="1" noMove="1" noResize="1" noEditPoints="1" noAdjustHandles="1" noChangeArrowheads="1" noChangeShapeType="1" noTextEdit="1"/>
              </p:cNvSpPr>
              <p:nvPr/>
            </p:nvSpPr>
            <p:spPr>
              <a:xfrm>
                <a:off x="7536545" y="3536713"/>
                <a:ext cx="1576072" cy="52046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83886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CB83-3B69-46A0-58E5-61447EA3687A}"/>
              </a:ext>
            </a:extLst>
          </p:cNvPr>
          <p:cNvSpPr>
            <a:spLocks noGrp="1"/>
          </p:cNvSpPr>
          <p:nvPr>
            <p:ph type="title"/>
          </p:nvPr>
        </p:nvSpPr>
        <p:spPr/>
        <p:txBody>
          <a:bodyPr/>
          <a:lstStyle/>
          <a:p>
            <a:r>
              <a:rPr lang="en-US" dirty="0"/>
              <a:t>Probabilities (</a:t>
            </a:r>
            <a:r>
              <a:rPr lang="en-US" b="0" dirty="0"/>
              <a:t>Marginalization)</a:t>
            </a:r>
            <a:endParaRPr lang="en-NL" dirty="0"/>
          </a:p>
        </p:txBody>
      </p:sp>
      <p:sp>
        <p:nvSpPr>
          <p:cNvPr id="5" name="Teardrop 4">
            <a:extLst>
              <a:ext uri="{FF2B5EF4-FFF2-40B4-BE49-F238E27FC236}">
                <a16:creationId xmlns:a16="http://schemas.microsoft.com/office/drawing/2014/main" id="{E2BFD94D-D59A-7A47-2CEC-CEAF2630635C}"/>
              </a:ext>
            </a:extLst>
          </p:cNvPr>
          <p:cNvSpPr/>
          <p:nvPr/>
        </p:nvSpPr>
        <p:spPr>
          <a:xfrm>
            <a:off x="3626069" y="2514600"/>
            <a:ext cx="914400" cy="914400"/>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Star: 5 Points 5">
            <a:extLst>
              <a:ext uri="{FF2B5EF4-FFF2-40B4-BE49-F238E27FC236}">
                <a16:creationId xmlns:a16="http://schemas.microsoft.com/office/drawing/2014/main" id="{BA662492-5799-F89C-A93E-4797EB961351}"/>
              </a:ext>
            </a:extLst>
          </p:cNvPr>
          <p:cNvSpPr/>
          <p:nvPr/>
        </p:nvSpPr>
        <p:spPr>
          <a:xfrm>
            <a:off x="1807779" y="2443655"/>
            <a:ext cx="914400" cy="9144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ardrop 6">
            <a:extLst>
              <a:ext uri="{FF2B5EF4-FFF2-40B4-BE49-F238E27FC236}">
                <a16:creationId xmlns:a16="http://schemas.microsoft.com/office/drawing/2014/main" id="{8F69A969-047F-561E-AA00-6BCF5B251AFB}"/>
              </a:ext>
            </a:extLst>
          </p:cNvPr>
          <p:cNvSpPr/>
          <p:nvPr/>
        </p:nvSpPr>
        <p:spPr>
          <a:xfrm>
            <a:off x="3626069" y="4181967"/>
            <a:ext cx="914400" cy="914400"/>
          </a:xfrm>
          <a:prstGeom prst="teardrop">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Star: 5 Points 7">
            <a:extLst>
              <a:ext uri="{FF2B5EF4-FFF2-40B4-BE49-F238E27FC236}">
                <a16:creationId xmlns:a16="http://schemas.microsoft.com/office/drawing/2014/main" id="{12267D65-2107-4C62-B4C6-A18A05B9E86A}"/>
              </a:ext>
            </a:extLst>
          </p:cNvPr>
          <p:cNvSpPr/>
          <p:nvPr/>
        </p:nvSpPr>
        <p:spPr>
          <a:xfrm>
            <a:off x="1807779" y="4111022"/>
            <a:ext cx="914400" cy="914400"/>
          </a:xfrm>
          <a:prstGeom prst="star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Beveled 8">
            <a:extLst>
              <a:ext uri="{FF2B5EF4-FFF2-40B4-BE49-F238E27FC236}">
                <a16:creationId xmlns:a16="http://schemas.microsoft.com/office/drawing/2014/main" id="{95702565-A5C3-10B1-B17F-59831E525AA6}"/>
              </a:ext>
            </a:extLst>
          </p:cNvPr>
          <p:cNvSpPr/>
          <p:nvPr/>
        </p:nvSpPr>
        <p:spPr>
          <a:xfrm>
            <a:off x="5444359" y="2514600"/>
            <a:ext cx="1042416" cy="1042416"/>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90DCE56-C144-152C-BA06-4855C2D92BC0}"/>
                  </a:ext>
                </a:extLst>
              </p:cNvPr>
              <p:cNvSpPr txBox="1"/>
              <p:nvPr/>
            </p:nvSpPr>
            <p:spPr>
              <a:xfrm>
                <a:off x="7536545" y="2640623"/>
                <a:ext cx="1263487"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𝑠𝑡𝑎𝑟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5</m:t>
                          </m:r>
                        </m:den>
                      </m:f>
                    </m:oMath>
                  </m:oMathPara>
                </a14:m>
                <a:endParaRPr lang="en-NL" dirty="0"/>
              </a:p>
            </p:txBody>
          </p:sp>
        </mc:Choice>
        <mc:Fallback xmlns="">
          <p:sp>
            <p:nvSpPr>
              <p:cNvPr id="10" name="TextBox 9">
                <a:extLst>
                  <a:ext uri="{FF2B5EF4-FFF2-40B4-BE49-F238E27FC236}">
                    <a16:creationId xmlns:a16="http://schemas.microsoft.com/office/drawing/2014/main" id="{E90DCE56-C144-152C-BA06-4855C2D92BC0}"/>
                  </a:ext>
                </a:extLst>
              </p:cNvPr>
              <p:cNvSpPr txBox="1">
                <a:spLocks noRot="1" noChangeAspect="1" noMove="1" noResize="1" noEditPoints="1" noAdjustHandles="1" noChangeArrowheads="1" noChangeShapeType="1" noTextEdit="1"/>
              </p:cNvSpPr>
              <p:nvPr/>
            </p:nvSpPr>
            <p:spPr>
              <a:xfrm>
                <a:off x="7536545" y="2640623"/>
                <a:ext cx="1263487" cy="520463"/>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F5FBB0-A690-D8A8-DD1C-D9A7399BC614}"/>
                  </a:ext>
                </a:extLst>
              </p:cNvPr>
              <p:cNvSpPr txBox="1"/>
              <p:nvPr/>
            </p:nvSpPr>
            <p:spPr>
              <a:xfrm>
                <a:off x="7536545" y="4432184"/>
                <a:ext cx="1799147"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r>
                            <a:rPr lang="en-US" b="0" i="1" smtClean="0">
                              <a:latin typeface="Cambria Math" panose="02040503050406030204" pitchFamily="18" charset="0"/>
                            </a:rPr>
                            <m:t>,</m:t>
                          </m:r>
                          <m:r>
                            <a:rPr lang="en-US" b="0" i="1" smtClean="0">
                              <a:latin typeface="Cambria Math" panose="02040503050406030204" pitchFamily="18" charset="0"/>
                            </a:rPr>
                            <m:t>𝑠𝑡𝑎𝑟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NL" dirty="0"/>
              </a:p>
            </p:txBody>
          </p:sp>
        </mc:Choice>
        <mc:Fallback xmlns="">
          <p:sp>
            <p:nvSpPr>
              <p:cNvPr id="11" name="TextBox 10">
                <a:extLst>
                  <a:ext uri="{FF2B5EF4-FFF2-40B4-BE49-F238E27FC236}">
                    <a16:creationId xmlns:a16="http://schemas.microsoft.com/office/drawing/2014/main" id="{EDF5FBB0-A690-D8A8-DD1C-D9A7399BC614}"/>
                  </a:ext>
                </a:extLst>
              </p:cNvPr>
              <p:cNvSpPr txBox="1">
                <a:spLocks noRot="1" noChangeAspect="1" noMove="1" noResize="1" noEditPoints="1" noAdjustHandles="1" noChangeArrowheads="1" noChangeShapeType="1" noTextEdit="1"/>
              </p:cNvSpPr>
              <p:nvPr/>
            </p:nvSpPr>
            <p:spPr>
              <a:xfrm>
                <a:off x="7536545" y="4432184"/>
                <a:ext cx="1799147" cy="520463"/>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B9F9CA8-4F88-CFBB-A28E-73AD22D49A71}"/>
                  </a:ext>
                </a:extLst>
              </p:cNvPr>
              <p:cNvSpPr txBox="1"/>
              <p:nvPr/>
            </p:nvSpPr>
            <p:spPr>
              <a:xfrm>
                <a:off x="7536545" y="3537333"/>
                <a:ext cx="2103716" cy="518604"/>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𝑜𝑟𝑎𝑛𝑔𝑒</m:t>
                          </m:r>
                          <m:r>
                            <a:rPr lang="en-US" b="0" i="1" smtClean="0">
                              <a:latin typeface="Cambria Math" panose="02040503050406030204" pitchFamily="18" charset="0"/>
                            </a:rPr>
                            <m:t>,</m:t>
                          </m:r>
                          <m:r>
                            <a:rPr lang="en-US" b="0" i="1" smtClean="0">
                              <a:latin typeface="Cambria Math" panose="02040503050406030204" pitchFamily="18" charset="0"/>
                            </a:rPr>
                            <m:t>𝑠𝑡𝑎𝑟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NL" dirty="0"/>
              </a:p>
            </p:txBody>
          </p:sp>
        </mc:Choice>
        <mc:Fallback xmlns="">
          <p:sp>
            <p:nvSpPr>
              <p:cNvPr id="12" name="TextBox 11">
                <a:extLst>
                  <a:ext uri="{FF2B5EF4-FFF2-40B4-BE49-F238E27FC236}">
                    <a16:creationId xmlns:a16="http://schemas.microsoft.com/office/drawing/2014/main" id="{DB9F9CA8-4F88-CFBB-A28E-73AD22D49A71}"/>
                  </a:ext>
                </a:extLst>
              </p:cNvPr>
              <p:cNvSpPr txBox="1">
                <a:spLocks noRot="1" noChangeAspect="1" noMove="1" noResize="1" noEditPoints="1" noAdjustHandles="1" noChangeArrowheads="1" noChangeShapeType="1" noTextEdit="1"/>
              </p:cNvSpPr>
              <p:nvPr/>
            </p:nvSpPr>
            <p:spPr>
              <a:xfrm>
                <a:off x="7536545" y="3537333"/>
                <a:ext cx="2103716" cy="51860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BFBC0A6-B2F1-4135-A865-6BD231741FCC}"/>
                  </a:ext>
                </a:extLst>
              </p:cNvPr>
              <p:cNvSpPr txBox="1"/>
              <p:nvPr/>
            </p:nvSpPr>
            <p:spPr>
              <a:xfrm>
                <a:off x="7536545" y="5328894"/>
                <a:ext cx="4420697"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𝑠𝑡𝑎𝑟</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𝑜𝑟𝑎𝑛𝑔𝑒</m:t>
                          </m:r>
                          <m:r>
                            <a:rPr lang="en-US" i="1">
                              <a:latin typeface="Cambria Math" panose="02040503050406030204" pitchFamily="18" charset="0"/>
                            </a:rPr>
                            <m:t>,</m:t>
                          </m:r>
                          <m:r>
                            <a:rPr lang="en-US" i="1">
                              <a:latin typeface="Cambria Math" panose="02040503050406030204" pitchFamily="18" charset="0"/>
                            </a:rPr>
                            <m:t>𝑠𝑡𝑎𝑟</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𝑏𝑙𝑢𝑒</m:t>
                          </m:r>
                          <m:r>
                            <a:rPr lang="en-US" i="1">
                              <a:latin typeface="Cambria Math" panose="02040503050406030204" pitchFamily="18" charset="0"/>
                            </a:rPr>
                            <m:t>,</m:t>
                          </m:r>
                          <m:r>
                            <a:rPr lang="en-US" i="1">
                              <a:latin typeface="Cambria Math" panose="02040503050406030204" pitchFamily="18" charset="0"/>
                            </a:rPr>
                            <m:t>𝑠𝑡𝑎𝑟</m:t>
                          </m:r>
                        </m:e>
                      </m:d>
                    </m:oMath>
                  </m:oMathPara>
                </a14:m>
                <a:endParaRPr lang="en-NL" dirty="0"/>
              </a:p>
            </p:txBody>
          </p:sp>
        </mc:Choice>
        <mc:Fallback xmlns="">
          <p:sp>
            <p:nvSpPr>
              <p:cNvPr id="13" name="TextBox 12">
                <a:extLst>
                  <a:ext uri="{FF2B5EF4-FFF2-40B4-BE49-F238E27FC236}">
                    <a16:creationId xmlns:a16="http://schemas.microsoft.com/office/drawing/2014/main" id="{5BFBC0A6-B2F1-4135-A865-6BD231741FCC}"/>
                  </a:ext>
                </a:extLst>
              </p:cNvPr>
              <p:cNvSpPr txBox="1">
                <a:spLocks noRot="1" noChangeAspect="1" noMove="1" noResize="1" noEditPoints="1" noAdjustHandles="1" noChangeArrowheads="1" noChangeShapeType="1" noTextEdit="1"/>
              </p:cNvSpPr>
              <p:nvPr/>
            </p:nvSpPr>
            <p:spPr>
              <a:xfrm>
                <a:off x="7536545" y="5328894"/>
                <a:ext cx="4420697" cy="276999"/>
              </a:xfrm>
              <a:prstGeom prst="rect">
                <a:avLst/>
              </a:prstGeom>
              <a:blipFill>
                <a:blip r:embed="rId5"/>
                <a:stretch>
                  <a:fillRect b="-23913"/>
                </a:stretch>
              </a:blipFill>
            </p:spPr>
            <p:txBody>
              <a:bodyPr/>
              <a:lstStyle/>
              <a:p>
                <a:r>
                  <a:rPr lang="en-NL">
                    <a:noFill/>
                  </a:rPr>
                  <a:t> </a:t>
                </a:r>
              </a:p>
            </p:txBody>
          </p:sp>
        </mc:Fallback>
      </mc:AlternateContent>
      <p:sp>
        <p:nvSpPr>
          <p:cNvPr id="4" name="TextBox 3">
            <a:extLst>
              <a:ext uri="{FF2B5EF4-FFF2-40B4-BE49-F238E27FC236}">
                <a16:creationId xmlns:a16="http://schemas.microsoft.com/office/drawing/2014/main" id="{FA8E5B80-34B4-D751-C1D9-960AC7647436}"/>
              </a:ext>
            </a:extLst>
          </p:cNvPr>
          <p:cNvSpPr txBox="1"/>
          <p:nvPr/>
        </p:nvSpPr>
        <p:spPr>
          <a:xfrm>
            <a:off x="1219200" y="6123543"/>
            <a:ext cx="6096000" cy="646331"/>
          </a:xfrm>
          <a:prstGeom prst="rect">
            <a:avLst/>
          </a:prstGeom>
          <a:noFill/>
        </p:spPr>
        <p:txBody>
          <a:bodyPr wrap="square">
            <a:spAutoFit/>
          </a:bodyPr>
          <a:lstStyle/>
          <a:p>
            <a:r>
              <a:rPr lang="en-US" b="0" dirty="0"/>
              <a:t>Here we do not care about the color, so we marginalize it out and the get the probabilities of the shape.</a:t>
            </a:r>
            <a:endParaRPr lang="en-NL" dirty="0"/>
          </a:p>
        </p:txBody>
      </p:sp>
    </p:spTree>
    <p:extLst>
      <p:ext uri="{BB962C8B-B14F-4D97-AF65-F5344CB8AC3E}">
        <p14:creationId xmlns:p14="http://schemas.microsoft.com/office/powerpoint/2010/main" val="1505209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CB83-3B69-46A0-58E5-61447EA3687A}"/>
              </a:ext>
            </a:extLst>
          </p:cNvPr>
          <p:cNvSpPr>
            <a:spLocks noGrp="1"/>
          </p:cNvSpPr>
          <p:nvPr>
            <p:ph type="title"/>
          </p:nvPr>
        </p:nvSpPr>
        <p:spPr/>
        <p:txBody>
          <a:bodyPr/>
          <a:lstStyle/>
          <a:p>
            <a:r>
              <a:rPr lang="en-US" dirty="0"/>
              <a:t>Conditional Probabilities</a:t>
            </a:r>
            <a:endParaRPr lang="en-NL" dirty="0"/>
          </a:p>
        </p:txBody>
      </p:sp>
      <p:sp>
        <p:nvSpPr>
          <p:cNvPr id="5" name="Teardrop 4">
            <a:extLst>
              <a:ext uri="{FF2B5EF4-FFF2-40B4-BE49-F238E27FC236}">
                <a16:creationId xmlns:a16="http://schemas.microsoft.com/office/drawing/2014/main" id="{E2BFD94D-D59A-7A47-2CEC-CEAF2630635C}"/>
              </a:ext>
            </a:extLst>
          </p:cNvPr>
          <p:cNvSpPr/>
          <p:nvPr/>
        </p:nvSpPr>
        <p:spPr>
          <a:xfrm>
            <a:off x="3626069" y="2514600"/>
            <a:ext cx="914400" cy="914400"/>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Star: 5 Points 5">
            <a:extLst>
              <a:ext uri="{FF2B5EF4-FFF2-40B4-BE49-F238E27FC236}">
                <a16:creationId xmlns:a16="http://schemas.microsoft.com/office/drawing/2014/main" id="{BA662492-5799-F89C-A93E-4797EB961351}"/>
              </a:ext>
            </a:extLst>
          </p:cNvPr>
          <p:cNvSpPr/>
          <p:nvPr/>
        </p:nvSpPr>
        <p:spPr>
          <a:xfrm>
            <a:off x="1807779" y="2443655"/>
            <a:ext cx="914400" cy="9144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ardrop 6">
            <a:extLst>
              <a:ext uri="{FF2B5EF4-FFF2-40B4-BE49-F238E27FC236}">
                <a16:creationId xmlns:a16="http://schemas.microsoft.com/office/drawing/2014/main" id="{8F69A969-047F-561E-AA00-6BCF5B251AFB}"/>
              </a:ext>
            </a:extLst>
          </p:cNvPr>
          <p:cNvSpPr/>
          <p:nvPr/>
        </p:nvSpPr>
        <p:spPr>
          <a:xfrm>
            <a:off x="3626069" y="4181967"/>
            <a:ext cx="914400" cy="914400"/>
          </a:xfrm>
          <a:prstGeom prst="teardrop">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Star: 5 Points 7">
            <a:extLst>
              <a:ext uri="{FF2B5EF4-FFF2-40B4-BE49-F238E27FC236}">
                <a16:creationId xmlns:a16="http://schemas.microsoft.com/office/drawing/2014/main" id="{12267D65-2107-4C62-B4C6-A18A05B9E86A}"/>
              </a:ext>
            </a:extLst>
          </p:cNvPr>
          <p:cNvSpPr/>
          <p:nvPr/>
        </p:nvSpPr>
        <p:spPr>
          <a:xfrm>
            <a:off x="1807779" y="4111022"/>
            <a:ext cx="914400" cy="914400"/>
          </a:xfrm>
          <a:prstGeom prst="star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Beveled 8">
            <a:extLst>
              <a:ext uri="{FF2B5EF4-FFF2-40B4-BE49-F238E27FC236}">
                <a16:creationId xmlns:a16="http://schemas.microsoft.com/office/drawing/2014/main" id="{95702565-A5C3-10B1-B17F-59831E525AA6}"/>
              </a:ext>
            </a:extLst>
          </p:cNvPr>
          <p:cNvSpPr/>
          <p:nvPr/>
        </p:nvSpPr>
        <p:spPr>
          <a:xfrm>
            <a:off x="5444359" y="2514600"/>
            <a:ext cx="1042416" cy="1042416"/>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90DCE56-C144-152C-BA06-4855C2D92BC0}"/>
                  </a:ext>
                </a:extLst>
              </p:cNvPr>
              <p:cNvSpPr txBox="1"/>
              <p:nvPr/>
            </p:nvSpPr>
            <p:spPr>
              <a:xfrm>
                <a:off x="7536545" y="2640623"/>
                <a:ext cx="1271502"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5</m:t>
                          </m:r>
                        </m:den>
                      </m:f>
                    </m:oMath>
                  </m:oMathPara>
                </a14:m>
                <a:endParaRPr lang="en-NL" dirty="0"/>
              </a:p>
            </p:txBody>
          </p:sp>
        </mc:Choice>
        <mc:Fallback xmlns="">
          <p:sp>
            <p:nvSpPr>
              <p:cNvPr id="10" name="TextBox 9">
                <a:extLst>
                  <a:ext uri="{FF2B5EF4-FFF2-40B4-BE49-F238E27FC236}">
                    <a16:creationId xmlns:a16="http://schemas.microsoft.com/office/drawing/2014/main" id="{E90DCE56-C144-152C-BA06-4855C2D92BC0}"/>
                  </a:ext>
                </a:extLst>
              </p:cNvPr>
              <p:cNvSpPr txBox="1">
                <a:spLocks noRot="1" noChangeAspect="1" noMove="1" noResize="1" noEditPoints="1" noAdjustHandles="1" noChangeArrowheads="1" noChangeShapeType="1" noTextEdit="1"/>
              </p:cNvSpPr>
              <p:nvPr/>
            </p:nvSpPr>
            <p:spPr>
              <a:xfrm>
                <a:off x="7536545" y="2640623"/>
                <a:ext cx="1271502" cy="520463"/>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F5FBB0-A690-D8A8-DD1C-D9A7399BC614}"/>
                  </a:ext>
                </a:extLst>
              </p:cNvPr>
              <p:cNvSpPr txBox="1"/>
              <p:nvPr/>
            </p:nvSpPr>
            <p:spPr>
              <a:xfrm>
                <a:off x="7536545" y="4432803"/>
                <a:ext cx="1799147"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r>
                            <a:rPr lang="en-US" b="0" i="1" smtClean="0">
                              <a:latin typeface="Cambria Math" panose="02040503050406030204" pitchFamily="18" charset="0"/>
                            </a:rPr>
                            <m:t>,</m:t>
                          </m:r>
                          <m:r>
                            <a:rPr lang="en-US" b="0" i="1" smtClean="0">
                              <a:latin typeface="Cambria Math" panose="02040503050406030204" pitchFamily="18" charset="0"/>
                            </a:rPr>
                            <m:t>𝑠𝑡𝑎𝑟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NL" dirty="0"/>
              </a:p>
            </p:txBody>
          </p:sp>
        </mc:Choice>
        <mc:Fallback xmlns="">
          <p:sp>
            <p:nvSpPr>
              <p:cNvPr id="11" name="TextBox 10">
                <a:extLst>
                  <a:ext uri="{FF2B5EF4-FFF2-40B4-BE49-F238E27FC236}">
                    <a16:creationId xmlns:a16="http://schemas.microsoft.com/office/drawing/2014/main" id="{EDF5FBB0-A690-D8A8-DD1C-D9A7399BC614}"/>
                  </a:ext>
                </a:extLst>
              </p:cNvPr>
              <p:cNvSpPr txBox="1">
                <a:spLocks noRot="1" noChangeAspect="1" noMove="1" noResize="1" noEditPoints="1" noAdjustHandles="1" noChangeArrowheads="1" noChangeShapeType="1" noTextEdit="1"/>
              </p:cNvSpPr>
              <p:nvPr/>
            </p:nvSpPr>
            <p:spPr>
              <a:xfrm>
                <a:off x="7536545" y="4432803"/>
                <a:ext cx="1799147" cy="520463"/>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B9F9CA8-4F88-CFBB-A28E-73AD22D49A71}"/>
                  </a:ext>
                </a:extLst>
              </p:cNvPr>
              <p:cNvSpPr txBox="1"/>
              <p:nvPr/>
            </p:nvSpPr>
            <p:spPr>
              <a:xfrm>
                <a:off x="7536545" y="3536713"/>
                <a:ext cx="1786323"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𝑠𝑡𝑎𝑟</m:t>
                          </m:r>
                          <m:r>
                            <a:rPr lang="en-US" b="0" i="1" smtClean="0">
                              <a:latin typeface="Cambria Math" panose="02040503050406030204" pitchFamily="18" charset="0"/>
                            </a:rPr>
                            <m:t>|</m:t>
                          </m:r>
                          <m:r>
                            <a:rPr lang="en-US" b="0" i="1" smtClean="0">
                              <a:latin typeface="Cambria Math" panose="02040503050406030204" pitchFamily="18" charset="0"/>
                            </a:rPr>
                            <m:t>𝑏𝑙𝑢𝑒</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m:t>
                          </m:r>
                        </m:den>
                      </m:f>
                    </m:oMath>
                  </m:oMathPara>
                </a14:m>
                <a:endParaRPr lang="en-NL" dirty="0"/>
              </a:p>
            </p:txBody>
          </p:sp>
        </mc:Choice>
        <mc:Fallback xmlns="">
          <p:sp>
            <p:nvSpPr>
              <p:cNvPr id="12" name="TextBox 11">
                <a:extLst>
                  <a:ext uri="{FF2B5EF4-FFF2-40B4-BE49-F238E27FC236}">
                    <a16:creationId xmlns:a16="http://schemas.microsoft.com/office/drawing/2014/main" id="{DB9F9CA8-4F88-CFBB-A28E-73AD22D49A71}"/>
                  </a:ext>
                </a:extLst>
              </p:cNvPr>
              <p:cNvSpPr txBox="1">
                <a:spLocks noRot="1" noChangeAspect="1" noMove="1" noResize="1" noEditPoints="1" noAdjustHandles="1" noChangeArrowheads="1" noChangeShapeType="1" noTextEdit="1"/>
              </p:cNvSpPr>
              <p:nvPr/>
            </p:nvSpPr>
            <p:spPr>
              <a:xfrm>
                <a:off x="7536545" y="3536713"/>
                <a:ext cx="1786323" cy="520463"/>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BFBC0A6-B2F1-4135-A865-6BD231741FCC}"/>
                  </a:ext>
                </a:extLst>
              </p:cNvPr>
              <p:cNvSpPr txBox="1"/>
              <p:nvPr/>
            </p:nvSpPr>
            <p:spPr>
              <a:xfrm>
                <a:off x="7536545" y="5328894"/>
                <a:ext cx="4124142"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r>
                            <a:rPr lang="en-US" b="0" i="1" smtClean="0">
                              <a:latin typeface="Cambria Math" panose="02040503050406030204" pitchFamily="18" charset="0"/>
                            </a:rPr>
                            <m:t>,</m:t>
                          </m:r>
                          <m:r>
                            <a:rPr lang="en-US" b="0" i="1" smtClean="0">
                              <a:latin typeface="Cambria Math" panose="02040503050406030204" pitchFamily="18" charset="0"/>
                            </a:rPr>
                            <m:t>𝑠𝑡𝑎𝑟</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𝑠𝑡𝑎𝑟𝑡</m:t>
                      </m:r>
                      <m:r>
                        <a:rPr lang="en-US" b="0" i="1" smtClean="0">
                          <a:latin typeface="Cambria Math" panose="02040503050406030204" pitchFamily="18" charset="0"/>
                        </a:rPr>
                        <m:t>|</m:t>
                      </m:r>
                      <m:r>
                        <a:rPr lang="en-US" b="0" i="1" smtClean="0">
                          <a:latin typeface="Cambria Math" panose="02040503050406030204" pitchFamily="18" charset="0"/>
                        </a:rPr>
                        <m:t>𝑏𝑙𝑢𝑒</m:t>
                      </m:r>
                      <m:r>
                        <a:rPr lang="en-US" b="0" i="1" smtClean="0">
                          <a:latin typeface="Cambria Math" panose="02040503050406030204" pitchFamily="18" charset="0"/>
                        </a:rPr>
                        <m:t>)</m:t>
                      </m:r>
                    </m:oMath>
                  </m:oMathPara>
                </a14:m>
                <a:endParaRPr lang="en-NL" dirty="0"/>
              </a:p>
            </p:txBody>
          </p:sp>
        </mc:Choice>
        <mc:Fallback xmlns="">
          <p:sp>
            <p:nvSpPr>
              <p:cNvPr id="13" name="TextBox 12">
                <a:extLst>
                  <a:ext uri="{FF2B5EF4-FFF2-40B4-BE49-F238E27FC236}">
                    <a16:creationId xmlns:a16="http://schemas.microsoft.com/office/drawing/2014/main" id="{5BFBC0A6-B2F1-4135-A865-6BD231741FCC}"/>
                  </a:ext>
                </a:extLst>
              </p:cNvPr>
              <p:cNvSpPr txBox="1">
                <a:spLocks noRot="1" noChangeAspect="1" noMove="1" noResize="1" noEditPoints="1" noAdjustHandles="1" noChangeArrowheads="1" noChangeShapeType="1" noTextEdit="1"/>
              </p:cNvSpPr>
              <p:nvPr/>
            </p:nvSpPr>
            <p:spPr>
              <a:xfrm>
                <a:off x="7536545" y="5328894"/>
                <a:ext cx="4124142" cy="276999"/>
              </a:xfrm>
              <a:prstGeom prst="rect">
                <a:avLst/>
              </a:prstGeom>
              <a:blipFill>
                <a:blip r:embed="rId5"/>
                <a:stretch>
                  <a:fillRect l="-886" t="-2174" r="-1477" b="-32609"/>
                </a:stretch>
              </a:blipFill>
            </p:spPr>
            <p:txBody>
              <a:bodyPr/>
              <a:lstStyle/>
              <a:p>
                <a:r>
                  <a:rPr lang="en-NL">
                    <a:noFill/>
                  </a:rPr>
                  <a:t> </a:t>
                </a:r>
              </a:p>
            </p:txBody>
          </p:sp>
        </mc:Fallback>
      </mc:AlternateContent>
    </p:spTree>
    <p:extLst>
      <p:ext uri="{BB962C8B-B14F-4D97-AF65-F5344CB8AC3E}">
        <p14:creationId xmlns:p14="http://schemas.microsoft.com/office/powerpoint/2010/main" val="74466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CB83-3B69-46A0-58E5-61447EA3687A}"/>
              </a:ext>
            </a:extLst>
          </p:cNvPr>
          <p:cNvSpPr>
            <a:spLocks noGrp="1"/>
          </p:cNvSpPr>
          <p:nvPr>
            <p:ph type="title"/>
          </p:nvPr>
        </p:nvSpPr>
        <p:spPr/>
        <p:txBody>
          <a:bodyPr/>
          <a:lstStyle/>
          <a:p>
            <a:r>
              <a:rPr lang="en-US" dirty="0"/>
              <a:t>Conditional Probabilities</a:t>
            </a:r>
            <a:endParaRPr lang="en-NL" dirty="0"/>
          </a:p>
        </p:txBody>
      </p:sp>
      <p:sp>
        <p:nvSpPr>
          <p:cNvPr id="5" name="Teardrop 4">
            <a:extLst>
              <a:ext uri="{FF2B5EF4-FFF2-40B4-BE49-F238E27FC236}">
                <a16:creationId xmlns:a16="http://schemas.microsoft.com/office/drawing/2014/main" id="{E2BFD94D-D59A-7A47-2CEC-CEAF2630635C}"/>
              </a:ext>
            </a:extLst>
          </p:cNvPr>
          <p:cNvSpPr/>
          <p:nvPr/>
        </p:nvSpPr>
        <p:spPr>
          <a:xfrm>
            <a:off x="3626069" y="2514600"/>
            <a:ext cx="914400" cy="914400"/>
          </a:xfrm>
          <a:prstGeom prst="teardrop">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Star: 5 Points 5">
            <a:extLst>
              <a:ext uri="{FF2B5EF4-FFF2-40B4-BE49-F238E27FC236}">
                <a16:creationId xmlns:a16="http://schemas.microsoft.com/office/drawing/2014/main" id="{BA662492-5799-F89C-A93E-4797EB961351}"/>
              </a:ext>
            </a:extLst>
          </p:cNvPr>
          <p:cNvSpPr/>
          <p:nvPr/>
        </p:nvSpPr>
        <p:spPr>
          <a:xfrm>
            <a:off x="1807779" y="2443655"/>
            <a:ext cx="914400" cy="9144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ardrop 6">
            <a:extLst>
              <a:ext uri="{FF2B5EF4-FFF2-40B4-BE49-F238E27FC236}">
                <a16:creationId xmlns:a16="http://schemas.microsoft.com/office/drawing/2014/main" id="{8F69A969-047F-561E-AA00-6BCF5B251AFB}"/>
              </a:ext>
            </a:extLst>
          </p:cNvPr>
          <p:cNvSpPr/>
          <p:nvPr/>
        </p:nvSpPr>
        <p:spPr>
          <a:xfrm>
            <a:off x="3626069" y="4181967"/>
            <a:ext cx="914400" cy="914400"/>
          </a:xfrm>
          <a:prstGeom prst="teardrop">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Star: 5 Points 7">
            <a:extLst>
              <a:ext uri="{FF2B5EF4-FFF2-40B4-BE49-F238E27FC236}">
                <a16:creationId xmlns:a16="http://schemas.microsoft.com/office/drawing/2014/main" id="{12267D65-2107-4C62-B4C6-A18A05B9E86A}"/>
              </a:ext>
            </a:extLst>
          </p:cNvPr>
          <p:cNvSpPr/>
          <p:nvPr/>
        </p:nvSpPr>
        <p:spPr>
          <a:xfrm>
            <a:off x="1807779" y="4111022"/>
            <a:ext cx="914400" cy="914400"/>
          </a:xfrm>
          <a:prstGeom prst="star5">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Beveled 8">
            <a:extLst>
              <a:ext uri="{FF2B5EF4-FFF2-40B4-BE49-F238E27FC236}">
                <a16:creationId xmlns:a16="http://schemas.microsoft.com/office/drawing/2014/main" id="{95702565-A5C3-10B1-B17F-59831E525AA6}"/>
              </a:ext>
            </a:extLst>
          </p:cNvPr>
          <p:cNvSpPr/>
          <p:nvPr/>
        </p:nvSpPr>
        <p:spPr>
          <a:xfrm>
            <a:off x="5444359" y="2514600"/>
            <a:ext cx="1042416" cy="1042416"/>
          </a:xfrm>
          <a:prstGeom prst="beve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90DCE56-C144-152C-BA06-4855C2D92BC0}"/>
                  </a:ext>
                </a:extLst>
              </p:cNvPr>
              <p:cNvSpPr txBox="1"/>
              <p:nvPr/>
            </p:nvSpPr>
            <p:spPr>
              <a:xfrm>
                <a:off x="7536545" y="2640623"/>
                <a:ext cx="1263487"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𝑠𝑡𝑎𝑟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5</m:t>
                          </m:r>
                        </m:den>
                      </m:f>
                    </m:oMath>
                  </m:oMathPara>
                </a14:m>
                <a:endParaRPr lang="en-NL" dirty="0"/>
              </a:p>
            </p:txBody>
          </p:sp>
        </mc:Choice>
        <mc:Fallback xmlns="">
          <p:sp>
            <p:nvSpPr>
              <p:cNvPr id="10" name="TextBox 9">
                <a:extLst>
                  <a:ext uri="{FF2B5EF4-FFF2-40B4-BE49-F238E27FC236}">
                    <a16:creationId xmlns:a16="http://schemas.microsoft.com/office/drawing/2014/main" id="{E90DCE56-C144-152C-BA06-4855C2D92BC0}"/>
                  </a:ext>
                </a:extLst>
              </p:cNvPr>
              <p:cNvSpPr txBox="1">
                <a:spLocks noRot="1" noChangeAspect="1" noMove="1" noResize="1" noEditPoints="1" noAdjustHandles="1" noChangeArrowheads="1" noChangeShapeType="1" noTextEdit="1"/>
              </p:cNvSpPr>
              <p:nvPr/>
            </p:nvSpPr>
            <p:spPr>
              <a:xfrm>
                <a:off x="7536545" y="2640623"/>
                <a:ext cx="1263487" cy="520463"/>
              </a:xfrm>
              <a:prstGeom prst="rect">
                <a:avLst/>
              </a:prstGeom>
              <a:blipFill>
                <a:blip r:embed="rId2"/>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F5FBB0-A690-D8A8-DD1C-D9A7399BC614}"/>
                  </a:ext>
                </a:extLst>
              </p:cNvPr>
              <p:cNvSpPr txBox="1"/>
              <p:nvPr/>
            </p:nvSpPr>
            <p:spPr>
              <a:xfrm>
                <a:off x="7536545" y="4432184"/>
                <a:ext cx="1799147" cy="5204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r>
                            <a:rPr lang="en-US" b="0" i="1" smtClean="0">
                              <a:latin typeface="Cambria Math" panose="02040503050406030204" pitchFamily="18" charset="0"/>
                            </a:rPr>
                            <m:t>,</m:t>
                          </m:r>
                          <m:r>
                            <a:rPr lang="en-US" b="0" i="1" smtClean="0">
                              <a:latin typeface="Cambria Math" panose="02040503050406030204" pitchFamily="18" charset="0"/>
                            </a:rPr>
                            <m:t>𝑠𝑡𝑎𝑟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5</m:t>
                          </m:r>
                        </m:den>
                      </m:f>
                    </m:oMath>
                  </m:oMathPara>
                </a14:m>
                <a:endParaRPr lang="en-NL" dirty="0"/>
              </a:p>
            </p:txBody>
          </p:sp>
        </mc:Choice>
        <mc:Fallback xmlns="">
          <p:sp>
            <p:nvSpPr>
              <p:cNvPr id="11" name="TextBox 10">
                <a:extLst>
                  <a:ext uri="{FF2B5EF4-FFF2-40B4-BE49-F238E27FC236}">
                    <a16:creationId xmlns:a16="http://schemas.microsoft.com/office/drawing/2014/main" id="{EDF5FBB0-A690-D8A8-DD1C-D9A7399BC614}"/>
                  </a:ext>
                </a:extLst>
              </p:cNvPr>
              <p:cNvSpPr txBox="1">
                <a:spLocks noRot="1" noChangeAspect="1" noMove="1" noResize="1" noEditPoints="1" noAdjustHandles="1" noChangeArrowheads="1" noChangeShapeType="1" noTextEdit="1"/>
              </p:cNvSpPr>
              <p:nvPr/>
            </p:nvSpPr>
            <p:spPr>
              <a:xfrm>
                <a:off x="7536545" y="4432184"/>
                <a:ext cx="1799147" cy="520463"/>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B9F9CA8-4F88-CFBB-A28E-73AD22D49A71}"/>
                  </a:ext>
                </a:extLst>
              </p:cNvPr>
              <p:cNvSpPr txBox="1"/>
              <p:nvPr/>
            </p:nvSpPr>
            <p:spPr>
              <a:xfrm>
                <a:off x="7536545" y="3537333"/>
                <a:ext cx="1786322" cy="518604"/>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r>
                            <a:rPr lang="en-US" b="0" i="1" smtClean="0">
                              <a:latin typeface="Cambria Math" panose="02040503050406030204" pitchFamily="18" charset="0"/>
                            </a:rPr>
                            <m:t>|</m:t>
                          </m:r>
                          <m:r>
                            <a:rPr lang="en-US" b="0" i="1" smtClean="0">
                              <a:latin typeface="Cambria Math" panose="02040503050406030204" pitchFamily="18" charset="0"/>
                            </a:rPr>
                            <m:t>𝑠𝑡𝑎𝑟</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m:oMathPara>
                </a14:m>
                <a:endParaRPr lang="en-NL" dirty="0"/>
              </a:p>
            </p:txBody>
          </p:sp>
        </mc:Choice>
        <mc:Fallback xmlns="">
          <p:sp>
            <p:nvSpPr>
              <p:cNvPr id="12" name="TextBox 11">
                <a:extLst>
                  <a:ext uri="{FF2B5EF4-FFF2-40B4-BE49-F238E27FC236}">
                    <a16:creationId xmlns:a16="http://schemas.microsoft.com/office/drawing/2014/main" id="{DB9F9CA8-4F88-CFBB-A28E-73AD22D49A71}"/>
                  </a:ext>
                </a:extLst>
              </p:cNvPr>
              <p:cNvSpPr txBox="1">
                <a:spLocks noRot="1" noChangeAspect="1" noMove="1" noResize="1" noEditPoints="1" noAdjustHandles="1" noChangeArrowheads="1" noChangeShapeType="1" noTextEdit="1"/>
              </p:cNvSpPr>
              <p:nvPr/>
            </p:nvSpPr>
            <p:spPr>
              <a:xfrm>
                <a:off x="7536545" y="3537333"/>
                <a:ext cx="1786322" cy="518604"/>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BFBC0A6-B2F1-4135-A865-6BD231741FCC}"/>
                  </a:ext>
                </a:extLst>
              </p:cNvPr>
              <p:cNvSpPr txBox="1"/>
              <p:nvPr/>
            </p:nvSpPr>
            <p:spPr>
              <a:xfrm>
                <a:off x="7536545" y="5328894"/>
                <a:ext cx="4124142" cy="27699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r>
                            <a:rPr lang="en-US" b="0" i="1" smtClean="0">
                              <a:latin typeface="Cambria Math" panose="02040503050406030204" pitchFamily="18" charset="0"/>
                            </a:rPr>
                            <m:t>,</m:t>
                          </m:r>
                          <m:r>
                            <a:rPr lang="en-US" b="0" i="1" smtClean="0">
                              <a:latin typeface="Cambria Math" panose="02040503050406030204" pitchFamily="18" charset="0"/>
                            </a:rPr>
                            <m:t>𝑠𝑡𝑎𝑟</m:t>
                          </m:r>
                        </m:e>
                      </m:d>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𝑏𝑙𝑢𝑒</m:t>
                          </m:r>
                        </m:e>
                      </m:d>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𝑠𝑡𝑎𝑟𝑡</m:t>
                      </m:r>
                      <m:r>
                        <a:rPr lang="en-US" b="0" i="1" smtClean="0">
                          <a:latin typeface="Cambria Math" panose="02040503050406030204" pitchFamily="18" charset="0"/>
                        </a:rPr>
                        <m:t>|</m:t>
                      </m:r>
                      <m:r>
                        <a:rPr lang="en-US" b="0" i="1" smtClean="0">
                          <a:latin typeface="Cambria Math" panose="02040503050406030204" pitchFamily="18" charset="0"/>
                        </a:rPr>
                        <m:t>𝑏𝑙𝑢𝑒</m:t>
                      </m:r>
                      <m:r>
                        <a:rPr lang="en-US" b="0" i="1" smtClean="0">
                          <a:latin typeface="Cambria Math" panose="02040503050406030204" pitchFamily="18" charset="0"/>
                        </a:rPr>
                        <m:t>)</m:t>
                      </m:r>
                    </m:oMath>
                  </m:oMathPara>
                </a14:m>
                <a:endParaRPr lang="en-NL" dirty="0"/>
              </a:p>
            </p:txBody>
          </p:sp>
        </mc:Choice>
        <mc:Fallback xmlns="">
          <p:sp>
            <p:nvSpPr>
              <p:cNvPr id="13" name="TextBox 12">
                <a:extLst>
                  <a:ext uri="{FF2B5EF4-FFF2-40B4-BE49-F238E27FC236}">
                    <a16:creationId xmlns:a16="http://schemas.microsoft.com/office/drawing/2014/main" id="{5BFBC0A6-B2F1-4135-A865-6BD231741FCC}"/>
                  </a:ext>
                </a:extLst>
              </p:cNvPr>
              <p:cNvSpPr txBox="1">
                <a:spLocks noRot="1" noChangeAspect="1" noMove="1" noResize="1" noEditPoints="1" noAdjustHandles="1" noChangeArrowheads="1" noChangeShapeType="1" noTextEdit="1"/>
              </p:cNvSpPr>
              <p:nvPr/>
            </p:nvSpPr>
            <p:spPr>
              <a:xfrm>
                <a:off x="7536545" y="5328894"/>
                <a:ext cx="4124142" cy="276999"/>
              </a:xfrm>
              <a:prstGeom prst="rect">
                <a:avLst/>
              </a:prstGeom>
              <a:blipFill>
                <a:blip r:embed="rId5"/>
                <a:stretch>
                  <a:fillRect l="-886" t="-2174" r="-1477" b="-32609"/>
                </a:stretch>
              </a:blipFill>
            </p:spPr>
            <p:txBody>
              <a:bodyPr/>
              <a:lstStyle/>
              <a:p>
                <a:r>
                  <a:rPr lang="en-NL">
                    <a:noFill/>
                  </a:rPr>
                  <a:t> </a:t>
                </a:r>
              </a:p>
            </p:txBody>
          </p:sp>
        </mc:Fallback>
      </mc:AlternateContent>
    </p:spTree>
    <p:extLst>
      <p:ext uri="{BB962C8B-B14F-4D97-AF65-F5344CB8AC3E}">
        <p14:creationId xmlns:p14="http://schemas.microsoft.com/office/powerpoint/2010/main" val="785013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B1F099D-C28A-83A2-4246-ED3757D43488}"/>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dirty="0">
                <a:solidFill>
                  <a:srgbClr val="FFFFFF"/>
                </a:solidFill>
                <a:latin typeface="+mj-lt"/>
                <a:ea typeface="+mj-ea"/>
                <a:cs typeface="+mj-cs"/>
              </a:rPr>
              <a:t>Probabilities</a:t>
            </a: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045241-DAFA-9E7B-86ED-3F7FCB67D43D}"/>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14:m>
                  <m:oMath xmlns:m="http://schemas.openxmlformats.org/officeDocument/2006/math">
                    <m:nary>
                      <m:naryPr>
                        <m:chr m:val="∑"/>
                        <m:supHide m:val="on"/>
                        <m:ctrlPr>
                          <a:rPr lang="en-US" b="0" i="1">
                            <a:latin typeface="Cambria Math" panose="02040503050406030204" pitchFamily="18" charset="0"/>
                          </a:rPr>
                        </m:ctrlPr>
                      </m:naryPr>
                      <m:sub>
                        <m:r>
                          <a:rPr lang="en-US" b="0" i="1">
                            <a:latin typeface="Cambria Math" panose="02040503050406030204" pitchFamily="18" charset="0"/>
                          </a:rPr>
                          <m:t>𝑥</m:t>
                        </m:r>
                      </m:sub>
                      <m:sup/>
                      <m:e>
                        <m:r>
                          <a:rPr lang="en-US" b="0" i="1">
                            <a:latin typeface="Cambria Math" panose="02040503050406030204" pitchFamily="18" charset="0"/>
                          </a:rPr>
                          <m:t>𝑃</m:t>
                        </m:r>
                        <m:r>
                          <a:rPr lang="en-US" b="0" i="1">
                            <a:latin typeface="Cambria Math" panose="02040503050406030204" pitchFamily="18" charset="0"/>
                          </a:rPr>
                          <m:t>(</m:t>
                        </m:r>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e>
                    </m:nary>
                    <m:r>
                      <a:rPr lang="en-US" b="0" i="1">
                        <a:latin typeface="Cambria Math" panose="02040503050406030204" pitchFamily="18" charset="0"/>
                      </a:rPr>
                      <m:t>=1</m:t>
                    </m:r>
                  </m:oMath>
                </a14:m>
                <a:r>
                  <a:rPr lang="en-US" b="0" dirty="0"/>
                  <a:t> (Normalization)</a:t>
                </a:r>
              </a:p>
              <a:p>
                <a:pPr indent="-228600">
                  <a:lnSpc>
                    <a:spcPct val="90000"/>
                  </a:lnSpc>
                  <a:spcAft>
                    <a:spcPts val="600"/>
                  </a:spcAft>
                  <a:buFont typeface="Arial" panose="020B0604020202020204" pitchFamily="34" charset="0"/>
                  <a:buChar char="•"/>
                </a:pPr>
                <a:endParaRPr lang="en-US" b="0" i="1" dirty="0"/>
              </a:p>
              <a:p>
                <a:pPr indent="-228600">
                  <a:lnSpc>
                    <a:spcPct val="90000"/>
                  </a:lnSpc>
                  <a:spcAft>
                    <a:spcPts val="600"/>
                  </a:spcAft>
                  <a:buFont typeface="Arial" panose="020B0604020202020204" pitchFamily="34" charset="0"/>
                  <a:buChar char="•"/>
                </a:pPr>
                <a:endParaRPr lang="en-US" b="0" i="1" dirty="0"/>
              </a:p>
              <a:p>
                <a:pPr indent="-228600">
                  <a:lnSpc>
                    <a:spcPct val="90000"/>
                  </a:lnSpc>
                  <a:spcAft>
                    <a:spcPts val="600"/>
                  </a:spcAft>
                  <a:buFont typeface="Arial" panose="020B0604020202020204" pitchFamily="34" charset="0"/>
                  <a:buChar char="•"/>
                </a:pPr>
                <a14:m>
                  <m:oMath xmlns:m="http://schemas.openxmlformats.org/officeDocument/2006/math">
                    <m:nary>
                      <m:naryPr>
                        <m:chr m:val="∑"/>
                        <m:supHide m:val="on"/>
                        <m:ctrlPr>
                          <a:rPr lang="en-US" b="0" i="1">
                            <a:latin typeface="Cambria Math" panose="02040503050406030204" pitchFamily="18" charset="0"/>
                          </a:rPr>
                        </m:ctrlPr>
                      </m:naryPr>
                      <m:sub>
                        <m:r>
                          <a:rPr lang="en-US" b="0" i="1">
                            <a:latin typeface="Cambria Math" panose="02040503050406030204" pitchFamily="18" charset="0"/>
                          </a:rPr>
                          <m:t>𝑥</m:t>
                        </m:r>
                      </m:sub>
                      <m:sup/>
                      <m:e>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d>
                      </m:e>
                    </m:nary>
                    <m:r>
                      <a:rPr lang="en-US" b="0" i="1">
                        <a:latin typeface="Cambria Math" panose="02040503050406030204" pitchFamily="18" charset="0"/>
                      </a:rPr>
                      <m:t>=</m:t>
                    </m:r>
                    <m:r>
                      <a:rPr lang="en-US" b="0" i="1">
                        <a:latin typeface="Cambria Math" panose="02040503050406030204" pitchFamily="18" charset="0"/>
                      </a:rPr>
                      <m:t>𝑃</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r>
                      <a:rPr lang="en-US" b="0" i="1">
                        <a:latin typeface="Cambria Math" panose="02040503050406030204" pitchFamily="18" charset="0"/>
                      </a:rPr>
                      <m:t>)</m:t>
                    </m:r>
                  </m:oMath>
                </a14:m>
                <a:r>
                  <a:rPr lang="en-US" b="0" dirty="0"/>
                  <a:t> (Marginalization)</a:t>
                </a:r>
              </a:p>
              <a:p>
                <a:pPr indent="-228600">
                  <a:lnSpc>
                    <a:spcPct val="90000"/>
                  </a:lnSpc>
                  <a:spcAft>
                    <a:spcPts val="600"/>
                  </a:spcAft>
                  <a:buFont typeface="Arial" panose="020B0604020202020204" pitchFamily="34" charset="0"/>
                  <a:buChar char="•"/>
                </a:pPr>
                <a:endParaRPr lang="en-US" b="0" i="1" dirty="0"/>
              </a:p>
              <a:p>
                <a:pPr indent="-228600">
                  <a:lnSpc>
                    <a:spcPct val="90000"/>
                  </a:lnSpc>
                  <a:spcAft>
                    <a:spcPts val="600"/>
                  </a:spcAft>
                  <a:buFont typeface="Arial" panose="020B0604020202020204" pitchFamily="34" charset="0"/>
                  <a:buChar char="•"/>
                </a:pPr>
                <a:endParaRPr lang="en-US" b="0" i="1" dirty="0"/>
              </a:p>
              <a:p>
                <a:pPr indent="-228600">
                  <a:lnSpc>
                    <a:spcPct val="90000"/>
                  </a:lnSpc>
                  <a:spcAft>
                    <a:spcPts val="600"/>
                  </a:spcAft>
                  <a:buFont typeface="Arial" panose="020B0604020202020204" pitchFamily="34" charset="0"/>
                  <a:buChar char="•"/>
                </a:pP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e>
                      <m:e>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r>
                          <a:rPr lang="en-US" b="0" i="1">
                            <a:latin typeface="Cambria Math" panose="02040503050406030204" pitchFamily="18" charset="0"/>
                          </a:rPr>
                          <m:t> </m:t>
                        </m:r>
                      </m:e>
                    </m:d>
                    <m:r>
                      <a:rPr lang="en-US" b="0" i="1">
                        <a:latin typeface="Cambria Math" panose="02040503050406030204" pitchFamily="18" charset="0"/>
                      </a:rPr>
                      <m:t>𝑃</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r>
                      <a:rPr lang="en-US" b="0" i="1">
                        <a:latin typeface="Cambria Math" panose="02040503050406030204" pitchFamily="18" charset="0"/>
                      </a:rPr>
                      <m:t>)</m:t>
                    </m:r>
                  </m:oMath>
                </a14:m>
                <a:r>
                  <a:rPr lang="en-US" b="0" dirty="0"/>
                  <a:t> (Conditioning)</a:t>
                </a:r>
              </a:p>
            </p:txBody>
          </p:sp>
        </mc:Choice>
        <mc:Fallback xmlns="">
          <p:sp>
            <p:nvSpPr>
              <p:cNvPr id="4" name="TextBox 3">
                <a:extLst>
                  <a:ext uri="{FF2B5EF4-FFF2-40B4-BE49-F238E27FC236}">
                    <a16:creationId xmlns:a16="http://schemas.microsoft.com/office/drawing/2014/main" id="{35045241-DAFA-9E7B-86ED-3F7FCB67D43D}"/>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3"/>
                <a:stretch>
                  <a:fillRect l="-1590"/>
                </a:stretch>
              </a:blipFill>
            </p:spPr>
            <p:txBody>
              <a:bodyPr/>
              <a:lstStyle/>
              <a:p>
                <a:r>
                  <a:rPr lang="en-NL">
                    <a:noFill/>
                  </a:rPr>
                  <a:t> </a:t>
                </a:r>
              </a:p>
            </p:txBody>
          </p:sp>
        </mc:Fallback>
      </mc:AlternateContent>
      <p:sp>
        <p:nvSpPr>
          <p:cNvPr id="3" name="TextBox 2">
            <a:extLst>
              <a:ext uri="{FF2B5EF4-FFF2-40B4-BE49-F238E27FC236}">
                <a16:creationId xmlns:a16="http://schemas.microsoft.com/office/drawing/2014/main" id="{2F1D5E6B-77A6-0C1B-34C8-1B41AAC412B2}"/>
              </a:ext>
            </a:extLst>
          </p:cNvPr>
          <p:cNvSpPr txBox="1"/>
          <p:nvPr/>
        </p:nvSpPr>
        <p:spPr>
          <a:xfrm>
            <a:off x="84082" y="6266656"/>
            <a:ext cx="11382703" cy="461665"/>
          </a:xfrm>
          <a:prstGeom prst="rect">
            <a:avLst/>
          </a:prstGeom>
          <a:noFill/>
        </p:spPr>
        <p:txBody>
          <a:bodyPr wrap="square">
            <a:spAutoFit/>
          </a:bodyPr>
          <a:lstStyle/>
          <a:p>
            <a:r>
              <a:rPr lang="en-US" sz="1200" b="0" i="0" dirty="0">
                <a:solidFill>
                  <a:srgbClr val="000000"/>
                </a:solidFill>
                <a:effectLst/>
              </a:rPr>
              <a:t>Section 1.2 of Chapter 1 of PRML book: </a:t>
            </a:r>
            <a:r>
              <a:rPr lang="en-US" sz="1200" dirty="0">
                <a:hlinkClick r:id="rId4"/>
              </a:rPr>
              <a:t>microsoft.com/</a:t>
            </a:r>
            <a:r>
              <a:rPr lang="en-US" sz="1200" dirty="0" err="1">
                <a:hlinkClick r:id="rId4"/>
              </a:rPr>
              <a:t>en</a:t>
            </a:r>
            <a:r>
              <a:rPr lang="en-US" sz="1200" dirty="0">
                <a:hlinkClick r:id="rId4"/>
              </a:rPr>
              <a:t>-us/research/uploads/prod/2006/01/Bishop-Pattern-Recognition-and-Machine-Learning-2006.pdf</a:t>
            </a:r>
            <a:endParaRPr lang="en-US" sz="1200" dirty="0"/>
          </a:p>
          <a:p>
            <a:r>
              <a:rPr lang="en-US" sz="1200" b="0" i="0" dirty="0">
                <a:solidFill>
                  <a:srgbClr val="000000"/>
                </a:solidFill>
                <a:effectLst/>
              </a:rPr>
              <a:t>The first chapter of this book PP16 to 25. (more philosophical) : </a:t>
            </a:r>
            <a:r>
              <a:rPr lang="en-US" sz="1200" dirty="0">
                <a:hlinkClick r:id="rId5"/>
              </a:rPr>
              <a:t>aprsa.villanova.edu/files/sivia.pdf</a:t>
            </a:r>
            <a:endParaRPr lang="en-NL" sz="1200" dirty="0"/>
          </a:p>
        </p:txBody>
      </p:sp>
    </p:spTree>
    <p:extLst>
      <p:ext uri="{BB962C8B-B14F-4D97-AF65-F5344CB8AC3E}">
        <p14:creationId xmlns:p14="http://schemas.microsoft.com/office/powerpoint/2010/main" val="3143694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51F898-F60B-F6DC-CBCE-B9A59F271A51}"/>
              </a:ext>
            </a:extLst>
          </p:cNvPr>
          <p:cNvPicPr>
            <a:picLocks noChangeAspect="1"/>
          </p:cNvPicPr>
          <p:nvPr/>
        </p:nvPicPr>
        <p:blipFill>
          <a:blip r:embed="rId2"/>
          <a:stretch>
            <a:fillRect/>
          </a:stretch>
        </p:blipFill>
        <p:spPr>
          <a:xfrm>
            <a:off x="1523362" y="885470"/>
            <a:ext cx="9145276" cy="5087060"/>
          </a:xfrm>
          <a:prstGeom prst="rect">
            <a:avLst/>
          </a:prstGeom>
        </p:spPr>
      </p:pic>
    </p:spTree>
    <p:extLst>
      <p:ext uri="{BB962C8B-B14F-4D97-AF65-F5344CB8AC3E}">
        <p14:creationId xmlns:p14="http://schemas.microsoft.com/office/powerpoint/2010/main" val="7716760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B5CD5A-679C-AB7A-AC84-3E41A33AC217}"/>
              </a:ext>
            </a:extLst>
          </p:cNvPr>
          <p:cNvPicPr>
            <a:picLocks noChangeAspect="1"/>
          </p:cNvPicPr>
          <p:nvPr/>
        </p:nvPicPr>
        <p:blipFill>
          <a:blip r:embed="rId2"/>
          <a:stretch>
            <a:fillRect/>
          </a:stretch>
        </p:blipFill>
        <p:spPr>
          <a:xfrm>
            <a:off x="1551941" y="928338"/>
            <a:ext cx="9088118" cy="5001323"/>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6356527-7273-5A81-1826-EC39E24062FE}"/>
                  </a:ext>
                </a:extLst>
              </p:cNvPr>
              <p:cNvSpPr/>
              <p:nvPr/>
            </p:nvSpPr>
            <p:spPr>
              <a:xfrm>
                <a:off x="5926348" y="3192124"/>
                <a:ext cx="4942413" cy="15179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e>
                          <m:r>
                            <a:rPr lang="en-US" b="0" i="1" smtClean="0">
                              <a:latin typeface="Cambria Math" panose="02040503050406030204" pitchFamily="18" charset="0"/>
                            </a:rPr>
                            <m:t>𝑌</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0.80</m:t>
                          </m:r>
                        </m:num>
                        <m:den>
                          <m:r>
                            <a:rPr lang="en-US" b="0" i="1" smtClean="0">
                              <a:latin typeface="Cambria Math" panose="02040503050406030204" pitchFamily="18" charset="0"/>
                            </a:rPr>
                            <m:t>0.85</m:t>
                          </m:r>
                        </m:den>
                      </m:f>
                      <m:r>
                        <a:rPr lang="en-US" b="0" i="1" smtClean="0">
                          <a:latin typeface="Cambria Math" panose="02040503050406030204" pitchFamily="18" charset="0"/>
                        </a:rPr>
                        <m:t>=0.94</m:t>
                      </m:r>
                    </m:oMath>
                  </m:oMathPara>
                </a14:m>
                <a:endParaRPr lang="en-NL" dirty="0"/>
              </a:p>
            </p:txBody>
          </p:sp>
        </mc:Choice>
        <mc:Fallback xmlns="">
          <p:sp>
            <p:nvSpPr>
              <p:cNvPr id="6" name="Rectangle 5">
                <a:extLst>
                  <a:ext uri="{FF2B5EF4-FFF2-40B4-BE49-F238E27FC236}">
                    <a16:creationId xmlns:a16="http://schemas.microsoft.com/office/drawing/2014/main" id="{86356527-7273-5A81-1826-EC39E24062FE}"/>
                  </a:ext>
                </a:extLst>
              </p:cNvPr>
              <p:cNvSpPr>
                <a:spLocks noRot="1" noChangeAspect="1" noMove="1" noResize="1" noEditPoints="1" noAdjustHandles="1" noChangeArrowheads="1" noChangeShapeType="1" noTextEdit="1"/>
              </p:cNvSpPr>
              <p:nvPr/>
            </p:nvSpPr>
            <p:spPr>
              <a:xfrm>
                <a:off x="5926348" y="3192124"/>
                <a:ext cx="4942413" cy="1517900"/>
              </a:xfrm>
              <a:prstGeom prst="rect">
                <a:avLst/>
              </a:prstGeom>
              <a:blipFill>
                <a:blip r:embed="rId3"/>
                <a:stretch>
                  <a:fillRect/>
                </a:stretch>
              </a:blipFill>
            </p:spPr>
            <p:txBody>
              <a:bodyPr/>
              <a:lstStyle/>
              <a:p>
                <a:r>
                  <a:rPr lang="en-NL">
                    <a:noFill/>
                  </a:rPr>
                  <a:t> </a:t>
                </a:r>
              </a:p>
            </p:txBody>
          </p:sp>
        </mc:Fallback>
      </mc:AlternateContent>
      <p:sp>
        <p:nvSpPr>
          <p:cNvPr id="7" name="Rectangle 6">
            <a:extLst>
              <a:ext uri="{FF2B5EF4-FFF2-40B4-BE49-F238E27FC236}">
                <a16:creationId xmlns:a16="http://schemas.microsoft.com/office/drawing/2014/main" id="{2D91B498-229A-EF08-EC5F-831D0A7C47B0}"/>
              </a:ext>
            </a:extLst>
          </p:cNvPr>
          <p:cNvSpPr/>
          <p:nvPr/>
        </p:nvSpPr>
        <p:spPr>
          <a:xfrm>
            <a:off x="7780427" y="3630232"/>
            <a:ext cx="753978" cy="320842"/>
          </a:xfrm>
          <a:custGeom>
            <a:avLst/>
            <a:gdLst>
              <a:gd name="csX0" fmla="*/ 0 w 753978"/>
              <a:gd name="csY0" fmla="*/ 0 h 320842"/>
              <a:gd name="csX1" fmla="*/ 392069 w 753978"/>
              <a:gd name="csY1" fmla="*/ 0 h 320842"/>
              <a:gd name="csX2" fmla="*/ 753978 w 753978"/>
              <a:gd name="csY2" fmla="*/ 0 h 320842"/>
              <a:gd name="csX3" fmla="*/ 753978 w 753978"/>
              <a:gd name="csY3" fmla="*/ 320842 h 320842"/>
              <a:gd name="csX4" fmla="*/ 369449 w 753978"/>
              <a:gd name="csY4" fmla="*/ 320842 h 320842"/>
              <a:gd name="csX5" fmla="*/ 0 w 753978"/>
              <a:gd name="csY5" fmla="*/ 320842 h 320842"/>
              <a:gd name="csX6" fmla="*/ 0 w 753978"/>
              <a:gd name="csY6" fmla="*/ 0 h 32084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53978" h="320842" extrusionOk="0">
                <a:moveTo>
                  <a:pt x="0" y="0"/>
                </a:moveTo>
                <a:cubicBezTo>
                  <a:pt x="79932" y="-9833"/>
                  <a:pt x="282189" y="-2773"/>
                  <a:pt x="392069" y="0"/>
                </a:cubicBezTo>
                <a:cubicBezTo>
                  <a:pt x="501949" y="2773"/>
                  <a:pt x="633069" y="-268"/>
                  <a:pt x="753978" y="0"/>
                </a:cubicBezTo>
                <a:cubicBezTo>
                  <a:pt x="764596" y="157754"/>
                  <a:pt x="752293" y="235788"/>
                  <a:pt x="753978" y="320842"/>
                </a:cubicBezTo>
                <a:cubicBezTo>
                  <a:pt x="581010" y="304393"/>
                  <a:pt x="547937" y="317440"/>
                  <a:pt x="369449" y="320842"/>
                </a:cubicBezTo>
                <a:cubicBezTo>
                  <a:pt x="190961" y="324244"/>
                  <a:pt x="124489" y="317594"/>
                  <a:pt x="0" y="320842"/>
                </a:cubicBezTo>
                <a:cubicBezTo>
                  <a:pt x="-2896" y="234178"/>
                  <a:pt x="15014" y="115478"/>
                  <a:pt x="0" y="0"/>
                </a:cubicBezTo>
                <a:close/>
              </a:path>
            </a:pathLst>
          </a:custGeom>
          <a:noFill/>
          <a:ln w="38100">
            <a:solidFill>
              <a:srgbClr val="057304"/>
            </a:solidFill>
            <a:extLst>
              <a:ext uri="{C807C97D-BFC1-408E-A445-0C87EB9F89A2}">
                <ask:lineSketchStyleProps xmlns:ask="http://schemas.microsoft.com/office/drawing/2018/sketchyshapes" sd="1075821877">
                  <a:prstGeom prst="rect">
                    <a:avLst/>
                  </a:prstGeom>
                  <ask:type>
                    <ask:lineSketchFreehand/>
                  </ask:type>
                </ask:lineSketchStyleProps>
              </a:ext>
            </a:extLst>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
        <p:nvSpPr>
          <p:cNvPr id="8" name="Rectangle 7">
            <a:extLst>
              <a:ext uri="{FF2B5EF4-FFF2-40B4-BE49-F238E27FC236}">
                <a16:creationId xmlns:a16="http://schemas.microsoft.com/office/drawing/2014/main" id="{C20C0389-FDB4-D8CF-FB6B-8E5552C3129F}"/>
              </a:ext>
            </a:extLst>
          </p:cNvPr>
          <p:cNvSpPr/>
          <p:nvPr/>
        </p:nvSpPr>
        <p:spPr>
          <a:xfrm>
            <a:off x="7780427" y="3967116"/>
            <a:ext cx="753978" cy="320842"/>
          </a:xfrm>
          <a:custGeom>
            <a:avLst/>
            <a:gdLst>
              <a:gd name="csX0" fmla="*/ 0 w 753978"/>
              <a:gd name="csY0" fmla="*/ 0 h 320842"/>
              <a:gd name="csX1" fmla="*/ 392069 w 753978"/>
              <a:gd name="csY1" fmla="*/ 0 h 320842"/>
              <a:gd name="csX2" fmla="*/ 753978 w 753978"/>
              <a:gd name="csY2" fmla="*/ 0 h 320842"/>
              <a:gd name="csX3" fmla="*/ 753978 w 753978"/>
              <a:gd name="csY3" fmla="*/ 320842 h 320842"/>
              <a:gd name="csX4" fmla="*/ 369449 w 753978"/>
              <a:gd name="csY4" fmla="*/ 320842 h 320842"/>
              <a:gd name="csX5" fmla="*/ 0 w 753978"/>
              <a:gd name="csY5" fmla="*/ 320842 h 320842"/>
              <a:gd name="csX6" fmla="*/ 0 w 753978"/>
              <a:gd name="csY6" fmla="*/ 0 h 32084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53978" h="320842" extrusionOk="0">
                <a:moveTo>
                  <a:pt x="0" y="0"/>
                </a:moveTo>
                <a:cubicBezTo>
                  <a:pt x="79932" y="-9833"/>
                  <a:pt x="282189" y="-2773"/>
                  <a:pt x="392069" y="0"/>
                </a:cubicBezTo>
                <a:cubicBezTo>
                  <a:pt x="501949" y="2773"/>
                  <a:pt x="633069" y="-268"/>
                  <a:pt x="753978" y="0"/>
                </a:cubicBezTo>
                <a:cubicBezTo>
                  <a:pt x="764596" y="157754"/>
                  <a:pt x="752293" y="235788"/>
                  <a:pt x="753978" y="320842"/>
                </a:cubicBezTo>
                <a:cubicBezTo>
                  <a:pt x="581010" y="304393"/>
                  <a:pt x="547937" y="317440"/>
                  <a:pt x="369449" y="320842"/>
                </a:cubicBezTo>
                <a:cubicBezTo>
                  <a:pt x="190961" y="324244"/>
                  <a:pt x="124489" y="317594"/>
                  <a:pt x="0" y="320842"/>
                </a:cubicBezTo>
                <a:cubicBezTo>
                  <a:pt x="-2896" y="234178"/>
                  <a:pt x="15014" y="115478"/>
                  <a:pt x="0" y="0"/>
                </a:cubicBezTo>
                <a:close/>
              </a:path>
            </a:pathLst>
          </a:custGeom>
          <a:noFill/>
          <a:ln w="38100">
            <a:solidFill>
              <a:srgbClr val="FF9402"/>
            </a:solidFill>
            <a:extLst>
              <a:ext uri="{C807C97D-BFC1-408E-A445-0C87EB9F89A2}">
                <ask:lineSketchStyleProps xmlns:ask="http://schemas.microsoft.com/office/drawing/2018/sketchyshapes" sd="1075821877">
                  <a:prstGeom prst="rect">
                    <a:avLst/>
                  </a:prstGeom>
                  <ask:type>
                    <ask:lineSketchFreehand/>
                  </ask:type>
                </ask:lineSketchStyleProps>
              </a:ext>
            </a:extLst>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NL"/>
          </a:p>
        </p:txBody>
      </p:sp>
    </p:spTree>
    <p:extLst>
      <p:ext uri="{BB962C8B-B14F-4D97-AF65-F5344CB8AC3E}">
        <p14:creationId xmlns:p14="http://schemas.microsoft.com/office/powerpoint/2010/main" val="1346682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A748-2EEB-29D4-2065-8ACF76D0B4EE}"/>
              </a:ext>
            </a:extLst>
          </p:cNvPr>
          <p:cNvPicPr>
            <a:picLocks noChangeAspect="1"/>
          </p:cNvPicPr>
          <p:nvPr/>
        </p:nvPicPr>
        <p:blipFill>
          <a:blip r:embed="rId2"/>
          <a:stretch>
            <a:fillRect/>
          </a:stretch>
        </p:blipFill>
        <p:spPr>
          <a:xfrm>
            <a:off x="1691258" y="1020871"/>
            <a:ext cx="8809483" cy="4816257"/>
          </a:xfrm>
          <a:prstGeom prst="rect">
            <a:avLst/>
          </a:prstGeom>
        </p:spPr>
      </p:pic>
      <p:sp>
        <p:nvSpPr>
          <p:cNvPr id="6" name="Rectangle 5">
            <a:extLst>
              <a:ext uri="{FF2B5EF4-FFF2-40B4-BE49-F238E27FC236}">
                <a16:creationId xmlns:a16="http://schemas.microsoft.com/office/drawing/2014/main" id="{AA2BBD87-538F-1C47-34E1-C10E659FA0EE}"/>
              </a:ext>
            </a:extLst>
          </p:cNvPr>
          <p:cNvSpPr/>
          <p:nvPr/>
        </p:nvSpPr>
        <p:spPr>
          <a:xfrm>
            <a:off x="6095999" y="2514599"/>
            <a:ext cx="2960078" cy="27168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708757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A748-2EEB-29D4-2065-8ACF76D0B4EE}"/>
              </a:ext>
            </a:extLst>
          </p:cNvPr>
          <p:cNvPicPr>
            <a:picLocks noChangeAspect="1"/>
          </p:cNvPicPr>
          <p:nvPr/>
        </p:nvPicPr>
        <p:blipFill>
          <a:blip r:embed="rId2"/>
          <a:stretch>
            <a:fillRect/>
          </a:stretch>
        </p:blipFill>
        <p:spPr>
          <a:xfrm>
            <a:off x="1691258" y="1020871"/>
            <a:ext cx="8809483" cy="4816257"/>
          </a:xfrm>
          <a:prstGeom prst="rect">
            <a:avLst/>
          </a:prstGeom>
        </p:spPr>
      </p:pic>
      <p:sp>
        <p:nvSpPr>
          <p:cNvPr id="6" name="Rectangle 5">
            <a:extLst>
              <a:ext uri="{FF2B5EF4-FFF2-40B4-BE49-F238E27FC236}">
                <a16:creationId xmlns:a16="http://schemas.microsoft.com/office/drawing/2014/main" id="{AA2BBD87-538F-1C47-34E1-C10E659FA0EE}"/>
              </a:ext>
            </a:extLst>
          </p:cNvPr>
          <p:cNvSpPr/>
          <p:nvPr/>
        </p:nvSpPr>
        <p:spPr>
          <a:xfrm>
            <a:off x="6095999" y="3191607"/>
            <a:ext cx="2968870" cy="20398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Rectangle 1">
            <a:extLst>
              <a:ext uri="{FF2B5EF4-FFF2-40B4-BE49-F238E27FC236}">
                <a16:creationId xmlns:a16="http://schemas.microsoft.com/office/drawing/2014/main" id="{EB046D65-5778-3ABC-BCBA-107A2BFAD547}"/>
              </a:ext>
            </a:extLst>
          </p:cNvPr>
          <p:cNvSpPr/>
          <p:nvPr/>
        </p:nvSpPr>
        <p:spPr>
          <a:xfrm>
            <a:off x="3042139" y="2057400"/>
            <a:ext cx="914400" cy="3481754"/>
          </a:xfrm>
          <a:custGeom>
            <a:avLst/>
            <a:gdLst>
              <a:gd name="csX0" fmla="*/ 0 w 914400"/>
              <a:gd name="csY0" fmla="*/ 0 h 3481754"/>
              <a:gd name="csX1" fmla="*/ 448056 w 914400"/>
              <a:gd name="csY1" fmla="*/ 0 h 3481754"/>
              <a:gd name="csX2" fmla="*/ 914400 w 914400"/>
              <a:gd name="csY2" fmla="*/ 0 h 3481754"/>
              <a:gd name="csX3" fmla="*/ 914400 w 914400"/>
              <a:gd name="csY3" fmla="*/ 626716 h 3481754"/>
              <a:gd name="csX4" fmla="*/ 914400 w 914400"/>
              <a:gd name="csY4" fmla="*/ 1357884 h 3481754"/>
              <a:gd name="csX5" fmla="*/ 914400 w 914400"/>
              <a:gd name="csY5" fmla="*/ 1949782 h 3481754"/>
              <a:gd name="csX6" fmla="*/ 914400 w 914400"/>
              <a:gd name="csY6" fmla="*/ 2715768 h 3481754"/>
              <a:gd name="csX7" fmla="*/ 914400 w 914400"/>
              <a:gd name="csY7" fmla="*/ 3481754 h 3481754"/>
              <a:gd name="csX8" fmla="*/ 466344 w 914400"/>
              <a:gd name="csY8" fmla="*/ 3481754 h 3481754"/>
              <a:gd name="csX9" fmla="*/ 0 w 914400"/>
              <a:gd name="csY9" fmla="*/ 3481754 h 3481754"/>
              <a:gd name="csX10" fmla="*/ 0 w 914400"/>
              <a:gd name="csY10" fmla="*/ 2889856 h 3481754"/>
              <a:gd name="csX11" fmla="*/ 0 w 914400"/>
              <a:gd name="csY11" fmla="*/ 2263140 h 3481754"/>
              <a:gd name="csX12" fmla="*/ 0 w 914400"/>
              <a:gd name="csY12" fmla="*/ 1601607 h 3481754"/>
              <a:gd name="csX13" fmla="*/ 0 w 914400"/>
              <a:gd name="csY13" fmla="*/ 905256 h 3481754"/>
              <a:gd name="csX14" fmla="*/ 0 w 914400"/>
              <a:gd name="csY14" fmla="*/ 0 h 34817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4400" h="3481754" extrusionOk="0">
                <a:moveTo>
                  <a:pt x="0" y="0"/>
                </a:moveTo>
                <a:cubicBezTo>
                  <a:pt x="196065" y="-16204"/>
                  <a:pt x="277058" y="-9720"/>
                  <a:pt x="448056" y="0"/>
                </a:cubicBezTo>
                <a:cubicBezTo>
                  <a:pt x="619054" y="9720"/>
                  <a:pt x="728753" y="-2578"/>
                  <a:pt x="914400" y="0"/>
                </a:cubicBezTo>
                <a:cubicBezTo>
                  <a:pt x="934223" y="254416"/>
                  <a:pt x="903562" y="416110"/>
                  <a:pt x="914400" y="626716"/>
                </a:cubicBezTo>
                <a:cubicBezTo>
                  <a:pt x="925238" y="837322"/>
                  <a:pt x="900252" y="1171851"/>
                  <a:pt x="914400" y="1357884"/>
                </a:cubicBezTo>
                <a:cubicBezTo>
                  <a:pt x="928548" y="1543917"/>
                  <a:pt x="885707" y="1717496"/>
                  <a:pt x="914400" y="1949782"/>
                </a:cubicBezTo>
                <a:cubicBezTo>
                  <a:pt x="943093" y="2182068"/>
                  <a:pt x="902647" y="2363227"/>
                  <a:pt x="914400" y="2715768"/>
                </a:cubicBezTo>
                <a:cubicBezTo>
                  <a:pt x="926153" y="3068309"/>
                  <a:pt x="929129" y="3185126"/>
                  <a:pt x="914400" y="3481754"/>
                </a:cubicBezTo>
                <a:cubicBezTo>
                  <a:pt x="770512" y="3495552"/>
                  <a:pt x="638089" y="3479157"/>
                  <a:pt x="466344" y="3481754"/>
                </a:cubicBezTo>
                <a:cubicBezTo>
                  <a:pt x="294599" y="3484351"/>
                  <a:pt x="157442" y="3465500"/>
                  <a:pt x="0" y="3481754"/>
                </a:cubicBezTo>
                <a:cubicBezTo>
                  <a:pt x="22096" y="3188389"/>
                  <a:pt x="15042" y="3027722"/>
                  <a:pt x="0" y="2889856"/>
                </a:cubicBezTo>
                <a:cubicBezTo>
                  <a:pt x="-15042" y="2751990"/>
                  <a:pt x="8128" y="2407026"/>
                  <a:pt x="0" y="2263140"/>
                </a:cubicBezTo>
                <a:cubicBezTo>
                  <a:pt x="-8128" y="2119254"/>
                  <a:pt x="26415" y="1755229"/>
                  <a:pt x="0" y="1601607"/>
                </a:cubicBezTo>
                <a:cubicBezTo>
                  <a:pt x="-26415" y="1447985"/>
                  <a:pt x="-9728" y="1079676"/>
                  <a:pt x="0" y="905256"/>
                </a:cubicBezTo>
                <a:cubicBezTo>
                  <a:pt x="9728" y="730836"/>
                  <a:pt x="-32526" y="327947"/>
                  <a:pt x="0" y="0"/>
                </a:cubicBezTo>
                <a:close/>
              </a:path>
            </a:pathLst>
          </a:custGeom>
          <a:noFill/>
          <a:ln w="38100">
            <a:solidFill>
              <a:srgbClr val="FF0000"/>
            </a:solidFill>
            <a:extLst>
              <a:ext uri="{C807C97D-BFC1-408E-A445-0C87EB9F89A2}">
                <ask:lineSketchStyleProps xmlns:ask="http://schemas.microsoft.com/office/drawing/2018/sketchyshapes" sd="302047962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4" name="Rectangle 3">
            <a:extLst>
              <a:ext uri="{FF2B5EF4-FFF2-40B4-BE49-F238E27FC236}">
                <a16:creationId xmlns:a16="http://schemas.microsoft.com/office/drawing/2014/main" id="{4039AF23-73D0-0351-2671-0C63770A62FC}"/>
              </a:ext>
            </a:extLst>
          </p:cNvPr>
          <p:cNvSpPr/>
          <p:nvPr/>
        </p:nvSpPr>
        <p:spPr>
          <a:xfrm>
            <a:off x="6090137" y="2543909"/>
            <a:ext cx="2968869" cy="586154"/>
          </a:xfrm>
          <a:custGeom>
            <a:avLst/>
            <a:gdLst>
              <a:gd name="csX0" fmla="*/ 0 w 2968869"/>
              <a:gd name="csY0" fmla="*/ 0 h 586154"/>
              <a:gd name="csX1" fmla="*/ 564085 w 2968869"/>
              <a:gd name="csY1" fmla="*/ 0 h 586154"/>
              <a:gd name="csX2" fmla="*/ 1217236 w 2968869"/>
              <a:gd name="csY2" fmla="*/ 0 h 586154"/>
              <a:gd name="csX3" fmla="*/ 1751633 w 2968869"/>
              <a:gd name="csY3" fmla="*/ 0 h 586154"/>
              <a:gd name="csX4" fmla="*/ 2256340 w 2968869"/>
              <a:gd name="csY4" fmla="*/ 0 h 586154"/>
              <a:gd name="csX5" fmla="*/ 2968869 w 2968869"/>
              <a:gd name="csY5" fmla="*/ 0 h 586154"/>
              <a:gd name="csX6" fmla="*/ 2968869 w 2968869"/>
              <a:gd name="csY6" fmla="*/ 586154 h 586154"/>
              <a:gd name="csX7" fmla="*/ 2345407 w 2968869"/>
              <a:gd name="csY7" fmla="*/ 586154 h 586154"/>
              <a:gd name="csX8" fmla="*/ 1781321 w 2968869"/>
              <a:gd name="csY8" fmla="*/ 586154 h 586154"/>
              <a:gd name="csX9" fmla="*/ 1276614 w 2968869"/>
              <a:gd name="csY9" fmla="*/ 586154 h 586154"/>
              <a:gd name="csX10" fmla="*/ 771906 w 2968869"/>
              <a:gd name="csY10" fmla="*/ 586154 h 586154"/>
              <a:gd name="csX11" fmla="*/ 0 w 2968869"/>
              <a:gd name="csY11" fmla="*/ 586154 h 586154"/>
              <a:gd name="csX12" fmla="*/ 0 w 2968869"/>
              <a:gd name="csY12" fmla="*/ 0 h 5861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968869" h="586154" extrusionOk="0">
                <a:moveTo>
                  <a:pt x="0" y="0"/>
                </a:moveTo>
                <a:cubicBezTo>
                  <a:pt x="136671" y="-22186"/>
                  <a:pt x="295506" y="13693"/>
                  <a:pt x="564085" y="0"/>
                </a:cubicBezTo>
                <a:cubicBezTo>
                  <a:pt x="832664" y="-13693"/>
                  <a:pt x="1081593" y="17499"/>
                  <a:pt x="1217236" y="0"/>
                </a:cubicBezTo>
                <a:cubicBezTo>
                  <a:pt x="1352879" y="-17499"/>
                  <a:pt x="1538983" y="-17965"/>
                  <a:pt x="1751633" y="0"/>
                </a:cubicBezTo>
                <a:cubicBezTo>
                  <a:pt x="1964283" y="17965"/>
                  <a:pt x="2016437" y="8954"/>
                  <a:pt x="2256340" y="0"/>
                </a:cubicBezTo>
                <a:cubicBezTo>
                  <a:pt x="2496243" y="-8954"/>
                  <a:pt x="2613084" y="-1612"/>
                  <a:pt x="2968869" y="0"/>
                </a:cubicBezTo>
                <a:cubicBezTo>
                  <a:pt x="2941297" y="130059"/>
                  <a:pt x="2941066" y="293628"/>
                  <a:pt x="2968869" y="586154"/>
                </a:cubicBezTo>
                <a:cubicBezTo>
                  <a:pt x="2833749" y="566936"/>
                  <a:pt x="2655056" y="569222"/>
                  <a:pt x="2345407" y="586154"/>
                </a:cubicBezTo>
                <a:cubicBezTo>
                  <a:pt x="2035758" y="603086"/>
                  <a:pt x="1950631" y="614314"/>
                  <a:pt x="1781321" y="586154"/>
                </a:cubicBezTo>
                <a:cubicBezTo>
                  <a:pt x="1612011" y="557994"/>
                  <a:pt x="1412467" y="588416"/>
                  <a:pt x="1276614" y="586154"/>
                </a:cubicBezTo>
                <a:cubicBezTo>
                  <a:pt x="1140761" y="583892"/>
                  <a:pt x="916212" y="599719"/>
                  <a:pt x="771906" y="586154"/>
                </a:cubicBezTo>
                <a:cubicBezTo>
                  <a:pt x="627600" y="572589"/>
                  <a:pt x="262430" y="604523"/>
                  <a:pt x="0" y="586154"/>
                </a:cubicBezTo>
                <a:cubicBezTo>
                  <a:pt x="5231" y="333623"/>
                  <a:pt x="-24280" y="243382"/>
                  <a:pt x="0" y="0"/>
                </a:cubicBezTo>
                <a:close/>
              </a:path>
            </a:pathLst>
          </a:custGeom>
          <a:noFill/>
          <a:ln w="38100">
            <a:solidFill>
              <a:srgbClr val="FF0000"/>
            </a:solidFill>
            <a:extLst>
              <a:ext uri="{C807C97D-BFC1-408E-A445-0C87EB9F89A2}">
                <ask:lineSketchStyleProps xmlns:ask="http://schemas.microsoft.com/office/drawing/2018/sketchyshapes" sd="302047962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Tree>
    <p:extLst>
      <p:ext uri="{BB962C8B-B14F-4D97-AF65-F5344CB8AC3E}">
        <p14:creationId xmlns:p14="http://schemas.microsoft.com/office/powerpoint/2010/main" val="3889376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A748-2EEB-29D4-2065-8ACF76D0B4EE}"/>
              </a:ext>
            </a:extLst>
          </p:cNvPr>
          <p:cNvPicPr>
            <a:picLocks noChangeAspect="1"/>
          </p:cNvPicPr>
          <p:nvPr/>
        </p:nvPicPr>
        <p:blipFill>
          <a:blip r:embed="rId2"/>
          <a:stretch>
            <a:fillRect/>
          </a:stretch>
        </p:blipFill>
        <p:spPr>
          <a:xfrm>
            <a:off x="1691258" y="1020871"/>
            <a:ext cx="8809483" cy="4816257"/>
          </a:xfrm>
          <a:prstGeom prst="rect">
            <a:avLst/>
          </a:prstGeom>
        </p:spPr>
      </p:pic>
      <p:sp>
        <p:nvSpPr>
          <p:cNvPr id="6" name="Rectangle 5">
            <a:extLst>
              <a:ext uri="{FF2B5EF4-FFF2-40B4-BE49-F238E27FC236}">
                <a16:creationId xmlns:a16="http://schemas.microsoft.com/office/drawing/2014/main" id="{AA2BBD87-538F-1C47-34E1-C10E659FA0EE}"/>
              </a:ext>
            </a:extLst>
          </p:cNvPr>
          <p:cNvSpPr/>
          <p:nvPr/>
        </p:nvSpPr>
        <p:spPr>
          <a:xfrm>
            <a:off x="6095999" y="3982915"/>
            <a:ext cx="2968870" cy="12485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Rectangle 1">
            <a:extLst>
              <a:ext uri="{FF2B5EF4-FFF2-40B4-BE49-F238E27FC236}">
                <a16:creationId xmlns:a16="http://schemas.microsoft.com/office/drawing/2014/main" id="{EB046D65-5778-3ABC-BCBA-107A2BFAD547}"/>
              </a:ext>
            </a:extLst>
          </p:cNvPr>
          <p:cNvSpPr/>
          <p:nvPr/>
        </p:nvSpPr>
        <p:spPr>
          <a:xfrm>
            <a:off x="3042139" y="2057400"/>
            <a:ext cx="914400" cy="3481754"/>
          </a:xfrm>
          <a:custGeom>
            <a:avLst/>
            <a:gdLst>
              <a:gd name="csX0" fmla="*/ 0 w 914400"/>
              <a:gd name="csY0" fmla="*/ 0 h 3481754"/>
              <a:gd name="csX1" fmla="*/ 448056 w 914400"/>
              <a:gd name="csY1" fmla="*/ 0 h 3481754"/>
              <a:gd name="csX2" fmla="*/ 914400 w 914400"/>
              <a:gd name="csY2" fmla="*/ 0 h 3481754"/>
              <a:gd name="csX3" fmla="*/ 914400 w 914400"/>
              <a:gd name="csY3" fmla="*/ 626716 h 3481754"/>
              <a:gd name="csX4" fmla="*/ 914400 w 914400"/>
              <a:gd name="csY4" fmla="*/ 1357884 h 3481754"/>
              <a:gd name="csX5" fmla="*/ 914400 w 914400"/>
              <a:gd name="csY5" fmla="*/ 1949782 h 3481754"/>
              <a:gd name="csX6" fmla="*/ 914400 w 914400"/>
              <a:gd name="csY6" fmla="*/ 2715768 h 3481754"/>
              <a:gd name="csX7" fmla="*/ 914400 w 914400"/>
              <a:gd name="csY7" fmla="*/ 3481754 h 3481754"/>
              <a:gd name="csX8" fmla="*/ 466344 w 914400"/>
              <a:gd name="csY8" fmla="*/ 3481754 h 3481754"/>
              <a:gd name="csX9" fmla="*/ 0 w 914400"/>
              <a:gd name="csY9" fmla="*/ 3481754 h 3481754"/>
              <a:gd name="csX10" fmla="*/ 0 w 914400"/>
              <a:gd name="csY10" fmla="*/ 2889856 h 3481754"/>
              <a:gd name="csX11" fmla="*/ 0 w 914400"/>
              <a:gd name="csY11" fmla="*/ 2263140 h 3481754"/>
              <a:gd name="csX12" fmla="*/ 0 w 914400"/>
              <a:gd name="csY12" fmla="*/ 1601607 h 3481754"/>
              <a:gd name="csX13" fmla="*/ 0 w 914400"/>
              <a:gd name="csY13" fmla="*/ 905256 h 3481754"/>
              <a:gd name="csX14" fmla="*/ 0 w 914400"/>
              <a:gd name="csY14" fmla="*/ 0 h 34817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914400" h="3481754" extrusionOk="0">
                <a:moveTo>
                  <a:pt x="0" y="0"/>
                </a:moveTo>
                <a:cubicBezTo>
                  <a:pt x="196065" y="-16204"/>
                  <a:pt x="277058" y="-9720"/>
                  <a:pt x="448056" y="0"/>
                </a:cubicBezTo>
                <a:cubicBezTo>
                  <a:pt x="619054" y="9720"/>
                  <a:pt x="728753" y="-2578"/>
                  <a:pt x="914400" y="0"/>
                </a:cubicBezTo>
                <a:cubicBezTo>
                  <a:pt x="934223" y="254416"/>
                  <a:pt x="903562" y="416110"/>
                  <a:pt x="914400" y="626716"/>
                </a:cubicBezTo>
                <a:cubicBezTo>
                  <a:pt x="925238" y="837322"/>
                  <a:pt x="900252" y="1171851"/>
                  <a:pt x="914400" y="1357884"/>
                </a:cubicBezTo>
                <a:cubicBezTo>
                  <a:pt x="928548" y="1543917"/>
                  <a:pt x="885707" y="1717496"/>
                  <a:pt x="914400" y="1949782"/>
                </a:cubicBezTo>
                <a:cubicBezTo>
                  <a:pt x="943093" y="2182068"/>
                  <a:pt x="902647" y="2363227"/>
                  <a:pt x="914400" y="2715768"/>
                </a:cubicBezTo>
                <a:cubicBezTo>
                  <a:pt x="926153" y="3068309"/>
                  <a:pt x="929129" y="3185126"/>
                  <a:pt x="914400" y="3481754"/>
                </a:cubicBezTo>
                <a:cubicBezTo>
                  <a:pt x="770512" y="3495552"/>
                  <a:pt x="638089" y="3479157"/>
                  <a:pt x="466344" y="3481754"/>
                </a:cubicBezTo>
                <a:cubicBezTo>
                  <a:pt x="294599" y="3484351"/>
                  <a:pt x="157442" y="3465500"/>
                  <a:pt x="0" y="3481754"/>
                </a:cubicBezTo>
                <a:cubicBezTo>
                  <a:pt x="22096" y="3188389"/>
                  <a:pt x="15042" y="3027722"/>
                  <a:pt x="0" y="2889856"/>
                </a:cubicBezTo>
                <a:cubicBezTo>
                  <a:pt x="-15042" y="2751990"/>
                  <a:pt x="8128" y="2407026"/>
                  <a:pt x="0" y="2263140"/>
                </a:cubicBezTo>
                <a:cubicBezTo>
                  <a:pt x="-8128" y="2119254"/>
                  <a:pt x="26415" y="1755229"/>
                  <a:pt x="0" y="1601607"/>
                </a:cubicBezTo>
                <a:cubicBezTo>
                  <a:pt x="-26415" y="1447985"/>
                  <a:pt x="-9728" y="1079676"/>
                  <a:pt x="0" y="905256"/>
                </a:cubicBezTo>
                <a:cubicBezTo>
                  <a:pt x="9728" y="730836"/>
                  <a:pt x="-32526" y="327947"/>
                  <a:pt x="0" y="0"/>
                </a:cubicBezTo>
                <a:close/>
              </a:path>
            </a:pathLst>
          </a:custGeom>
          <a:noFill/>
          <a:ln w="38100">
            <a:solidFill>
              <a:srgbClr val="FF0000"/>
            </a:solidFill>
            <a:extLst>
              <a:ext uri="{C807C97D-BFC1-408E-A445-0C87EB9F89A2}">
                <ask:lineSketchStyleProps xmlns:ask="http://schemas.microsoft.com/office/drawing/2018/sketchyshapes" sd="302047962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Rectangle 2">
            <a:extLst>
              <a:ext uri="{FF2B5EF4-FFF2-40B4-BE49-F238E27FC236}">
                <a16:creationId xmlns:a16="http://schemas.microsoft.com/office/drawing/2014/main" id="{565D81A8-9378-4422-983F-51AB9316AFCC}"/>
              </a:ext>
            </a:extLst>
          </p:cNvPr>
          <p:cNvSpPr/>
          <p:nvPr/>
        </p:nvSpPr>
        <p:spPr>
          <a:xfrm>
            <a:off x="6090137" y="2543909"/>
            <a:ext cx="2968869" cy="586154"/>
          </a:xfrm>
          <a:custGeom>
            <a:avLst/>
            <a:gdLst>
              <a:gd name="csX0" fmla="*/ 0 w 2968869"/>
              <a:gd name="csY0" fmla="*/ 0 h 586154"/>
              <a:gd name="csX1" fmla="*/ 564085 w 2968869"/>
              <a:gd name="csY1" fmla="*/ 0 h 586154"/>
              <a:gd name="csX2" fmla="*/ 1217236 w 2968869"/>
              <a:gd name="csY2" fmla="*/ 0 h 586154"/>
              <a:gd name="csX3" fmla="*/ 1751633 w 2968869"/>
              <a:gd name="csY3" fmla="*/ 0 h 586154"/>
              <a:gd name="csX4" fmla="*/ 2256340 w 2968869"/>
              <a:gd name="csY4" fmla="*/ 0 h 586154"/>
              <a:gd name="csX5" fmla="*/ 2968869 w 2968869"/>
              <a:gd name="csY5" fmla="*/ 0 h 586154"/>
              <a:gd name="csX6" fmla="*/ 2968869 w 2968869"/>
              <a:gd name="csY6" fmla="*/ 586154 h 586154"/>
              <a:gd name="csX7" fmla="*/ 2345407 w 2968869"/>
              <a:gd name="csY7" fmla="*/ 586154 h 586154"/>
              <a:gd name="csX8" fmla="*/ 1781321 w 2968869"/>
              <a:gd name="csY8" fmla="*/ 586154 h 586154"/>
              <a:gd name="csX9" fmla="*/ 1276614 w 2968869"/>
              <a:gd name="csY9" fmla="*/ 586154 h 586154"/>
              <a:gd name="csX10" fmla="*/ 771906 w 2968869"/>
              <a:gd name="csY10" fmla="*/ 586154 h 586154"/>
              <a:gd name="csX11" fmla="*/ 0 w 2968869"/>
              <a:gd name="csY11" fmla="*/ 586154 h 586154"/>
              <a:gd name="csX12" fmla="*/ 0 w 2968869"/>
              <a:gd name="csY12" fmla="*/ 0 h 5861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968869" h="586154" extrusionOk="0">
                <a:moveTo>
                  <a:pt x="0" y="0"/>
                </a:moveTo>
                <a:cubicBezTo>
                  <a:pt x="136671" y="-22186"/>
                  <a:pt x="295506" y="13693"/>
                  <a:pt x="564085" y="0"/>
                </a:cubicBezTo>
                <a:cubicBezTo>
                  <a:pt x="832664" y="-13693"/>
                  <a:pt x="1081593" y="17499"/>
                  <a:pt x="1217236" y="0"/>
                </a:cubicBezTo>
                <a:cubicBezTo>
                  <a:pt x="1352879" y="-17499"/>
                  <a:pt x="1538983" y="-17965"/>
                  <a:pt x="1751633" y="0"/>
                </a:cubicBezTo>
                <a:cubicBezTo>
                  <a:pt x="1964283" y="17965"/>
                  <a:pt x="2016437" y="8954"/>
                  <a:pt x="2256340" y="0"/>
                </a:cubicBezTo>
                <a:cubicBezTo>
                  <a:pt x="2496243" y="-8954"/>
                  <a:pt x="2613084" y="-1612"/>
                  <a:pt x="2968869" y="0"/>
                </a:cubicBezTo>
                <a:cubicBezTo>
                  <a:pt x="2941297" y="130059"/>
                  <a:pt x="2941066" y="293628"/>
                  <a:pt x="2968869" y="586154"/>
                </a:cubicBezTo>
                <a:cubicBezTo>
                  <a:pt x="2833749" y="566936"/>
                  <a:pt x="2655056" y="569222"/>
                  <a:pt x="2345407" y="586154"/>
                </a:cubicBezTo>
                <a:cubicBezTo>
                  <a:pt x="2035758" y="603086"/>
                  <a:pt x="1950631" y="614314"/>
                  <a:pt x="1781321" y="586154"/>
                </a:cubicBezTo>
                <a:cubicBezTo>
                  <a:pt x="1612011" y="557994"/>
                  <a:pt x="1412467" y="588416"/>
                  <a:pt x="1276614" y="586154"/>
                </a:cubicBezTo>
                <a:cubicBezTo>
                  <a:pt x="1140761" y="583892"/>
                  <a:pt x="916212" y="599719"/>
                  <a:pt x="771906" y="586154"/>
                </a:cubicBezTo>
                <a:cubicBezTo>
                  <a:pt x="627600" y="572589"/>
                  <a:pt x="262430" y="604523"/>
                  <a:pt x="0" y="586154"/>
                </a:cubicBezTo>
                <a:cubicBezTo>
                  <a:pt x="5231" y="333623"/>
                  <a:pt x="-24280" y="243382"/>
                  <a:pt x="0" y="0"/>
                </a:cubicBezTo>
                <a:close/>
              </a:path>
            </a:pathLst>
          </a:custGeom>
          <a:noFill/>
          <a:ln w="38100">
            <a:solidFill>
              <a:srgbClr val="FF0000"/>
            </a:solidFill>
            <a:extLst>
              <a:ext uri="{C807C97D-BFC1-408E-A445-0C87EB9F89A2}">
                <ask:lineSketchStyleProps xmlns:ask="http://schemas.microsoft.com/office/drawing/2018/sketchyshapes" sd="302047962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Tree>
    <p:extLst>
      <p:ext uri="{BB962C8B-B14F-4D97-AF65-F5344CB8AC3E}">
        <p14:creationId xmlns:p14="http://schemas.microsoft.com/office/powerpoint/2010/main" val="4016510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A748-2EEB-29D4-2065-8ACF76D0B4EE}"/>
              </a:ext>
            </a:extLst>
          </p:cNvPr>
          <p:cNvPicPr>
            <a:picLocks noChangeAspect="1"/>
          </p:cNvPicPr>
          <p:nvPr/>
        </p:nvPicPr>
        <p:blipFill>
          <a:blip r:embed="rId2"/>
          <a:stretch>
            <a:fillRect/>
          </a:stretch>
        </p:blipFill>
        <p:spPr>
          <a:xfrm>
            <a:off x="1691258" y="1020871"/>
            <a:ext cx="8809483" cy="4816257"/>
          </a:xfrm>
          <a:prstGeom prst="rect">
            <a:avLst/>
          </a:prstGeom>
        </p:spPr>
      </p:pic>
      <p:sp>
        <p:nvSpPr>
          <p:cNvPr id="6" name="Rectangle 5">
            <a:extLst>
              <a:ext uri="{FF2B5EF4-FFF2-40B4-BE49-F238E27FC236}">
                <a16:creationId xmlns:a16="http://schemas.microsoft.com/office/drawing/2014/main" id="{AA2BBD87-538F-1C47-34E1-C10E659FA0EE}"/>
              </a:ext>
            </a:extLst>
          </p:cNvPr>
          <p:cNvSpPr/>
          <p:nvPr/>
        </p:nvSpPr>
        <p:spPr>
          <a:xfrm>
            <a:off x="6095999" y="1995853"/>
            <a:ext cx="4270132" cy="11781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DD885FA5-F161-1FE1-5F43-D0B9531F1EA8}"/>
              </a:ext>
            </a:extLst>
          </p:cNvPr>
          <p:cNvSpPr/>
          <p:nvPr/>
        </p:nvSpPr>
        <p:spPr>
          <a:xfrm>
            <a:off x="3042139" y="2057400"/>
            <a:ext cx="914400" cy="3481754"/>
          </a:xfrm>
          <a:solidFill>
            <a:srgbClr val="FF0000">
              <a:alpha val="14000"/>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7" name="Rectangle 6">
            <a:extLst>
              <a:ext uri="{FF2B5EF4-FFF2-40B4-BE49-F238E27FC236}">
                <a16:creationId xmlns:a16="http://schemas.microsoft.com/office/drawing/2014/main" id="{E5883156-257D-FCD8-8AFA-20C7933D7C64}"/>
              </a:ext>
            </a:extLst>
          </p:cNvPr>
          <p:cNvSpPr/>
          <p:nvPr/>
        </p:nvSpPr>
        <p:spPr>
          <a:xfrm>
            <a:off x="6927574" y="3094892"/>
            <a:ext cx="774488" cy="761492"/>
          </a:xfrm>
          <a:custGeom>
            <a:avLst/>
            <a:gdLst>
              <a:gd name="csX0" fmla="*/ 0 w 774488"/>
              <a:gd name="csY0" fmla="*/ 0 h 761492"/>
              <a:gd name="csX1" fmla="*/ 402734 w 774488"/>
              <a:gd name="csY1" fmla="*/ 0 h 761492"/>
              <a:gd name="csX2" fmla="*/ 774488 w 774488"/>
              <a:gd name="csY2" fmla="*/ 0 h 761492"/>
              <a:gd name="csX3" fmla="*/ 774488 w 774488"/>
              <a:gd name="csY3" fmla="*/ 388361 h 761492"/>
              <a:gd name="csX4" fmla="*/ 774488 w 774488"/>
              <a:gd name="csY4" fmla="*/ 761492 h 761492"/>
              <a:gd name="csX5" fmla="*/ 394989 w 774488"/>
              <a:gd name="csY5" fmla="*/ 761492 h 761492"/>
              <a:gd name="csX6" fmla="*/ 0 w 774488"/>
              <a:gd name="csY6" fmla="*/ 761492 h 761492"/>
              <a:gd name="csX7" fmla="*/ 0 w 774488"/>
              <a:gd name="csY7" fmla="*/ 365516 h 761492"/>
              <a:gd name="csX8" fmla="*/ 0 w 774488"/>
              <a:gd name="csY8" fmla="*/ 0 h 761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74488" h="761492" fill="none" extrusionOk="0">
                <a:moveTo>
                  <a:pt x="0" y="0"/>
                </a:moveTo>
                <a:cubicBezTo>
                  <a:pt x="160211" y="3634"/>
                  <a:pt x="286545" y="-15181"/>
                  <a:pt x="402734" y="0"/>
                </a:cubicBezTo>
                <a:cubicBezTo>
                  <a:pt x="518923" y="15181"/>
                  <a:pt x="665614" y="8706"/>
                  <a:pt x="774488" y="0"/>
                </a:cubicBezTo>
                <a:cubicBezTo>
                  <a:pt x="764828" y="143905"/>
                  <a:pt x="773126" y="280042"/>
                  <a:pt x="774488" y="388361"/>
                </a:cubicBezTo>
                <a:cubicBezTo>
                  <a:pt x="775850" y="496680"/>
                  <a:pt x="759275" y="604779"/>
                  <a:pt x="774488" y="761492"/>
                </a:cubicBezTo>
                <a:cubicBezTo>
                  <a:pt x="648599" y="754362"/>
                  <a:pt x="474981" y="777715"/>
                  <a:pt x="394989" y="761492"/>
                </a:cubicBezTo>
                <a:cubicBezTo>
                  <a:pt x="314997" y="745269"/>
                  <a:pt x="166570" y="746477"/>
                  <a:pt x="0" y="761492"/>
                </a:cubicBezTo>
                <a:cubicBezTo>
                  <a:pt x="873" y="680075"/>
                  <a:pt x="9308" y="460163"/>
                  <a:pt x="0" y="365516"/>
                </a:cubicBezTo>
                <a:cubicBezTo>
                  <a:pt x="-9308" y="270869"/>
                  <a:pt x="-5462" y="81708"/>
                  <a:pt x="0" y="0"/>
                </a:cubicBezTo>
                <a:close/>
              </a:path>
              <a:path w="774488" h="761492" stroke="0" extrusionOk="0">
                <a:moveTo>
                  <a:pt x="0" y="0"/>
                </a:moveTo>
                <a:cubicBezTo>
                  <a:pt x="118073" y="-1886"/>
                  <a:pt x="193926" y="6189"/>
                  <a:pt x="379499" y="0"/>
                </a:cubicBezTo>
                <a:cubicBezTo>
                  <a:pt x="565072" y="-6189"/>
                  <a:pt x="601843" y="-8337"/>
                  <a:pt x="774488" y="0"/>
                </a:cubicBezTo>
                <a:cubicBezTo>
                  <a:pt x="775802" y="84323"/>
                  <a:pt x="787082" y="243850"/>
                  <a:pt x="774488" y="365516"/>
                </a:cubicBezTo>
                <a:cubicBezTo>
                  <a:pt x="761894" y="487182"/>
                  <a:pt x="774087" y="611239"/>
                  <a:pt x="774488" y="761492"/>
                </a:cubicBezTo>
                <a:cubicBezTo>
                  <a:pt x="604671" y="762754"/>
                  <a:pt x="583302" y="768729"/>
                  <a:pt x="410479" y="761492"/>
                </a:cubicBezTo>
                <a:cubicBezTo>
                  <a:pt x="237656" y="754255"/>
                  <a:pt x="149092" y="769391"/>
                  <a:pt x="0" y="761492"/>
                </a:cubicBezTo>
                <a:cubicBezTo>
                  <a:pt x="-2946" y="570070"/>
                  <a:pt x="-15651" y="457404"/>
                  <a:pt x="0" y="365516"/>
                </a:cubicBezTo>
                <a:cubicBezTo>
                  <a:pt x="15651" y="273628"/>
                  <a:pt x="-7526" y="80406"/>
                  <a:pt x="0" y="0"/>
                </a:cubicBezTo>
                <a:close/>
              </a:path>
            </a:pathLst>
          </a:custGeom>
          <a:solidFill>
            <a:srgbClr val="FF0000">
              <a:alpha val="14000"/>
            </a:srgbClr>
          </a:solidFill>
          <a:ln w="38100">
            <a:noFill/>
            <a:extLst>
              <a:ext uri="{C807C97D-BFC1-408E-A445-0C87EB9F89A2}">
                <ask:lineSketchStyleProps xmlns:ask="http://schemas.microsoft.com/office/drawing/2018/sketchyshapes" sd="302047962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Tree>
    <p:extLst>
      <p:ext uri="{BB962C8B-B14F-4D97-AF65-F5344CB8AC3E}">
        <p14:creationId xmlns:p14="http://schemas.microsoft.com/office/powerpoint/2010/main" val="1311330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63A748-2EEB-29D4-2065-8ACF76D0B4EE}"/>
              </a:ext>
            </a:extLst>
          </p:cNvPr>
          <p:cNvPicPr>
            <a:picLocks noChangeAspect="1"/>
          </p:cNvPicPr>
          <p:nvPr/>
        </p:nvPicPr>
        <p:blipFill>
          <a:blip r:embed="rId2"/>
          <a:stretch>
            <a:fillRect/>
          </a:stretch>
        </p:blipFill>
        <p:spPr>
          <a:xfrm>
            <a:off x="1691258" y="1020871"/>
            <a:ext cx="8809483" cy="4816257"/>
          </a:xfrm>
          <a:prstGeom prst="rect">
            <a:avLst/>
          </a:prstGeom>
        </p:spPr>
      </p:pic>
      <p:sp>
        <p:nvSpPr>
          <p:cNvPr id="6" name="Rectangle 5">
            <a:extLst>
              <a:ext uri="{FF2B5EF4-FFF2-40B4-BE49-F238E27FC236}">
                <a16:creationId xmlns:a16="http://schemas.microsoft.com/office/drawing/2014/main" id="{AA2BBD87-538F-1C47-34E1-C10E659FA0EE}"/>
              </a:ext>
            </a:extLst>
          </p:cNvPr>
          <p:cNvSpPr/>
          <p:nvPr/>
        </p:nvSpPr>
        <p:spPr>
          <a:xfrm>
            <a:off x="6095999" y="1995853"/>
            <a:ext cx="4270132" cy="11781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DD885FA5-F161-1FE1-5F43-D0B9531F1EA8}"/>
              </a:ext>
            </a:extLst>
          </p:cNvPr>
          <p:cNvSpPr/>
          <p:nvPr/>
        </p:nvSpPr>
        <p:spPr>
          <a:xfrm>
            <a:off x="3042139" y="2057400"/>
            <a:ext cx="914400" cy="3481754"/>
          </a:xfrm>
          <a:solidFill>
            <a:srgbClr val="FF0000">
              <a:alpha val="14000"/>
            </a:srgb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7" name="Rectangle 6">
            <a:extLst>
              <a:ext uri="{FF2B5EF4-FFF2-40B4-BE49-F238E27FC236}">
                <a16:creationId xmlns:a16="http://schemas.microsoft.com/office/drawing/2014/main" id="{E5883156-257D-FCD8-8AFA-20C7933D7C64}"/>
              </a:ext>
            </a:extLst>
          </p:cNvPr>
          <p:cNvSpPr/>
          <p:nvPr/>
        </p:nvSpPr>
        <p:spPr>
          <a:xfrm>
            <a:off x="6927574" y="3094892"/>
            <a:ext cx="774488" cy="761492"/>
          </a:xfrm>
          <a:custGeom>
            <a:avLst/>
            <a:gdLst>
              <a:gd name="csX0" fmla="*/ 0 w 774488"/>
              <a:gd name="csY0" fmla="*/ 0 h 761492"/>
              <a:gd name="csX1" fmla="*/ 402734 w 774488"/>
              <a:gd name="csY1" fmla="*/ 0 h 761492"/>
              <a:gd name="csX2" fmla="*/ 774488 w 774488"/>
              <a:gd name="csY2" fmla="*/ 0 h 761492"/>
              <a:gd name="csX3" fmla="*/ 774488 w 774488"/>
              <a:gd name="csY3" fmla="*/ 388361 h 761492"/>
              <a:gd name="csX4" fmla="*/ 774488 w 774488"/>
              <a:gd name="csY4" fmla="*/ 761492 h 761492"/>
              <a:gd name="csX5" fmla="*/ 394989 w 774488"/>
              <a:gd name="csY5" fmla="*/ 761492 h 761492"/>
              <a:gd name="csX6" fmla="*/ 0 w 774488"/>
              <a:gd name="csY6" fmla="*/ 761492 h 761492"/>
              <a:gd name="csX7" fmla="*/ 0 w 774488"/>
              <a:gd name="csY7" fmla="*/ 365516 h 761492"/>
              <a:gd name="csX8" fmla="*/ 0 w 774488"/>
              <a:gd name="csY8" fmla="*/ 0 h 761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74488" h="761492" fill="none" extrusionOk="0">
                <a:moveTo>
                  <a:pt x="0" y="0"/>
                </a:moveTo>
                <a:cubicBezTo>
                  <a:pt x="160211" y="3634"/>
                  <a:pt x="286545" y="-15181"/>
                  <a:pt x="402734" y="0"/>
                </a:cubicBezTo>
                <a:cubicBezTo>
                  <a:pt x="518923" y="15181"/>
                  <a:pt x="665614" y="8706"/>
                  <a:pt x="774488" y="0"/>
                </a:cubicBezTo>
                <a:cubicBezTo>
                  <a:pt x="764828" y="143905"/>
                  <a:pt x="773126" y="280042"/>
                  <a:pt x="774488" y="388361"/>
                </a:cubicBezTo>
                <a:cubicBezTo>
                  <a:pt x="775850" y="496680"/>
                  <a:pt x="759275" y="604779"/>
                  <a:pt x="774488" y="761492"/>
                </a:cubicBezTo>
                <a:cubicBezTo>
                  <a:pt x="648599" y="754362"/>
                  <a:pt x="474981" y="777715"/>
                  <a:pt x="394989" y="761492"/>
                </a:cubicBezTo>
                <a:cubicBezTo>
                  <a:pt x="314997" y="745269"/>
                  <a:pt x="166570" y="746477"/>
                  <a:pt x="0" y="761492"/>
                </a:cubicBezTo>
                <a:cubicBezTo>
                  <a:pt x="873" y="680075"/>
                  <a:pt x="9308" y="460163"/>
                  <a:pt x="0" y="365516"/>
                </a:cubicBezTo>
                <a:cubicBezTo>
                  <a:pt x="-9308" y="270869"/>
                  <a:pt x="-5462" y="81708"/>
                  <a:pt x="0" y="0"/>
                </a:cubicBezTo>
                <a:close/>
              </a:path>
              <a:path w="774488" h="761492" stroke="0" extrusionOk="0">
                <a:moveTo>
                  <a:pt x="0" y="0"/>
                </a:moveTo>
                <a:cubicBezTo>
                  <a:pt x="118073" y="-1886"/>
                  <a:pt x="193926" y="6189"/>
                  <a:pt x="379499" y="0"/>
                </a:cubicBezTo>
                <a:cubicBezTo>
                  <a:pt x="565072" y="-6189"/>
                  <a:pt x="601843" y="-8337"/>
                  <a:pt x="774488" y="0"/>
                </a:cubicBezTo>
                <a:cubicBezTo>
                  <a:pt x="775802" y="84323"/>
                  <a:pt x="787082" y="243850"/>
                  <a:pt x="774488" y="365516"/>
                </a:cubicBezTo>
                <a:cubicBezTo>
                  <a:pt x="761894" y="487182"/>
                  <a:pt x="774087" y="611239"/>
                  <a:pt x="774488" y="761492"/>
                </a:cubicBezTo>
                <a:cubicBezTo>
                  <a:pt x="604671" y="762754"/>
                  <a:pt x="583302" y="768729"/>
                  <a:pt x="410479" y="761492"/>
                </a:cubicBezTo>
                <a:cubicBezTo>
                  <a:pt x="237656" y="754255"/>
                  <a:pt x="149092" y="769391"/>
                  <a:pt x="0" y="761492"/>
                </a:cubicBezTo>
                <a:cubicBezTo>
                  <a:pt x="-2946" y="570070"/>
                  <a:pt x="-15651" y="457404"/>
                  <a:pt x="0" y="365516"/>
                </a:cubicBezTo>
                <a:cubicBezTo>
                  <a:pt x="15651" y="273628"/>
                  <a:pt x="-7526" y="80406"/>
                  <a:pt x="0" y="0"/>
                </a:cubicBezTo>
                <a:close/>
              </a:path>
            </a:pathLst>
          </a:custGeom>
          <a:solidFill>
            <a:srgbClr val="FF0000">
              <a:alpha val="14000"/>
            </a:srgbClr>
          </a:solidFill>
          <a:ln w="38100">
            <a:noFill/>
            <a:extLst>
              <a:ext uri="{C807C97D-BFC1-408E-A445-0C87EB9F89A2}">
                <ask:lineSketchStyleProps xmlns:ask="http://schemas.microsoft.com/office/drawing/2018/sketchyshapes" sd="3020479629">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8" name="Rectangle 7">
            <a:extLst>
              <a:ext uri="{FF2B5EF4-FFF2-40B4-BE49-F238E27FC236}">
                <a16:creationId xmlns:a16="http://schemas.microsoft.com/office/drawing/2014/main" id="{594A6069-3D4E-77F7-86B1-70FBB78A89B4}"/>
              </a:ext>
            </a:extLst>
          </p:cNvPr>
          <p:cNvSpPr/>
          <p:nvPr/>
        </p:nvSpPr>
        <p:spPr>
          <a:xfrm>
            <a:off x="10197166" y="785192"/>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a:t>
            </a:r>
            <a:endParaRPr lang="en-NL" dirty="0"/>
          </a:p>
        </p:txBody>
      </p:sp>
    </p:spTree>
    <p:extLst>
      <p:ext uri="{BB962C8B-B14F-4D97-AF65-F5344CB8AC3E}">
        <p14:creationId xmlns:p14="http://schemas.microsoft.com/office/powerpoint/2010/main" val="133877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DBF90D-1548-2066-A52F-CE9F4E428CBD}"/>
              </a:ext>
            </a:extLst>
          </p:cNvPr>
          <p:cNvPicPr>
            <a:picLocks noChangeAspect="1"/>
          </p:cNvPicPr>
          <p:nvPr/>
        </p:nvPicPr>
        <p:blipFill>
          <a:blip r:embed="rId2"/>
          <a:stretch>
            <a:fillRect/>
          </a:stretch>
        </p:blipFill>
        <p:spPr>
          <a:xfrm>
            <a:off x="292882" y="123022"/>
            <a:ext cx="10890619" cy="6347352"/>
          </a:xfrm>
          <a:prstGeom prst="rect">
            <a:avLst/>
          </a:prstGeom>
        </p:spPr>
      </p:pic>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F4AF420-BC3C-AD3E-8ACE-51FBB90F01F5}"/>
                  </a:ext>
                </a:extLst>
              </p:cNvPr>
              <p:cNvSpPr txBox="1">
                <a:spLocks/>
              </p:cNvSpPr>
              <p:nvPr/>
            </p:nvSpPr>
            <p:spPr>
              <a:xfrm>
                <a:off x="6453809" y="1646721"/>
                <a:ext cx="5244548"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Here while X is as random as it can get (50-50 chance), knowing Y gives a lot of information about X.</a:t>
                </a:r>
              </a:p>
              <a:p>
                <a:pPr marL="0" indent="0">
                  <a:buNone/>
                </a:pPr>
                <a:endParaRPr lang="en-US" dirty="0"/>
              </a:p>
              <a:p>
                <a:r>
                  <a:rPr lang="en-US" dirty="0"/>
                  <a:t>Check that by comparing numerical values of </a:t>
                </a:r>
                <a14:m>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 </m:t>
                        </m:r>
                      </m:e>
                    </m:d>
                  </m:oMath>
                </a14:m>
                <a:r>
                  <a:rPr lang="en-US" dirty="0"/>
                  <a:t> and </a:t>
                </a:r>
                <a14:m>
                  <m:oMath xmlns:m="http://schemas.openxmlformats.org/officeDocument/2006/math">
                    <m:r>
                      <a:rPr lang="en-US"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d>
                  </m:oMath>
                </a14:m>
                <a:r>
                  <a:rPr lang="en-US" dirty="0"/>
                  <a:t> for different choices of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a:t>
                </a:r>
                <a:endParaRPr lang="en-NL" dirty="0"/>
              </a:p>
            </p:txBody>
          </p:sp>
        </mc:Choice>
        <mc:Fallback xmlns="">
          <p:sp>
            <p:nvSpPr>
              <p:cNvPr id="4" name="Content Placeholder 2">
                <a:extLst>
                  <a:ext uri="{FF2B5EF4-FFF2-40B4-BE49-F238E27FC236}">
                    <a16:creationId xmlns:a16="http://schemas.microsoft.com/office/drawing/2014/main" id="{6F4AF420-BC3C-AD3E-8ACE-51FBB90F01F5}"/>
                  </a:ext>
                </a:extLst>
              </p:cNvPr>
              <p:cNvSpPr txBox="1">
                <a:spLocks noRot="1" noChangeAspect="1" noMove="1" noResize="1" noEditPoints="1" noAdjustHandles="1" noChangeArrowheads="1" noChangeShapeType="1" noTextEdit="1"/>
              </p:cNvSpPr>
              <p:nvPr/>
            </p:nvSpPr>
            <p:spPr>
              <a:xfrm>
                <a:off x="6453809" y="1646721"/>
                <a:ext cx="5244548" cy="4351338"/>
              </a:xfrm>
              <a:prstGeom prst="rect">
                <a:avLst/>
              </a:prstGeom>
              <a:blipFill>
                <a:blip r:embed="rId3"/>
                <a:stretch>
                  <a:fillRect l="-2093" t="-2241" r="-3023"/>
                </a:stretch>
              </a:blipFill>
            </p:spPr>
            <p:txBody>
              <a:bodyPr/>
              <a:lstStyle/>
              <a:p>
                <a:r>
                  <a:rPr lang="en-NL">
                    <a:noFill/>
                  </a:rPr>
                  <a:t> </a:t>
                </a:r>
              </a:p>
            </p:txBody>
          </p:sp>
        </mc:Fallback>
      </mc:AlternateContent>
    </p:spTree>
    <p:extLst>
      <p:ext uri="{BB962C8B-B14F-4D97-AF65-F5344CB8AC3E}">
        <p14:creationId xmlns:p14="http://schemas.microsoft.com/office/powerpoint/2010/main" val="2435165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48803A-37F1-0EE9-178D-4EAD3E93703E}"/>
                  </a:ext>
                </a:extLst>
              </p:cNvPr>
              <p:cNvSpPr>
                <a:spLocks noGrp="1"/>
              </p:cNvSpPr>
              <p:nvPr>
                <p:ph type="title"/>
              </p:nvPr>
            </p:nvSpPr>
            <p:spPr/>
            <p:txBody>
              <a:bodyPr/>
              <a:lstStyle/>
              <a:p>
                <a:r>
                  <a:rPr lang="en-US" dirty="0"/>
                  <a:t>What does </a:t>
                </a:r>
                <a14:m>
                  <m:oMath xmlns:m="http://schemas.openxmlformats.org/officeDocument/2006/math">
                    <m:r>
                      <a:rPr lang="en-US" sz="4400" b="0" i="1" smtClean="0">
                        <a:latin typeface="Cambria Math" panose="02040503050406030204" pitchFamily="18" charset="0"/>
                      </a:rPr>
                      <m:t>𝑃</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𝑋</m:t>
                        </m:r>
                        <m:r>
                          <a:rPr lang="en-US" sz="4400" b="0" i="1" smtClean="0">
                            <a:latin typeface="Cambria Math" panose="02040503050406030204" pitchFamily="18" charset="0"/>
                          </a:rPr>
                          <m:t>=</m:t>
                        </m:r>
                        <m:r>
                          <a:rPr lang="en-US" sz="4400" b="0" i="1" smtClean="0">
                            <a:latin typeface="Cambria Math" panose="02040503050406030204" pitchFamily="18" charset="0"/>
                          </a:rPr>
                          <m:t>𝑥</m:t>
                        </m:r>
                      </m:e>
                      <m:e>
                        <m:r>
                          <a:rPr lang="en-US" sz="4400" b="0" i="1" smtClean="0">
                            <a:latin typeface="Cambria Math" panose="02040503050406030204" pitchFamily="18" charset="0"/>
                          </a:rPr>
                          <m:t>𝑌</m:t>
                        </m:r>
                        <m:r>
                          <a:rPr lang="en-US" sz="4400" b="0" i="1" smtClean="0">
                            <a:latin typeface="Cambria Math" panose="02040503050406030204" pitchFamily="18" charset="0"/>
                          </a:rPr>
                          <m:t>=</m:t>
                        </m:r>
                        <m:r>
                          <a:rPr lang="en-US" sz="4400" b="0" i="1" smtClean="0">
                            <a:latin typeface="Cambria Math" panose="02040503050406030204" pitchFamily="18" charset="0"/>
                          </a:rPr>
                          <m:t>𝑦</m:t>
                        </m:r>
                        <m:r>
                          <a:rPr lang="en-US" sz="4400" b="0" i="1" smtClean="0">
                            <a:latin typeface="Cambria Math" panose="02040503050406030204" pitchFamily="18" charset="0"/>
                          </a:rPr>
                          <m:t> </m:t>
                        </m:r>
                      </m:e>
                    </m:d>
                  </m:oMath>
                </a14:m>
                <a:r>
                  <a:rPr lang="en-US" dirty="0"/>
                  <a:t> represent?</a:t>
                </a:r>
                <a:endParaRPr lang="en-NL" dirty="0"/>
              </a:p>
            </p:txBody>
          </p:sp>
        </mc:Choice>
        <mc:Fallback xmlns="">
          <p:sp>
            <p:nvSpPr>
              <p:cNvPr id="2" name="Title 1">
                <a:extLst>
                  <a:ext uri="{FF2B5EF4-FFF2-40B4-BE49-F238E27FC236}">
                    <a16:creationId xmlns:a16="http://schemas.microsoft.com/office/drawing/2014/main" id="{8648803A-37F1-0EE9-178D-4EAD3E93703E}"/>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BA9CF1-F091-88E9-4CCF-052B50531FD1}"/>
                  </a:ext>
                </a:extLst>
              </p:cNvPr>
              <p:cNvSpPr>
                <a:spLocks noGrp="1"/>
              </p:cNvSpPr>
              <p:nvPr>
                <p:ph idx="1"/>
              </p:nvPr>
            </p:nvSpPr>
            <p:spPr/>
            <p:txBody>
              <a:bodyPr/>
              <a:lstStyle/>
              <a:p>
                <a:pPr marL="0" indent="0">
                  <a:buNone/>
                </a:pPr>
                <a14:m>
                  <m:oMath xmlns:m="http://schemas.openxmlformats.org/officeDocument/2006/math">
                    <m:r>
                      <a:rPr lang="en-US" sz="2800" b="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r>
                          <a:rPr lang="en-US" sz="2800" b="0" i="1" smtClean="0">
                            <a:latin typeface="Cambria Math" panose="02040503050406030204" pitchFamily="18" charset="0"/>
                          </a:rPr>
                          <m:t>=</m:t>
                        </m:r>
                        <m:r>
                          <a:rPr lang="en-US" sz="2800" b="0" i="1" smtClean="0">
                            <a:latin typeface="Cambria Math" panose="02040503050406030204" pitchFamily="18" charset="0"/>
                          </a:rPr>
                          <m:t>𝑥</m:t>
                        </m:r>
                      </m:e>
                      <m:e>
                        <m:r>
                          <a:rPr lang="en-US" sz="2800" b="0" i="1" smtClean="0">
                            <a:latin typeface="Cambria Math" panose="02040503050406030204" pitchFamily="18" charset="0"/>
                          </a:rPr>
                          <m:t>𝑌</m:t>
                        </m:r>
                        <m:r>
                          <a:rPr lang="en-US" sz="2800" b="0" i="1" smtClean="0">
                            <a:latin typeface="Cambria Math" panose="02040503050406030204" pitchFamily="18" charset="0"/>
                          </a:rPr>
                          <m:t>=</m:t>
                        </m:r>
                        <m:r>
                          <a:rPr lang="en-US" sz="2800" b="0" i="1" smtClean="0">
                            <a:latin typeface="Cambria Math" panose="02040503050406030204" pitchFamily="18" charset="0"/>
                          </a:rPr>
                          <m:t>𝑦</m:t>
                        </m:r>
                        <m:r>
                          <a:rPr lang="en-US" sz="2800" b="0" i="1" smtClean="0">
                            <a:latin typeface="Cambria Math" panose="02040503050406030204" pitchFamily="18" charset="0"/>
                          </a:rPr>
                          <m:t> </m:t>
                        </m:r>
                      </m:e>
                    </m:d>
                  </m:oMath>
                </a14:m>
                <a:r>
                  <a:rPr lang="en-US" dirty="0"/>
                  <a:t> represents how knowledge of Y impacts our knowledge about X. </a:t>
                </a:r>
                <a:endParaRPr lang="en-NL" dirty="0"/>
              </a:p>
            </p:txBody>
          </p:sp>
        </mc:Choice>
        <mc:Fallback xmlns="">
          <p:sp>
            <p:nvSpPr>
              <p:cNvPr id="3" name="Content Placeholder 2">
                <a:extLst>
                  <a:ext uri="{FF2B5EF4-FFF2-40B4-BE49-F238E27FC236}">
                    <a16:creationId xmlns:a16="http://schemas.microsoft.com/office/drawing/2014/main" id="{C7BA9CF1-F091-88E9-4CCF-052B50531FD1}"/>
                  </a:ext>
                </a:extLst>
              </p:cNvPr>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NL">
                    <a:noFill/>
                  </a:rPr>
                  <a:t> </a:t>
                </a:r>
              </a:p>
            </p:txBody>
          </p:sp>
        </mc:Fallback>
      </mc:AlternateContent>
    </p:spTree>
    <p:extLst>
      <p:ext uri="{BB962C8B-B14F-4D97-AF65-F5344CB8AC3E}">
        <p14:creationId xmlns:p14="http://schemas.microsoft.com/office/powerpoint/2010/main" val="1942503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D09DF08-D874-D541-C734-CA843050C1DC}"/>
              </a:ext>
            </a:extLst>
          </p:cNvPr>
          <p:cNvPicPr>
            <a:picLocks noChangeAspect="1"/>
          </p:cNvPicPr>
          <p:nvPr/>
        </p:nvPicPr>
        <p:blipFill>
          <a:blip r:embed="rId2"/>
          <a:stretch>
            <a:fillRect/>
          </a:stretch>
        </p:blipFill>
        <p:spPr>
          <a:xfrm>
            <a:off x="242070" y="290074"/>
            <a:ext cx="11707859" cy="6277851"/>
          </a:xfrm>
          <a:prstGeom prst="rect">
            <a:avLst/>
          </a:prstGeom>
        </p:spPr>
      </p:pic>
    </p:spTree>
    <p:extLst>
      <p:ext uri="{BB962C8B-B14F-4D97-AF65-F5344CB8AC3E}">
        <p14:creationId xmlns:p14="http://schemas.microsoft.com/office/powerpoint/2010/main" val="10866986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B1F099D-C28A-83A2-4246-ED3757D43488}"/>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Probabilities</a:t>
            </a:r>
          </a:p>
        </p:txBody>
      </p:sp>
      <p:sp>
        <p:nvSpPr>
          <p:cNvPr id="31" name="Arc 3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045241-DAFA-9E7B-86ED-3F7FCB67D43D}"/>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a:lnSpc>
                    <a:spcPct val="90000"/>
                  </a:lnSpc>
                  <a:spcAft>
                    <a:spcPts val="600"/>
                  </a:spcAft>
                </a:pPr>
                <a14:m>
                  <m:oMath xmlns:m="http://schemas.openxmlformats.org/officeDocument/2006/math">
                    <m:nary>
                      <m:naryPr>
                        <m:chr m:val="∑"/>
                        <m:supHide m:val="on"/>
                        <m:ctrlPr>
                          <a:rPr lang="en-US" b="0" i="1">
                            <a:latin typeface="Cambria Math" panose="02040503050406030204" pitchFamily="18" charset="0"/>
                          </a:rPr>
                        </m:ctrlPr>
                      </m:naryPr>
                      <m:sub>
                        <m:r>
                          <a:rPr lang="en-US" b="0" i="1">
                            <a:latin typeface="Cambria Math" panose="02040503050406030204" pitchFamily="18" charset="0"/>
                          </a:rPr>
                          <m:t>𝑥</m:t>
                        </m:r>
                      </m:sub>
                      <m:sup/>
                      <m:e>
                        <m:r>
                          <a:rPr lang="en-US" b="0" i="1">
                            <a:latin typeface="Cambria Math" panose="02040503050406030204" pitchFamily="18" charset="0"/>
                          </a:rPr>
                          <m:t>𝑃</m:t>
                        </m:r>
                        <m:r>
                          <a:rPr lang="en-US" b="0" i="1">
                            <a:latin typeface="Cambria Math" panose="02040503050406030204" pitchFamily="18" charset="0"/>
                          </a:rPr>
                          <m:t>(</m:t>
                        </m:r>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e>
                    </m:nary>
                    <m:r>
                      <a:rPr lang="en-US" b="0" i="1">
                        <a:latin typeface="Cambria Math" panose="02040503050406030204" pitchFamily="18" charset="0"/>
                      </a:rPr>
                      <m:t>=1</m:t>
                    </m:r>
                  </m:oMath>
                </a14:m>
                <a:r>
                  <a:rPr lang="en-US" b="0" dirty="0"/>
                  <a:t> (Normalization)</a:t>
                </a:r>
              </a:p>
              <a:p>
                <a:pPr>
                  <a:lnSpc>
                    <a:spcPct val="90000"/>
                  </a:lnSpc>
                  <a:spcAft>
                    <a:spcPts val="600"/>
                  </a:spcAft>
                </a:pPr>
                <a:endParaRPr lang="en-US" b="0" i="1" dirty="0"/>
              </a:p>
              <a:p>
                <a:pPr>
                  <a:lnSpc>
                    <a:spcPct val="90000"/>
                  </a:lnSpc>
                  <a:spcAft>
                    <a:spcPts val="600"/>
                  </a:spcAft>
                </a:pPr>
                <a:endParaRPr lang="en-US" b="0" i="1" dirty="0"/>
              </a:p>
              <a:p>
                <a:pPr>
                  <a:lnSpc>
                    <a:spcPct val="90000"/>
                  </a:lnSpc>
                  <a:spcAft>
                    <a:spcPts val="600"/>
                  </a:spcAft>
                </a:pPr>
                <a14:m>
                  <m:oMath xmlns:m="http://schemas.openxmlformats.org/officeDocument/2006/math">
                    <m:nary>
                      <m:naryPr>
                        <m:chr m:val="∑"/>
                        <m:supHide m:val="on"/>
                        <m:ctrlPr>
                          <a:rPr lang="en-US" b="0" i="1">
                            <a:latin typeface="Cambria Math" panose="02040503050406030204" pitchFamily="18" charset="0"/>
                          </a:rPr>
                        </m:ctrlPr>
                      </m:naryPr>
                      <m:sub>
                        <m:r>
                          <a:rPr lang="en-US" b="0" i="1">
                            <a:latin typeface="Cambria Math" panose="02040503050406030204" pitchFamily="18" charset="0"/>
                          </a:rPr>
                          <m:t>𝑥</m:t>
                        </m:r>
                      </m:sub>
                      <m:sup/>
                      <m:e>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d>
                      </m:e>
                    </m:nary>
                    <m:r>
                      <a:rPr lang="en-US" b="0" i="1">
                        <a:latin typeface="Cambria Math" panose="02040503050406030204" pitchFamily="18" charset="0"/>
                      </a:rPr>
                      <m:t>=</m:t>
                    </m:r>
                    <m:r>
                      <a:rPr lang="en-US" b="0" i="1">
                        <a:latin typeface="Cambria Math" panose="02040503050406030204" pitchFamily="18" charset="0"/>
                      </a:rPr>
                      <m:t>𝑃</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r>
                      <a:rPr lang="en-US" b="0" i="1">
                        <a:latin typeface="Cambria Math" panose="02040503050406030204" pitchFamily="18" charset="0"/>
                      </a:rPr>
                      <m:t>)</m:t>
                    </m:r>
                  </m:oMath>
                </a14:m>
                <a:r>
                  <a:rPr lang="en-US" b="0" dirty="0"/>
                  <a:t> (Marginalization)</a:t>
                </a:r>
              </a:p>
              <a:p>
                <a:pPr>
                  <a:lnSpc>
                    <a:spcPct val="90000"/>
                  </a:lnSpc>
                  <a:spcAft>
                    <a:spcPts val="600"/>
                  </a:spcAft>
                </a:pPr>
                <a:endParaRPr lang="en-US" b="0" i="1" dirty="0"/>
              </a:p>
              <a:p>
                <a:pPr>
                  <a:lnSpc>
                    <a:spcPct val="90000"/>
                  </a:lnSpc>
                  <a:spcAft>
                    <a:spcPts val="600"/>
                  </a:spcAft>
                </a:pPr>
                <a:endParaRPr lang="en-US" b="0" i="1" dirty="0"/>
              </a:p>
              <a:p>
                <a:pPr>
                  <a:lnSpc>
                    <a:spcPct val="90000"/>
                  </a:lnSpc>
                  <a:spcAft>
                    <a:spcPts val="600"/>
                  </a:spcAft>
                </a:pPr>
                <a14:m>
                  <m:oMath xmlns:m="http://schemas.openxmlformats.org/officeDocument/2006/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e>
                      <m:e>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r>
                          <a:rPr lang="en-US" b="0" i="1">
                            <a:latin typeface="Cambria Math" panose="02040503050406030204" pitchFamily="18" charset="0"/>
                          </a:rPr>
                          <m:t> </m:t>
                        </m:r>
                      </m:e>
                    </m:d>
                    <m:r>
                      <a:rPr lang="en-US" b="0" i="1">
                        <a:latin typeface="Cambria Math" panose="02040503050406030204" pitchFamily="18" charset="0"/>
                      </a:rPr>
                      <m:t>𝑃</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r>
                      <a:rPr lang="en-US" b="0" i="1">
                        <a:latin typeface="Cambria Math" panose="02040503050406030204" pitchFamily="18" charset="0"/>
                      </a:rPr>
                      <m:t>)</m:t>
                    </m:r>
                  </m:oMath>
                </a14:m>
                <a:r>
                  <a:rPr lang="en-US" b="0" dirty="0"/>
                  <a:t> (Conditioning)</a:t>
                </a:r>
              </a:p>
            </p:txBody>
          </p:sp>
        </mc:Choice>
        <mc:Fallback xmlns="">
          <p:sp>
            <p:nvSpPr>
              <p:cNvPr id="4" name="TextBox 3">
                <a:extLst>
                  <a:ext uri="{FF2B5EF4-FFF2-40B4-BE49-F238E27FC236}">
                    <a16:creationId xmlns:a16="http://schemas.microsoft.com/office/drawing/2014/main" id="{35045241-DAFA-9E7B-86ED-3F7FCB67D43D}"/>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2"/>
                <a:stretch>
                  <a:fillRect l="-4947"/>
                </a:stretch>
              </a:blipFill>
            </p:spPr>
            <p:txBody>
              <a:bodyPr/>
              <a:lstStyle/>
              <a:p>
                <a:r>
                  <a:rPr lang="en-NL">
                    <a:noFill/>
                  </a:rPr>
                  <a:t> </a:t>
                </a:r>
              </a:p>
            </p:txBody>
          </p:sp>
        </mc:Fallback>
      </mc:AlternateContent>
    </p:spTree>
    <p:extLst>
      <p:ext uri="{BB962C8B-B14F-4D97-AF65-F5344CB8AC3E}">
        <p14:creationId xmlns:p14="http://schemas.microsoft.com/office/powerpoint/2010/main" val="3627828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7E19-C22A-15F6-B06B-B64A7E46D7B3}"/>
              </a:ext>
            </a:extLst>
          </p:cNvPr>
          <p:cNvSpPr>
            <a:spLocks noGrp="1"/>
          </p:cNvSpPr>
          <p:nvPr>
            <p:ph type="ctrTitle"/>
          </p:nvPr>
        </p:nvSpPr>
        <p:spPr/>
        <p:txBody>
          <a:bodyPr/>
          <a:lstStyle/>
          <a:p>
            <a:pPr marL="0" indent="0" algn="l">
              <a:buNone/>
            </a:pPr>
            <a:r>
              <a:rPr lang="en-US" b="0" i="0" dirty="0">
                <a:solidFill>
                  <a:srgbClr val="374151"/>
                </a:solidFill>
                <a:effectLst/>
                <a:latin typeface="Söhne"/>
              </a:rPr>
              <a:t>Bayes' Rule</a:t>
            </a:r>
          </a:p>
        </p:txBody>
      </p:sp>
      <p:sp>
        <p:nvSpPr>
          <p:cNvPr id="3" name="Subtitle 2">
            <a:extLst>
              <a:ext uri="{FF2B5EF4-FFF2-40B4-BE49-F238E27FC236}">
                <a16:creationId xmlns:a16="http://schemas.microsoft.com/office/drawing/2014/main" id="{10711011-4590-EA3A-B542-8F844D41BCE5}"/>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2032180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ECBD0C78-C175-D300-1C62-A4BE6E70C2A9}"/>
              </a:ext>
            </a:extLst>
          </p:cNvPr>
          <p:cNvPicPr>
            <a:picLocks noChangeAspect="1"/>
          </p:cNvPicPr>
          <p:nvPr/>
        </p:nvPicPr>
        <p:blipFill>
          <a:blip r:embed="rId3"/>
          <a:stretch>
            <a:fillRect/>
          </a:stretch>
        </p:blipFill>
        <p:spPr>
          <a:xfrm>
            <a:off x="1621248" y="643467"/>
            <a:ext cx="8949503" cy="5571065"/>
          </a:xfrm>
          <a:prstGeom prst="rect">
            <a:avLst/>
          </a:prstGeom>
          <a:ln>
            <a:noFill/>
          </a:ln>
        </p:spPr>
      </p:pic>
      <p:sp>
        <p:nvSpPr>
          <p:cNvPr id="6" name="Rectangle 5">
            <a:extLst>
              <a:ext uri="{FF2B5EF4-FFF2-40B4-BE49-F238E27FC236}">
                <a16:creationId xmlns:a16="http://schemas.microsoft.com/office/drawing/2014/main" id="{5B7EDD5A-1ED7-33F2-A115-37B5FA11229B}"/>
              </a:ext>
            </a:extLst>
          </p:cNvPr>
          <p:cNvSpPr/>
          <p:nvPr/>
        </p:nvSpPr>
        <p:spPr>
          <a:xfrm>
            <a:off x="2499044" y="3428999"/>
            <a:ext cx="7999303" cy="32354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is causing the symptoms?</a:t>
            </a:r>
            <a:endParaRPr lang="en-NL" dirty="0"/>
          </a:p>
        </p:txBody>
      </p:sp>
      <p:sp>
        <p:nvSpPr>
          <p:cNvPr id="7" name="TextBox 6">
            <a:extLst>
              <a:ext uri="{FF2B5EF4-FFF2-40B4-BE49-F238E27FC236}">
                <a16:creationId xmlns:a16="http://schemas.microsoft.com/office/drawing/2014/main" id="{94181767-5431-AEA4-2580-A37B17B3FFC0}"/>
              </a:ext>
            </a:extLst>
          </p:cNvPr>
          <p:cNvSpPr txBox="1"/>
          <p:nvPr/>
        </p:nvSpPr>
        <p:spPr>
          <a:xfrm>
            <a:off x="-1" y="193510"/>
            <a:ext cx="10570751" cy="369332"/>
          </a:xfrm>
          <a:prstGeom prst="rect">
            <a:avLst/>
          </a:prstGeom>
          <a:noFill/>
        </p:spPr>
        <p:txBody>
          <a:bodyPr wrap="square">
            <a:spAutoFit/>
          </a:bodyPr>
          <a:lstStyle/>
          <a:p>
            <a:r>
              <a:rPr lang="en-US" dirty="0">
                <a:hlinkClick r:id="rId4"/>
              </a:rPr>
              <a:t>(PDF) Bayes' Rule: A Tutorial Introduction to Bayesian Analysis (researchgate.net)</a:t>
            </a:r>
            <a:endParaRPr lang="en-NL" dirty="0"/>
          </a:p>
        </p:txBody>
      </p:sp>
    </p:spTree>
    <p:extLst>
      <p:ext uri="{BB962C8B-B14F-4D97-AF65-F5344CB8AC3E}">
        <p14:creationId xmlns:p14="http://schemas.microsoft.com/office/powerpoint/2010/main" val="414561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ECBD0C78-C175-D300-1C62-A4BE6E70C2A9}"/>
              </a:ext>
            </a:extLst>
          </p:cNvPr>
          <p:cNvPicPr>
            <a:picLocks noChangeAspect="1"/>
          </p:cNvPicPr>
          <p:nvPr/>
        </p:nvPicPr>
        <p:blipFill>
          <a:blip r:embed="rId2"/>
          <a:stretch>
            <a:fillRect/>
          </a:stretch>
        </p:blipFill>
        <p:spPr>
          <a:xfrm>
            <a:off x="1621248" y="643467"/>
            <a:ext cx="8949503" cy="5571065"/>
          </a:xfrm>
          <a:prstGeom prst="rect">
            <a:avLst/>
          </a:prstGeom>
          <a:ln>
            <a:noFill/>
          </a:ln>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B7EDD5A-1ED7-33F2-A115-37B5FA11229B}"/>
                  </a:ext>
                </a:extLst>
              </p:cNvPr>
              <p:cNvSpPr/>
              <p:nvPr/>
            </p:nvSpPr>
            <p:spPr>
              <a:xfrm>
                <a:off x="2769081" y="4789016"/>
                <a:ext cx="7479100" cy="15945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is causing the symptoms?</a:t>
                </a:r>
              </a:p>
              <a:p>
                <a:pPr algn="ctr"/>
                <a:endParaRPr lang="en-US" baseline="-25000" dirty="0"/>
              </a:p>
              <a:p>
                <a:pPr algn="ct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𝑥</m:t>
                          </m:r>
                        </m:e>
                      </m:d>
                    </m:oMath>
                  </m:oMathPara>
                </a14:m>
                <a:endParaRPr lang="en-US" dirty="0"/>
              </a:p>
            </p:txBody>
          </p:sp>
        </mc:Choice>
        <mc:Fallback xmlns="">
          <p:sp>
            <p:nvSpPr>
              <p:cNvPr id="6" name="Rectangle 5">
                <a:extLst>
                  <a:ext uri="{FF2B5EF4-FFF2-40B4-BE49-F238E27FC236}">
                    <a16:creationId xmlns:a16="http://schemas.microsoft.com/office/drawing/2014/main" id="{5B7EDD5A-1ED7-33F2-A115-37B5FA11229B}"/>
                  </a:ext>
                </a:extLst>
              </p:cNvPr>
              <p:cNvSpPr>
                <a:spLocks noRot="1" noChangeAspect="1" noMove="1" noResize="1" noEditPoints="1" noAdjustHandles="1" noChangeArrowheads="1" noChangeShapeType="1" noTextEdit="1"/>
              </p:cNvSpPr>
              <p:nvPr/>
            </p:nvSpPr>
            <p:spPr>
              <a:xfrm>
                <a:off x="2769081" y="4789016"/>
                <a:ext cx="7479100" cy="1594531"/>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2990238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ECBD0C78-C175-D300-1C62-A4BE6E70C2A9}"/>
              </a:ext>
            </a:extLst>
          </p:cNvPr>
          <p:cNvPicPr>
            <a:picLocks noChangeAspect="1"/>
          </p:cNvPicPr>
          <p:nvPr/>
        </p:nvPicPr>
        <p:blipFill>
          <a:blip r:embed="rId2"/>
          <a:stretch>
            <a:fillRect/>
          </a:stretch>
        </p:blipFill>
        <p:spPr>
          <a:xfrm>
            <a:off x="1621248" y="643467"/>
            <a:ext cx="8949503" cy="5571065"/>
          </a:xfrm>
          <a:prstGeom prst="rect">
            <a:avLst/>
          </a:prstGeom>
          <a:ln>
            <a:noFill/>
          </a:ln>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B7EDD5A-1ED7-33F2-A115-37B5FA11229B}"/>
                  </a:ext>
                </a:extLst>
              </p:cNvPr>
              <p:cNvSpPr/>
              <p:nvPr/>
            </p:nvSpPr>
            <p:spPr>
              <a:xfrm>
                <a:off x="2751828" y="4814895"/>
                <a:ext cx="7479100" cy="15945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is causing the symptoms?</a:t>
                </a:r>
              </a:p>
              <a:p>
                <a:pPr algn="ctr"/>
                <a:endParaRPr lang="en-US" baseline="-25000" dirty="0"/>
              </a:p>
              <a:p>
                <a:pPr algn="ct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oMath>
                  </m:oMathPara>
                </a14:m>
                <a:endParaRPr lang="en-US" dirty="0"/>
              </a:p>
            </p:txBody>
          </p:sp>
        </mc:Choice>
        <mc:Fallback xmlns="">
          <p:sp>
            <p:nvSpPr>
              <p:cNvPr id="6" name="Rectangle 5">
                <a:extLst>
                  <a:ext uri="{FF2B5EF4-FFF2-40B4-BE49-F238E27FC236}">
                    <a16:creationId xmlns:a16="http://schemas.microsoft.com/office/drawing/2014/main" id="{5B7EDD5A-1ED7-33F2-A115-37B5FA11229B}"/>
                  </a:ext>
                </a:extLst>
              </p:cNvPr>
              <p:cNvSpPr>
                <a:spLocks noRot="1" noChangeAspect="1" noMove="1" noResize="1" noEditPoints="1" noAdjustHandles="1" noChangeArrowheads="1" noChangeShapeType="1" noTextEdit="1"/>
              </p:cNvSpPr>
              <p:nvPr/>
            </p:nvSpPr>
            <p:spPr>
              <a:xfrm>
                <a:off x="2751828" y="4814895"/>
                <a:ext cx="7479100" cy="1594531"/>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02083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ECBD0C78-C175-D300-1C62-A4BE6E70C2A9}"/>
              </a:ext>
            </a:extLst>
          </p:cNvPr>
          <p:cNvPicPr>
            <a:picLocks noChangeAspect="1"/>
          </p:cNvPicPr>
          <p:nvPr/>
        </p:nvPicPr>
        <p:blipFill>
          <a:blip r:embed="rId2"/>
          <a:stretch>
            <a:fillRect/>
          </a:stretch>
        </p:blipFill>
        <p:spPr>
          <a:xfrm>
            <a:off x="1621248" y="643467"/>
            <a:ext cx="8949503" cy="5571065"/>
          </a:xfrm>
          <a:prstGeom prst="rect">
            <a:avLst/>
          </a:prstGeom>
          <a:ln>
            <a:noFill/>
          </a:ln>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B7EDD5A-1ED7-33F2-A115-37B5FA11229B}"/>
                  </a:ext>
                </a:extLst>
              </p:cNvPr>
              <p:cNvSpPr/>
              <p:nvPr/>
            </p:nvSpPr>
            <p:spPr>
              <a:xfrm>
                <a:off x="2751828" y="4814895"/>
                <a:ext cx="7479100" cy="15945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What is causing the symptoms?</a:t>
                </a:r>
              </a:p>
              <a:p>
                <a:pPr algn="ctr"/>
                <a:endParaRPr lang="en-US" baseline="-25000" dirty="0"/>
              </a:p>
              <a:p>
                <a:pPr algn="ct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e>
                              <m:r>
                                <a:rPr lang="en-US" b="0" i="1" smtClean="0">
                                  <a:latin typeface="Cambria Math" panose="02040503050406030204" pitchFamily="18" charset="0"/>
                                </a:rPr>
                                <m:t>𝜃</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den>
                      </m:f>
                    </m:oMath>
                  </m:oMathPara>
                </a14:m>
                <a:endParaRPr lang="en-US" dirty="0"/>
              </a:p>
            </p:txBody>
          </p:sp>
        </mc:Choice>
        <mc:Fallback xmlns="">
          <p:sp>
            <p:nvSpPr>
              <p:cNvPr id="6" name="Rectangle 5">
                <a:extLst>
                  <a:ext uri="{FF2B5EF4-FFF2-40B4-BE49-F238E27FC236}">
                    <a16:creationId xmlns:a16="http://schemas.microsoft.com/office/drawing/2014/main" id="{5B7EDD5A-1ED7-33F2-A115-37B5FA11229B}"/>
                  </a:ext>
                </a:extLst>
              </p:cNvPr>
              <p:cNvSpPr>
                <a:spLocks noRot="1" noChangeAspect="1" noMove="1" noResize="1" noEditPoints="1" noAdjustHandles="1" noChangeArrowheads="1" noChangeShapeType="1" noTextEdit="1"/>
              </p:cNvSpPr>
              <p:nvPr/>
            </p:nvSpPr>
            <p:spPr>
              <a:xfrm>
                <a:off x="2751828" y="4814895"/>
                <a:ext cx="7479100" cy="1594531"/>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825755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ECBD0C78-C175-D300-1C62-A4BE6E70C2A9}"/>
              </a:ext>
            </a:extLst>
          </p:cNvPr>
          <p:cNvPicPr>
            <a:picLocks noChangeAspect="1"/>
          </p:cNvPicPr>
          <p:nvPr/>
        </p:nvPicPr>
        <p:blipFill>
          <a:blip r:embed="rId2"/>
          <a:stretch>
            <a:fillRect/>
          </a:stretch>
        </p:blipFill>
        <p:spPr>
          <a:xfrm>
            <a:off x="1621248" y="643467"/>
            <a:ext cx="8949503" cy="5571065"/>
          </a:xfrm>
          <a:prstGeom prst="rect">
            <a:avLst/>
          </a:prstGeom>
          <a:ln>
            <a:noFill/>
          </a:ln>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5B7EDD5A-1ED7-33F2-A115-37B5FA11229B}"/>
                  </a:ext>
                </a:extLst>
              </p:cNvPr>
              <p:cNvSpPr/>
              <p:nvPr/>
            </p:nvSpPr>
            <p:spPr>
              <a:xfrm>
                <a:off x="2769081" y="4789016"/>
                <a:ext cx="7479100" cy="15945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Prevalence of the symptoms in the overall population</a:t>
                </a:r>
              </a:p>
              <a:p>
                <a:pPr algn="ctr"/>
                <a:endParaRPr lang="en-US" baseline="-25000" dirty="0"/>
              </a:p>
              <a:p>
                <a:pPr algn="ct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=0.081</m:t>
                      </m:r>
                    </m:oMath>
                  </m:oMathPara>
                </a14:m>
                <a:endParaRPr lang="en-US" dirty="0"/>
              </a:p>
            </p:txBody>
          </p:sp>
        </mc:Choice>
        <mc:Fallback xmlns="">
          <p:sp>
            <p:nvSpPr>
              <p:cNvPr id="6" name="Rectangle 5">
                <a:extLst>
                  <a:ext uri="{FF2B5EF4-FFF2-40B4-BE49-F238E27FC236}">
                    <a16:creationId xmlns:a16="http://schemas.microsoft.com/office/drawing/2014/main" id="{5B7EDD5A-1ED7-33F2-A115-37B5FA11229B}"/>
                  </a:ext>
                </a:extLst>
              </p:cNvPr>
              <p:cNvSpPr>
                <a:spLocks noRot="1" noChangeAspect="1" noMove="1" noResize="1" noEditPoints="1" noAdjustHandles="1" noChangeArrowheads="1" noChangeShapeType="1" noTextEdit="1"/>
              </p:cNvSpPr>
              <p:nvPr/>
            </p:nvSpPr>
            <p:spPr>
              <a:xfrm>
                <a:off x="2769081" y="4789016"/>
                <a:ext cx="7479100" cy="1594531"/>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4741408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ECBD0C78-C175-D300-1C62-A4BE6E70C2A9}"/>
              </a:ext>
            </a:extLst>
          </p:cNvPr>
          <p:cNvPicPr>
            <a:picLocks noChangeAspect="1"/>
          </p:cNvPicPr>
          <p:nvPr/>
        </p:nvPicPr>
        <p:blipFill>
          <a:blip r:embed="rId2"/>
          <a:stretch>
            <a:fillRect/>
          </a:stretch>
        </p:blipFill>
        <p:spPr>
          <a:xfrm>
            <a:off x="1621248" y="643467"/>
            <a:ext cx="8949503" cy="5571065"/>
          </a:xfrm>
          <a:prstGeom prst="rect">
            <a:avLst/>
          </a:prstGeom>
          <a:ln>
            <a:noFill/>
          </a:ln>
        </p:spPr>
      </p:pic>
    </p:spTree>
    <p:extLst>
      <p:ext uri="{BB962C8B-B14F-4D97-AF65-F5344CB8AC3E}">
        <p14:creationId xmlns:p14="http://schemas.microsoft.com/office/powerpoint/2010/main" val="2122785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D7CD-53B5-B92F-8467-6CE311F4DB68}"/>
              </a:ext>
            </a:extLst>
          </p:cNvPr>
          <p:cNvSpPr>
            <a:spLocks noGrp="1"/>
          </p:cNvSpPr>
          <p:nvPr>
            <p:ph type="title"/>
          </p:nvPr>
        </p:nvSpPr>
        <p:spPr/>
        <p:txBody>
          <a:bodyPr/>
          <a:lstStyle/>
          <a:p>
            <a:r>
              <a:rPr lang="en-NL" dirty="0"/>
              <a:t>Bayes rule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DBA3DC8-405C-2874-6049-4B82420B78BE}"/>
                  </a:ext>
                </a:extLst>
              </p:cNvPr>
              <p:cNvSpPr>
                <a:spLocks noGrp="1"/>
              </p:cNvSpPr>
              <p:nvPr>
                <p:ph idx="1"/>
              </p:nvPr>
            </p:nvSpPr>
            <p:spPr/>
            <p:txBody>
              <a:bodyPr>
                <a:normAutofit/>
              </a:bodyPr>
              <a:lstStyle/>
              <a:p>
                <a:pPr marL="0" indent="0">
                  <a:buNone/>
                </a:pPr>
                <a:r>
                  <a:rPr lang="en-US" b="0" i="1" dirty="0">
                    <a:latin typeface="Cambria Math" panose="02040503050406030204" pitchFamily="18" charset="0"/>
                  </a:rPr>
                  <a:t>For dat</a:t>
                </a:r>
                <a:r>
                  <a:rPr lang="en-US" i="1" dirty="0">
                    <a:latin typeface="Cambria Math" panose="02040503050406030204" pitchFamily="18" charset="0"/>
                  </a:rPr>
                  <a:t>a D and hypothesis H, we have:</a:t>
                </a: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e>
                        <m:e>
                          <m:r>
                            <a:rPr lang="en-US" b="0" i="1" smtClean="0">
                              <a:latin typeface="Cambria Math" panose="02040503050406030204" pitchFamily="18" charset="0"/>
                            </a:rPr>
                            <m:t>𝐷</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𝐻</m:t>
                              </m:r>
                            </m:e>
                          </m:d>
                        </m:num>
                        <m:den>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den>
                      </m:f>
                    </m:oMath>
                  </m:oMathPara>
                </a14:m>
                <a:endParaRPr lang="en-NL" dirty="0"/>
              </a:p>
              <a:p>
                <a:pPr marL="0" indent="0">
                  <a:buNone/>
                </a:pPr>
                <a:r>
                  <a:rPr lang="en-NL" dirty="0"/>
                  <a:t>We can also write this down as</a:t>
                </a:r>
              </a:p>
              <a:p>
                <a:pPr marL="0" indent="0">
                  <a:buNone/>
                </a:pPr>
                <a14:m>
                  <m:oMathPara xmlns:m="http://schemas.openxmlformats.org/officeDocument/2006/math">
                    <m:o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𝐻</m:t>
                          </m:r>
                        </m:e>
                        <m:e>
                          <m:r>
                            <a:rPr lang="en-US" i="1">
                              <a:latin typeface="Cambria Math" panose="02040503050406030204" pitchFamily="18" charset="0"/>
                            </a:rPr>
                            <m:t>𝐷</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𝐻</m:t>
                              </m:r>
                            </m:e>
                          </m:d>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e>
                          </m:d>
                        </m:num>
                        <m:den>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𝐷</m:t>
                              </m:r>
                            </m:e>
                          </m:d>
                        </m:den>
                      </m:f>
                    </m:oMath>
                  </m:oMathPara>
                </a14:m>
                <a:endParaRPr lang="en-NL" dirty="0"/>
              </a:p>
              <a:p>
                <a:pPr marL="0" indent="0">
                  <a:buNone/>
                </a:pPr>
                <a:endParaRPr lang="en-GB" dirty="0"/>
              </a:p>
              <a:p>
                <a:pPr marL="0" indent="0">
                  <a:buNone/>
                </a:pPr>
                <a:r>
                  <a:rPr lang="en-GB" dirty="0"/>
                  <a:t>Why?</a:t>
                </a:r>
              </a:p>
              <a:p>
                <a:pPr marL="0" indent="0">
                  <a:buNone/>
                </a:pPr>
                <a:endParaRPr lang="en-NL" dirty="0"/>
              </a:p>
            </p:txBody>
          </p:sp>
        </mc:Choice>
        <mc:Fallback xmlns="">
          <p:sp>
            <p:nvSpPr>
              <p:cNvPr id="3" name="Content Placeholder 2">
                <a:extLst>
                  <a:ext uri="{FF2B5EF4-FFF2-40B4-BE49-F238E27FC236}">
                    <a16:creationId xmlns:a16="http://schemas.microsoft.com/office/drawing/2014/main" id="{1DBA3DC8-405C-2874-6049-4B82420B78BE}"/>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NL">
                    <a:noFill/>
                  </a:rPr>
                  <a:t> </a:t>
                </a:r>
              </a:p>
            </p:txBody>
          </p:sp>
        </mc:Fallback>
      </mc:AlternateContent>
    </p:spTree>
    <p:extLst>
      <p:ext uri="{BB962C8B-B14F-4D97-AF65-F5344CB8AC3E}">
        <p14:creationId xmlns:p14="http://schemas.microsoft.com/office/powerpoint/2010/main" val="1217781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7279-FF4D-ACB1-EACC-7F52BCFDEA80}"/>
              </a:ext>
            </a:extLst>
          </p:cNvPr>
          <p:cNvSpPr>
            <a:spLocks noGrp="1"/>
          </p:cNvSpPr>
          <p:nvPr>
            <p:ph type="title"/>
          </p:nvPr>
        </p:nvSpPr>
        <p:spPr/>
        <p:txBody>
          <a:bodyPr/>
          <a:lstStyle/>
          <a:p>
            <a:r>
              <a:rPr lang="en-NL" dirty="0"/>
              <a:t>Bayes rule for Binary random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1E2357F-5868-2152-E848-1A7F22704003}"/>
                  </a:ext>
                </a:extLst>
              </p:cNvPr>
              <p:cNvSpPr>
                <a:spLocks noGrp="1"/>
              </p:cNvSpPr>
              <p:nvPr>
                <p:ph idx="1"/>
              </p:nvPr>
            </p:nvSpPr>
            <p:spPr/>
            <p:txBody>
              <a:bodyPr/>
              <a:lstStyle/>
              <a:p>
                <a:pPr marL="0" indent="0">
                  <a:buNone/>
                </a:pPr>
                <a:r>
                  <a:rPr lang="en-US" dirty="0"/>
                  <a:t>If </a:t>
                </a:r>
                <a:r>
                  <a:rPr lang="en-NL" dirty="0"/>
                  <a:t>hypothesis is a binary random variable:</a:t>
                </a:r>
              </a:p>
              <a:p>
                <a:pPr marL="0" indent="0">
                  <a:buNone/>
                </a:pPr>
                <a:endParaRPr lang="en-NL" dirty="0"/>
              </a:p>
              <a:p>
                <a:pPr marL="0" indent="0">
                  <a:buNone/>
                </a:pPr>
                <a14:m>
                  <m:oMathPara xmlns:m="http://schemas.openxmlformats.org/officeDocument/2006/math">
                    <m:o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e>
                      </m:d>
                      <m:r>
                        <a:rPr lang="en-US" b="0" i="1" smtClean="0">
                          <a:latin typeface="Cambria Math" panose="02040503050406030204" pitchFamily="18" charset="0"/>
                        </a:rPr>
                        <m:t>= </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𝐷</m:t>
                          </m:r>
                        </m:e>
                        <m:e>
                          <m:r>
                            <a:rPr lang="en-US" i="1">
                              <a:latin typeface="Cambria Math" panose="02040503050406030204" pitchFamily="18" charset="0"/>
                            </a:rPr>
                            <m:t>𝐻</m:t>
                          </m:r>
                          <m:r>
                            <a:rPr lang="en-US" i="1">
                              <a:latin typeface="Cambria Math" panose="02040503050406030204" pitchFamily="18" charset="0"/>
                            </a:rPr>
                            <m:t>=0</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𝐻</m:t>
                          </m:r>
                          <m:r>
                            <a:rPr lang="en-US" i="1">
                              <a:latin typeface="Cambria Math" panose="02040503050406030204" pitchFamily="18" charset="0"/>
                            </a:rPr>
                            <m:t>=0</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𝐷</m:t>
                          </m:r>
                        </m:e>
                        <m:e>
                          <m:r>
                            <a:rPr lang="en-US" i="1">
                              <a:latin typeface="Cambria Math" panose="02040503050406030204" pitchFamily="18" charset="0"/>
                            </a:rPr>
                            <m:t>𝐻</m:t>
                          </m:r>
                          <m:r>
                            <a:rPr lang="en-US" i="1">
                              <a:latin typeface="Cambria Math" panose="02040503050406030204" pitchFamily="18" charset="0"/>
                            </a:rPr>
                            <m:t>=1</m:t>
                          </m:r>
                        </m:e>
                      </m:d>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=1)</m:t>
                      </m:r>
                    </m:oMath>
                  </m:oMathPara>
                </a14:m>
                <a:endParaRPr lang="en-NL" dirty="0"/>
              </a:p>
              <a:p>
                <a:pPr marL="0" indent="0">
                  <a:buNone/>
                </a:pPr>
                <a:endParaRPr lang="en-NL" dirty="0"/>
              </a:p>
              <a:p>
                <a:pPr marL="0" indent="0">
                  <a:buNone/>
                </a:pPr>
                <a:r>
                  <a:rPr lang="en-NL" dirty="0"/>
                  <a:t>Why?</a:t>
                </a:r>
                <a:br>
                  <a:rPr lang="en-NL" dirty="0"/>
                </a:br>
                <a:endParaRPr lang="en-NL" dirty="0"/>
              </a:p>
              <a:p>
                <a:pPr marL="0" indent="0">
                  <a:buNone/>
                </a:pPr>
                <a14:m>
                  <m:oMathPara xmlns:m="http://schemas.openxmlformats.org/officeDocument/2006/math">
                    <m:o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𝐻</m:t>
                          </m:r>
                        </m:e>
                        <m:e>
                          <m:r>
                            <a:rPr lang="en-US" i="1">
                              <a:latin typeface="Cambria Math" panose="02040503050406030204" pitchFamily="18" charset="0"/>
                            </a:rPr>
                            <m:t>𝐷</m:t>
                          </m:r>
                        </m:e>
                      </m:d>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r>
                                <a:rPr lang="en-US" b="0" i="1" smtClean="0">
                                  <a:latin typeface="Cambria Math" panose="02040503050406030204" pitchFamily="18" charset="0"/>
                                </a:rPr>
                                <m:t>|</m:t>
                              </m:r>
                              <m:r>
                                <a:rPr lang="en-US" b="0" i="1" smtClean="0">
                                  <a:latin typeface="Cambria Math" panose="02040503050406030204" pitchFamily="18" charset="0"/>
                                </a:rPr>
                                <m:t>𝐻</m:t>
                              </m:r>
                            </m:e>
                          </m:d>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𝐻</m:t>
                              </m:r>
                            </m:e>
                          </m:d>
                        </m:num>
                        <m:den>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𝐷</m:t>
                              </m:r>
                            </m:e>
                            <m:e>
                              <m:r>
                                <a:rPr lang="en-US" i="1">
                                  <a:latin typeface="Cambria Math" panose="02040503050406030204" pitchFamily="18" charset="0"/>
                                </a:rPr>
                                <m:t>𝐻</m:t>
                              </m:r>
                              <m:r>
                                <a:rPr lang="en-US" i="1">
                                  <a:latin typeface="Cambria Math" panose="02040503050406030204" pitchFamily="18" charset="0"/>
                                </a:rPr>
                                <m:t>=0</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𝐻</m:t>
                              </m:r>
                              <m:r>
                                <a:rPr lang="en-US" i="1">
                                  <a:latin typeface="Cambria Math" panose="02040503050406030204" pitchFamily="18" charset="0"/>
                                </a:rPr>
                                <m:t>=0</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𝐷</m:t>
                              </m:r>
                            </m:e>
                            <m:e>
                              <m:r>
                                <a:rPr lang="en-US" i="1">
                                  <a:latin typeface="Cambria Math" panose="02040503050406030204" pitchFamily="18" charset="0"/>
                                </a:rPr>
                                <m:t>𝐻</m:t>
                              </m:r>
                              <m:r>
                                <a:rPr lang="en-US" i="1">
                                  <a:latin typeface="Cambria Math" panose="02040503050406030204" pitchFamily="18" charset="0"/>
                                </a:rPr>
                                <m:t>=1</m:t>
                              </m:r>
                            </m:e>
                          </m:d>
                          <m:r>
                            <a:rPr lang="en-US" i="1">
                              <a:latin typeface="Cambria Math" panose="02040503050406030204" pitchFamily="18" charset="0"/>
                            </a:rPr>
                            <m:t>𝑃</m:t>
                          </m:r>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=1)</m:t>
                          </m:r>
                        </m:den>
                      </m:f>
                    </m:oMath>
                  </m:oMathPara>
                </a14:m>
                <a:endParaRPr lang="en-NL" dirty="0"/>
              </a:p>
              <a:p>
                <a:endParaRPr lang="en-NL" dirty="0"/>
              </a:p>
            </p:txBody>
          </p:sp>
        </mc:Choice>
        <mc:Fallback xmlns="">
          <p:sp>
            <p:nvSpPr>
              <p:cNvPr id="3" name="Content Placeholder 2">
                <a:extLst>
                  <a:ext uri="{FF2B5EF4-FFF2-40B4-BE49-F238E27FC236}">
                    <a16:creationId xmlns:a16="http://schemas.microsoft.com/office/drawing/2014/main" id="{21E2357F-5868-2152-E848-1A7F22704003}"/>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NL">
                    <a:noFill/>
                  </a:rPr>
                  <a:t> </a:t>
                </a:r>
              </a:p>
            </p:txBody>
          </p:sp>
        </mc:Fallback>
      </mc:AlternateContent>
    </p:spTree>
    <p:extLst>
      <p:ext uri="{BB962C8B-B14F-4D97-AF65-F5344CB8AC3E}">
        <p14:creationId xmlns:p14="http://schemas.microsoft.com/office/powerpoint/2010/main" val="1618344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54C27-06E1-F382-0056-0B1B67DDBC61}"/>
              </a:ext>
            </a:extLst>
          </p:cNvPr>
          <p:cNvSpPr>
            <a:spLocks noGrp="1"/>
          </p:cNvSpPr>
          <p:nvPr>
            <p:ph type="title"/>
          </p:nvPr>
        </p:nvSpPr>
        <p:spPr/>
        <p:txBody>
          <a:bodyPr/>
          <a:lstStyle/>
          <a:p>
            <a:r>
              <a:rPr lang="en-NL" dirty="0"/>
              <a:t>Example: Medical Tests</a:t>
            </a:r>
          </a:p>
        </p:txBody>
      </p:sp>
      <p:sp>
        <p:nvSpPr>
          <p:cNvPr id="3" name="Content Placeholder 2">
            <a:extLst>
              <a:ext uri="{FF2B5EF4-FFF2-40B4-BE49-F238E27FC236}">
                <a16:creationId xmlns:a16="http://schemas.microsoft.com/office/drawing/2014/main" id="{49DD2C06-155F-9FC5-5BBE-CD87C87D106D}"/>
              </a:ext>
            </a:extLst>
          </p:cNvPr>
          <p:cNvSpPr>
            <a:spLocks noGrp="1"/>
          </p:cNvSpPr>
          <p:nvPr>
            <p:ph idx="1"/>
          </p:nvPr>
        </p:nvSpPr>
        <p:spPr/>
        <p:txBody>
          <a:bodyPr>
            <a:normAutofit/>
          </a:bodyPr>
          <a:lstStyle/>
          <a:p>
            <a:r>
              <a:rPr lang="en-NL" dirty="0"/>
              <a:t>Suppose a rare disease affects only </a:t>
            </a:r>
            <a:r>
              <a:rPr lang="en-NL" b="1" dirty="0"/>
              <a:t>1% of the population</a:t>
            </a:r>
            <a:r>
              <a:rPr lang="en-NL" dirty="0"/>
              <a:t>. A diagnostic test is highly accurate. </a:t>
            </a:r>
          </a:p>
          <a:p>
            <a:pPr lvl="1"/>
            <a:r>
              <a:rPr lang="en-NL" dirty="0"/>
              <a:t>If someone does not have the disease, the probability of receiving a </a:t>
            </a:r>
            <a:r>
              <a:rPr lang="en-NL" b="1" i="1" dirty="0"/>
              <a:t>false positive </a:t>
            </a:r>
            <a:r>
              <a:rPr lang="en-NL" dirty="0"/>
              <a:t>is only </a:t>
            </a:r>
            <a:r>
              <a:rPr lang="en-NL" b="1" dirty="0"/>
              <a:t>5%. </a:t>
            </a:r>
            <a:r>
              <a:rPr lang="en-NL" dirty="0"/>
              <a:t>(false positive means the test result is positive for a healthy person). </a:t>
            </a:r>
          </a:p>
          <a:p>
            <a:pPr lvl="1"/>
            <a:endParaRPr lang="en-NL" dirty="0"/>
          </a:p>
          <a:p>
            <a:pPr lvl="1"/>
            <a:r>
              <a:rPr lang="en-NL" dirty="0"/>
              <a:t>If someone is infected, the probability of receiving a false negative is 0. (false negative means the test is negative for an unhealthy person)</a:t>
            </a:r>
          </a:p>
        </p:txBody>
      </p:sp>
    </p:spTree>
    <p:extLst>
      <p:ext uri="{BB962C8B-B14F-4D97-AF65-F5344CB8AC3E}">
        <p14:creationId xmlns:p14="http://schemas.microsoft.com/office/powerpoint/2010/main" val="20857894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F9EF1-5EC8-A65D-BB1E-14F4D8AF2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EFE1BD-9470-CFF2-118E-EDBB333D811B}"/>
              </a:ext>
            </a:extLst>
          </p:cNvPr>
          <p:cNvSpPr>
            <a:spLocks noGrp="1"/>
          </p:cNvSpPr>
          <p:nvPr>
            <p:ph type="title"/>
          </p:nvPr>
        </p:nvSpPr>
        <p:spPr/>
        <p:txBody>
          <a:bodyPr/>
          <a:lstStyle/>
          <a:p>
            <a:r>
              <a:rPr lang="en-NL" dirty="0"/>
              <a:t>Example: Medical Tests</a:t>
            </a:r>
          </a:p>
        </p:txBody>
      </p:sp>
      <p:sp>
        <p:nvSpPr>
          <p:cNvPr id="3" name="Content Placeholder 2">
            <a:extLst>
              <a:ext uri="{FF2B5EF4-FFF2-40B4-BE49-F238E27FC236}">
                <a16:creationId xmlns:a16="http://schemas.microsoft.com/office/drawing/2014/main" id="{E14F2454-B240-369E-5225-14007295D878}"/>
              </a:ext>
            </a:extLst>
          </p:cNvPr>
          <p:cNvSpPr>
            <a:spLocks noGrp="1"/>
          </p:cNvSpPr>
          <p:nvPr>
            <p:ph idx="1"/>
          </p:nvPr>
        </p:nvSpPr>
        <p:spPr/>
        <p:txBody>
          <a:bodyPr>
            <a:normAutofit/>
          </a:bodyPr>
          <a:lstStyle/>
          <a:p>
            <a:pPr marL="0" indent="0">
              <a:buNone/>
            </a:pPr>
            <a:r>
              <a:rPr lang="en-NL" dirty="0"/>
              <a:t>It is tempting to interpret a positive result as meaning there is only a 5% chance that the person is healthy. But that is not what the 5% means.</a:t>
            </a:r>
          </a:p>
          <a:p>
            <a:endParaRPr lang="en-NL" dirty="0"/>
          </a:p>
          <a:p>
            <a:pPr marL="0" indent="0">
              <a:buNone/>
            </a:pPr>
            <a:r>
              <a:rPr lang="en-NL" dirty="0"/>
              <a:t>But Bayes rule will give us a very different answer. </a:t>
            </a:r>
          </a:p>
        </p:txBody>
      </p:sp>
    </p:spTree>
    <p:extLst>
      <p:ext uri="{BB962C8B-B14F-4D97-AF65-F5344CB8AC3E}">
        <p14:creationId xmlns:p14="http://schemas.microsoft.com/office/powerpoint/2010/main" val="19727693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7A6A-C6E4-42BB-6EA1-DEAE44C5E815}"/>
              </a:ext>
            </a:extLst>
          </p:cNvPr>
          <p:cNvSpPr>
            <a:spLocks noGrp="1"/>
          </p:cNvSpPr>
          <p:nvPr>
            <p:ph type="title"/>
          </p:nvPr>
        </p:nvSpPr>
        <p:spPr/>
        <p:txBody>
          <a:bodyPr/>
          <a:lstStyle/>
          <a:p>
            <a:r>
              <a:rPr lang="en-NL" dirty="0"/>
              <a:t>Probability of being sick (hypothesis) given the positive test result (data)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D755E99-4C19-925A-3CA3-8E58A7B5D351}"/>
                  </a:ext>
                </a:extLst>
              </p:cNvPr>
              <p:cNvSpPr>
                <a:spLocks noGrp="1"/>
              </p:cNvSpPr>
              <p:nvPr>
                <p:ph idx="1"/>
              </p:nvPr>
            </p:nvSpPr>
            <p:spPr>
              <a:xfrm>
                <a:off x="838200" y="1918222"/>
                <a:ext cx="10515600" cy="4351338"/>
              </a:xfrm>
            </p:spPr>
            <p:txBody>
              <a:bodyPr>
                <a:normAutofit/>
              </a:bodyPr>
              <a:lstStyle/>
              <a:p>
                <a:pPr marL="0" indent="0">
                  <a:buNone/>
                </a:pPr>
                <a:endParaRPr lang="en-US" sz="2400" i="1" dirty="0">
                  <a:latin typeface="Cambria Math" panose="02040503050406030204" pitchFamily="18" charset="0"/>
                </a:endParaRPr>
              </a:p>
              <a:p>
                <a:pPr marL="0" indent="0">
                  <a:buNone/>
                </a:pPr>
                <a:endParaRPr lang="en-US" sz="2400" i="1" dirty="0">
                  <a:latin typeface="Cambria Math" panose="02040503050406030204" pitchFamily="18" charset="0"/>
                </a:endParaRPr>
              </a:p>
              <a:p>
                <a:pPr marL="0" indent="0">
                  <a:buNone/>
                </a:pPr>
                <a:endParaRPr lang="en-US" sz="2400" i="1" dirty="0">
                  <a:latin typeface="Cambria Math" panose="02040503050406030204" pitchFamily="18" charset="0"/>
                </a:endParaRPr>
              </a:p>
              <a:p>
                <a:pPr marL="0" indent="0">
                  <a:buNone/>
                </a:pPr>
                <a14:m>
                  <m:oMathPara xmlns:m="http://schemas.openxmlformats.org/officeDocument/2006/math">
                    <m:oMath>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𝐻</m:t>
                          </m:r>
                          <m:r>
                            <a:rPr lang="en-US" sz="2400" b="0" i="1" smtClean="0">
                              <a:latin typeface="Cambria Math" panose="02040503050406030204" pitchFamily="18" charset="0"/>
                            </a:rPr>
                            <m:t>=1</m:t>
                          </m:r>
                        </m:e>
                        <m:e>
                          <m:r>
                            <a:rPr lang="en-US" sz="2400" i="1">
                              <a:latin typeface="Cambria Math" panose="02040503050406030204" pitchFamily="18" charset="0"/>
                            </a:rPr>
                            <m:t>𝐷</m:t>
                          </m:r>
                          <m:r>
                            <a:rPr lang="en-US" sz="2400" b="0" i="1" smtClean="0">
                              <a:latin typeface="Cambria Math" panose="02040503050406030204" pitchFamily="18" charset="0"/>
                            </a:rPr>
                            <m:t>=+</m:t>
                          </m:r>
                        </m:e>
                      </m:d>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𝐷</m:t>
                              </m:r>
                              <m:r>
                                <a:rPr lang="en-US" sz="2400" b="0" i="1" smtClean="0">
                                  <a:latin typeface="Cambria Math" panose="02040503050406030204" pitchFamily="18" charset="0"/>
                                </a:rPr>
                                <m:t>=+|</m:t>
                              </m:r>
                              <m:r>
                                <a:rPr lang="en-US" sz="2400" b="0" i="1" smtClean="0">
                                  <a:latin typeface="Cambria Math" panose="02040503050406030204" pitchFamily="18" charset="0"/>
                                </a:rPr>
                                <m:t>𝐻</m:t>
                              </m:r>
                              <m:r>
                                <a:rPr lang="en-US" sz="2400" b="0" i="1" smtClean="0">
                                  <a:latin typeface="Cambria Math" panose="02040503050406030204" pitchFamily="18" charset="0"/>
                                </a:rPr>
                                <m:t>=1</m:t>
                              </m:r>
                            </m:e>
                          </m:d>
                          <m:r>
                            <a:rPr lang="en-US" sz="2400" i="1">
                              <a:latin typeface="Cambria Math" panose="02040503050406030204" pitchFamily="18" charset="0"/>
                            </a:rPr>
                            <m:t>𝑃</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𝐻</m:t>
                              </m:r>
                              <m:r>
                                <a:rPr lang="en-US" sz="2400" b="0" i="1" smtClean="0">
                                  <a:latin typeface="Cambria Math" panose="02040503050406030204" pitchFamily="18" charset="0"/>
                                </a:rPr>
                                <m:t>=1</m:t>
                              </m:r>
                            </m:e>
                          </m:d>
                        </m:num>
                        <m:den>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𝐷</m:t>
                              </m:r>
                              <m:r>
                                <a:rPr lang="en-US" sz="2400" b="0" i="1" smtClean="0">
                                  <a:latin typeface="Cambria Math" panose="02040503050406030204" pitchFamily="18" charset="0"/>
                                </a:rPr>
                                <m:t>=+</m:t>
                              </m:r>
                            </m:e>
                            <m:e>
                              <m:r>
                                <a:rPr lang="en-US" sz="2400" i="1">
                                  <a:latin typeface="Cambria Math" panose="02040503050406030204" pitchFamily="18" charset="0"/>
                                </a:rPr>
                                <m:t>𝐻</m:t>
                              </m:r>
                              <m:r>
                                <a:rPr lang="en-US" sz="2400" i="1">
                                  <a:latin typeface="Cambria Math" panose="02040503050406030204" pitchFamily="18" charset="0"/>
                                </a:rPr>
                                <m:t>=0</m:t>
                              </m:r>
                            </m:e>
                          </m:d>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𝐻</m:t>
                              </m:r>
                              <m:r>
                                <a:rPr lang="en-US" sz="2400" i="1">
                                  <a:latin typeface="Cambria Math" panose="02040503050406030204" pitchFamily="18" charset="0"/>
                                </a:rPr>
                                <m:t>=0</m:t>
                              </m:r>
                            </m:e>
                          </m:d>
                          <m:r>
                            <a:rPr lang="en-US" sz="2400" i="1">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𝐷</m:t>
                              </m:r>
                              <m:r>
                                <a:rPr lang="en-US" sz="2400" b="0" i="1" smtClean="0">
                                  <a:latin typeface="Cambria Math" panose="02040503050406030204" pitchFamily="18" charset="0"/>
                                </a:rPr>
                                <m:t>=+</m:t>
                              </m:r>
                            </m:e>
                            <m:e>
                              <m:r>
                                <a:rPr lang="en-US" sz="2400" i="1">
                                  <a:latin typeface="Cambria Math" panose="02040503050406030204" pitchFamily="18" charset="0"/>
                                </a:rPr>
                                <m:t>𝐻</m:t>
                              </m:r>
                              <m:r>
                                <a:rPr lang="en-US" sz="2400" i="1">
                                  <a:latin typeface="Cambria Math" panose="02040503050406030204" pitchFamily="18" charset="0"/>
                                </a:rPr>
                                <m:t>=1</m:t>
                              </m:r>
                            </m:e>
                          </m:d>
                          <m:r>
                            <a:rPr lang="en-US" sz="2400" i="1">
                              <a:latin typeface="Cambria Math" panose="02040503050406030204" pitchFamily="18" charset="0"/>
                            </a:rPr>
                            <m:t>𝑃</m:t>
                          </m:r>
                          <m:r>
                            <a:rPr lang="en-US" sz="2400" i="1">
                              <a:latin typeface="Cambria Math" panose="02040503050406030204" pitchFamily="18" charset="0"/>
                            </a:rPr>
                            <m:t>(</m:t>
                          </m:r>
                          <m:r>
                            <a:rPr lang="en-US" sz="2400" i="1">
                              <a:latin typeface="Cambria Math" panose="02040503050406030204" pitchFamily="18" charset="0"/>
                            </a:rPr>
                            <m:t>𝐻</m:t>
                          </m:r>
                          <m:r>
                            <a:rPr lang="en-US" sz="2400" i="1">
                              <a:latin typeface="Cambria Math" panose="02040503050406030204" pitchFamily="18" charset="0"/>
                            </a:rPr>
                            <m:t>=1)</m:t>
                          </m:r>
                        </m:den>
                      </m:f>
                    </m:oMath>
                  </m:oMathPara>
                </a14:m>
                <a:endParaRPr lang="en-NL" sz="2400" dirty="0"/>
              </a:p>
              <a:p>
                <a:endParaRPr lang="en-NL" sz="2400" dirty="0"/>
              </a:p>
              <a:p>
                <a:pPr marL="0" indent="0">
                  <a:buNone/>
                </a:pPr>
                <a:endParaRPr lang="en-NL" sz="2400" dirty="0"/>
              </a:p>
            </p:txBody>
          </p:sp>
        </mc:Choice>
        <mc:Fallback xmlns="">
          <p:sp>
            <p:nvSpPr>
              <p:cNvPr id="3" name="Content Placeholder 2">
                <a:extLst>
                  <a:ext uri="{FF2B5EF4-FFF2-40B4-BE49-F238E27FC236}">
                    <a16:creationId xmlns:a16="http://schemas.microsoft.com/office/drawing/2014/main" id="{3D755E99-4C19-925A-3CA3-8E58A7B5D351}"/>
                  </a:ext>
                </a:extLst>
              </p:cNvPr>
              <p:cNvSpPr>
                <a:spLocks noGrp="1" noRot="1" noChangeAspect="1" noMove="1" noResize="1" noEditPoints="1" noAdjustHandles="1" noChangeArrowheads="1" noChangeShapeType="1" noTextEdit="1"/>
              </p:cNvSpPr>
              <p:nvPr>
                <p:ph idx="1"/>
              </p:nvPr>
            </p:nvSpPr>
            <p:spPr>
              <a:xfrm>
                <a:off x="838200" y="1918222"/>
                <a:ext cx="10515600" cy="4351338"/>
              </a:xfr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22947245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6414-6F7E-D8ED-5845-6C0A398DC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DEE78-C732-6CBB-53E0-E859A9877D0D}"/>
              </a:ext>
            </a:extLst>
          </p:cNvPr>
          <p:cNvSpPr>
            <a:spLocks noGrp="1"/>
          </p:cNvSpPr>
          <p:nvPr>
            <p:ph type="title"/>
          </p:nvPr>
        </p:nvSpPr>
        <p:spPr/>
        <p:txBody>
          <a:bodyPr/>
          <a:lstStyle/>
          <a:p>
            <a:r>
              <a:rPr lang="en-NL" dirty="0"/>
              <a:t>Step 1, find the required quantities</a:t>
            </a:r>
          </a:p>
        </p:txBody>
      </p:sp>
      <p:sp>
        <p:nvSpPr>
          <p:cNvPr id="3" name="Content Placeholder 2">
            <a:extLst>
              <a:ext uri="{FF2B5EF4-FFF2-40B4-BE49-F238E27FC236}">
                <a16:creationId xmlns:a16="http://schemas.microsoft.com/office/drawing/2014/main" id="{92E39675-5929-051E-EE37-BEDF19C4AE7F}"/>
              </a:ext>
            </a:extLst>
          </p:cNvPr>
          <p:cNvSpPr>
            <a:spLocks noGrp="1"/>
          </p:cNvSpPr>
          <p:nvPr>
            <p:ph idx="1"/>
          </p:nvPr>
        </p:nvSpPr>
        <p:spPr/>
        <p:txBody>
          <a:bodyPr>
            <a:normAutofit/>
          </a:bodyPr>
          <a:lstStyle/>
          <a:p>
            <a:r>
              <a:rPr lang="en-NL" dirty="0"/>
              <a:t>Suppose a rare disease affects only </a:t>
            </a:r>
            <a:r>
              <a:rPr lang="en-NL" b="1" dirty="0"/>
              <a:t>1% of the population</a:t>
            </a:r>
            <a:r>
              <a:rPr lang="en-NL" dirty="0"/>
              <a:t>. A diagnostic test is highly accurate. </a:t>
            </a:r>
          </a:p>
          <a:p>
            <a:pPr lvl="1"/>
            <a:r>
              <a:rPr lang="en-NL" dirty="0"/>
              <a:t>If someone does not have the disease, the probability of receiving a </a:t>
            </a:r>
            <a:r>
              <a:rPr lang="en-NL" b="1" i="1" dirty="0"/>
              <a:t>false positive </a:t>
            </a:r>
            <a:r>
              <a:rPr lang="en-NL" dirty="0"/>
              <a:t>is only </a:t>
            </a:r>
            <a:r>
              <a:rPr lang="en-NL" b="1" dirty="0"/>
              <a:t>5%. </a:t>
            </a:r>
            <a:endParaRPr lang="en-NL" dirty="0"/>
          </a:p>
          <a:p>
            <a:pPr lvl="1"/>
            <a:r>
              <a:rPr lang="en-NL" dirty="0"/>
              <a:t>If someone is infected, the probability of receiving a false negative is 0.</a:t>
            </a:r>
          </a:p>
          <a:p>
            <a:pPr marL="457200" lvl="1" indent="0">
              <a:buNone/>
            </a:pPr>
            <a:endParaRPr lang="en-NL" dirty="0"/>
          </a:p>
          <a:p>
            <a:pPr marL="457200" lvl="1" indent="0">
              <a:buNone/>
            </a:pPr>
            <a:endParaRPr lang="en-NL" dirty="0"/>
          </a:p>
          <a:p>
            <a:pPr marL="457200" lvl="1" indent="0">
              <a:buNone/>
            </a:pPr>
            <a:r>
              <a:rPr lang="en-NL" dirty="0"/>
              <a:t>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87D3089-1DF6-9B5D-02A3-F8E859D01103}"/>
                  </a:ext>
                </a:extLst>
              </p:cNvPr>
              <p:cNvSpPr txBox="1"/>
              <p:nvPr/>
            </p:nvSpPr>
            <p:spPr>
              <a:xfrm>
                <a:off x="3048965" y="4256446"/>
                <a:ext cx="6094070" cy="1200329"/>
              </a:xfrm>
              <a:prstGeom prst="rect">
                <a:avLst/>
              </a:prstGeom>
              <a:noFill/>
            </p:spPr>
            <p:txBody>
              <a:bodyPr wrap="square">
                <a:spAutoFit/>
              </a:bodyPr>
              <a:lstStyle/>
              <a:p>
                <a:pPr/>
                <a14:m>
                  <m:oMathPara xmlns:m="http://schemas.openxmlformats.org/officeDocument/2006/math">
                    <m:o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𝐻</m:t>
                          </m:r>
                          <m:r>
                            <a:rPr lang="en-US" i="1">
                              <a:latin typeface="Cambria Math" panose="02040503050406030204" pitchFamily="18" charset="0"/>
                            </a:rPr>
                            <m:t>=1</m:t>
                          </m:r>
                        </m:e>
                      </m:d>
                    </m:oMath>
                  </m:oMathPara>
                </a14:m>
                <a:endParaRPr lang="en-US" dirty="0"/>
              </a:p>
              <a:p>
                <a:pPr/>
                <a14:m>
                  <m:oMathPara xmlns:m="http://schemas.openxmlformats.org/officeDocument/2006/math">
                    <m:o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𝐻</m:t>
                          </m:r>
                          <m:r>
                            <a:rPr lang="en-US" i="1">
                              <a:latin typeface="Cambria Math" panose="02040503050406030204" pitchFamily="18" charset="0"/>
                            </a:rPr>
                            <m:t>=0</m:t>
                          </m:r>
                        </m:e>
                      </m:d>
                    </m:oMath>
                  </m:oMathPara>
                </a14:m>
                <a:endParaRPr lang="en-US" i="1" dirty="0">
                  <a:latin typeface="Cambria Math" panose="02040503050406030204" pitchFamily="18" charset="0"/>
                </a:endParaRPr>
              </a:p>
              <a:p>
                <a:pPr/>
                <a14:m>
                  <m:oMathPara xmlns:m="http://schemas.openxmlformats.org/officeDocument/2006/math">
                    <m:oMath>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r>
                            <a:rPr lang="en-US" b="0" i="1" smtClean="0">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=0</m:t>
                          </m:r>
                        </m:e>
                      </m:d>
                      <m:r>
                        <a:rPr lang="en-US" i="1">
                          <a:latin typeface="Cambria Math" panose="02040503050406030204" pitchFamily="18" charset="0"/>
                        </a:rPr>
                        <m:t> </m:t>
                      </m:r>
                    </m:oMath>
                  </m:oMathPara>
                </a14:m>
                <a:endParaRPr lang="en-US" i="1" dirty="0">
                  <a:latin typeface="Cambria Math" panose="02040503050406030204" pitchFamily="18" charset="0"/>
                </a:endParaRPr>
              </a:p>
              <a:p>
                <a:pPr/>
                <a14:m>
                  <m:oMathPara xmlns:m="http://schemas.openxmlformats.org/officeDocument/2006/math">
                    <m:oMath>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𝐷</m:t>
                          </m:r>
                          <m:r>
                            <a:rPr lang="en-US" b="0" i="1" smtClean="0">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=1</m:t>
                          </m:r>
                        </m:e>
                      </m:d>
                    </m:oMath>
                  </m:oMathPara>
                </a14:m>
                <a:endParaRPr lang="en-NL" dirty="0"/>
              </a:p>
            </p:txBody>
          </p:sp>
        </mc:Choice>
        <mc:Fallback xmlns="">
          <p:sp>
            <p:nvSpPr>
              <p:cNvPr id="4" name="TextBox 3">
                <a:extLst>
                  <a:ext uri="{FF2B5EF4-FFF2-40B4-BE49-F238E27FC236}">
                    <a16:creationId xmlns:a16="http://schemas.microsoft.com/office/drawing/2014/main" id="{B87D3089-1DF6-9B5D-02A3-F8E859D01103}"/>
                  </a:ext>
                </a:extLst>
              </p:cNvPr>
              <p:cNvSpPr txBox="1">
                <a:spLocks noRot="1" noChangeAspect="1" noMove="1" noResize="1" noEditPoints="1" noAdjustHandles="1" noChangeArrowheads="1" noChangeShapeType="1" noTextEdit="1"/>
              </p:cNvSpPr>
              <p:nvPr/>
            </p:nvSpPr>
            <p:spPr>
              <a:xfrm>
                <a:off x="3048965" y="4256446"/>
                <a:ext cx="6094070" cy="1200329"/>
              </a:xfrm>
              <a:prstGeom prst="rect">
                <a:avLst/>
              </a:prstGeom>
              <a:blipFill>
                <a:blip r:embed="rId2"/>
                <a:stretch>
                  <a:fillRect b="-4211"/>
                </a:stretch>
              </a:blipFill>
            </p:spPr>
            <p:txBody>
              <a:bodyPr/>
              <a:lstStyle/>
              <a:p>
                <a:r>
                  <a:rPr lang="en-NL">
                    <a:noFill/>
                  </a:rPr>
                  <a:t> </a:t>
                </a:r>
              </a:p>
            </p:txBody>
          </p:sp>
        </mc:Fallback>
      </mc:AlternateContent>
    </p:spTree>
    <p:extLst>
      <p:ext uri="{BB962C8B-B14F-4D97-AF65-F5344CB8AC3E}">
        <p14:creationId xmlns:p14="http://schemas.microsoft.com/office/powerpoint/2010/main" val="1352715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D9F1C-726E-6508-3CDC-4574BED7BE8D}"/>
              </a:ext>
            </a:extLst>
          </p:cNvPr>
          <p:cNvSpPr>
            <a:spLocks noGrp="1"/>
          </p:cNvSpPr>
          <p:nvPr>
            <p:ph type="title"/>
          </p:nvPr>
        </p:nvSpPr>
        <p:spPr/>
        <p:txBody>
          <a:bodyPr/>
          <a:lstStyle/>
          <a:p>
            <a:r>
              <a:rPr lang="en-NL" dirty="0"/>
              <a:t>A Forensic DNA Match</a:t>
            </a:r>
          </a:p>
        </p:txBody>
      </p:sp>
      <p:sp>
        <p:nvSpPr>
          <p:cNvPr id="3" name="Content Placeholder 2">
            <a:extLst>
              <a:ext uri="{FF2B5EF4-FFF2-40B4-BE49-F238E27FC236}">
                <a16:creationId xmlns:a16="http://schemas.microsoft.com/office/drawing/2014/main" id="{EEA7AA74-45BE-262D-D178-AFDA6A6DBFBC}"/>
              </a:ext>
            </a:extLst>
          </p:cNvPr>
          <p:cNvSpPr>
            <a:spLocks noGrp="1"/>
          </p:cNvSpPr>
          <p:nvPr>
            <p:ph idx="1"/>
          </p:nvPr>
        </p:nvSpPr>
        <p:spPr/>
        <p:txBody>
          <a:bodyPr/>
          <a:lstStyle/>
          <a:p>
            <a:pPr marL="0" indent="0">
              <a:buNone/>
            </a:pPr>
            <a:r>
              <a:rPr lang="en-NL" dirty="0"/>
              <a:t>Now consider a city of </a:t>
            </a:r>
            <a:r>
              <a:rPr lang="en-NL" b="1" dirty="0"/>
              <a:t>500,000 people</a:t>
            </a:r>
            <a:r>
              <a:rPr lang="en-NL" dirty="0"/>
              <a:t> where a DNA sample from a crime scene is compared with a suspect. The suspect was found by randomly testing someone from the population and their DNA was matched. </a:t>
            </a:r>
          </a:p>
          <a:p>
            <a:pPr marL="0" indent="0">
              <a:buNone/>
            </a:pPr>
            <a:endParaRPr lang="en-NL" dirty="0"/>
          </a:p>
          <a:p>
            <a:pPr marL="0" indent="0">
              <a:buNone/>
            </a:pPr>
            <a:r>
              <a:rPr lang="en-NL" dirty="0"/>
              <a:t>Suppose the genetic test has a </a:t>
            </a:r>
            <a:r>
              <a:rPr lang="en-NL" b="1" dirty="0"/>
              <a:t>99% sensitivity</a:t>
            </a:r>
            <a:r>
              <a:rPr lang="en-NL" dirty="0"/>
              <a:t> and a </a:t>
            </a:r>
            <a:r>
              <a:rPr lang="en-NL" b="1" dirty="0"/>
              <a:t>0.01% false-positive rate</a:t>
            </a:r>
            <a:r>
              <a:rPr lang="en-NL" dirty="0"/>
              <a:t>:</a:t>
            </a:r>
          </a:p>
          <a:p>
            <a:endParaRPr lang="en-NL" dirty="0"/>
          </a:p>
          <a:p>
            <a:pPr marL="0" indent="0">
              <a:buNone/>
            </a:pPr>
            <a:r>
              <a:rPr lang="en-NL" dirty="0"/>
              <a:t>What is the chance that the person is guilty?</a:t>
            </a:r>
          </a:p>
        </p:txBody>
      </p:sp>
    </p:spTree>
    <p:extLst>
      <p:ext uri="{BB962C8B-B14F-4D97-AF65-F5344CB8AC3E}">
        <p14:creationId xmlns:p14="http://schemas.microsoft.com/office/powerpoint/2010/main" val="10392045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47645-28F5-6C67-CB94-ED85A82ACB50}"/>
              </a:ext>
            </a:extLst>
          </p:cNvPr>
          <p:cNvSpPr>
            <a:spLocks noGrp="1"/>
          </p:cNvSpPr>
          <p:nvPr>
            <p:ph type="title"/>
          </p:nvPr>
        </p:nvSpPr>
        <p:spPr/>
        <p:txBody>
          <a:bodyPr/>
          <a:lstStyle/>
          <a:p>
            <a:r>
              <a:rPr lang="en-NL" dirty="0"/>
              <a:t>Step 1, find the required quantities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8EC4F40-697A-604C-3368-C80E5F91C223}"/>
                  </a:ext>
                </a:extLst>
              </p:cNvPr>
              <p:cNvSpPr>
                <a:spLocks noGrp="1"/>
              </p:cNvSpPr>
              <p:nvPr>
                <p:ph idx="1"/>
              </p:nvPr>
            </p:nvSpPr>
            <p:spPr/>
            <p:txBody>
              <a:bodyPr>
                <a:normAutofit/>
              </a:bodyPr>
              <a:lstStyle/>
              <a:p>
                <a:pPr marL="0" indent="0">
                  <a:buNone/>
                </a:pPr>
                <a14:m>
                  <m:oMathPara xmlns:m="http://schemas.openxmlformats.org/officeDocument/2006/math">
                    <m:o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=1</m:t>
                          </m:r>
                        </m:e>
                      </m:d>
                      <m:r>
                        <a:rPr lang="en-US" b="0" i="1" smtClean="0">
                          <a:latin typeface="Cambria Math" panose="02040503050406030204" pitchFamily="18" charset="0"/>
                        </a:rPr>
                        <m:t> </m:t>
                      </m:r>
                    </m:oMath>
                    <m:o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=0</m:t>
                          </m:r>
                        </m:e>
                      </m:d>
                    </m:oMath>
                  </m:oMathPara>
                </a14:m>
                <a:br>
                  <a:rPr lang="en-NL" dirty="0"/>
                </a:br>
                <a:endParaRPr lang="en-NL" dirty="0"/>
              </a:p>
              <a:p>
                <a:pPr marL="0" indent="0">
                  <a:buNone/>
                </a:pPr>
                <a14:m>
                  <m:oMathPara xmlns:m="http://schemas.openxmlformats.org/officeDocument/2006/math">
                    <m:oMath>
                      <m:r>
                        <a:rPr lang="en-NL" i="1" dirty="0">
                          <a:latin typeface="Cambria Math" panose="02040503050406030204" pitchFamily="18" charset="0"/>
                        </a:rPr>
                        <m:t>𝑃</m:t>
                      </m:r>
                      <m:d>
                        <m:dPr>
                          <m:ctrlPr>
                            <a:rPr lang="en-US" i="1" dirty="0">
                              <a:latin typeface="Cambria Math" panose="02040503050406030204" pitchFamily="18" charset="0"/>
                            </a:rPr>
                          </m:ctrlPr>
                        </m:dPr>
                        <m:e>
                          <m:r>
                            <a:rPr lang="en-US" i="1" dirty="0">
                              <a:latin typeface="Cambria Math" panose="02040503050406030204" pitchFamily="18" charset="0"/>
                            </a:rPr>
                            <m:t>𝐻</m:t>
                          </m:r>
                          <m:r>
                            <a:rPr lang="en-US" i="1" dirty="0">
                              <a:latin typeface="Cambria Math" panose="02040503050406030204" pitchFamily="18" charset="0"/>
                            </a:rPr>
                            <m:t>=1</m:t>
                          </m:r>
                        </m:e>
                      </m:d>
                    </m:oMath>
                  </m:oMathPara>
                </a14:m>
                <a:endParaRPr lang="en-NL" dirty="0"/>
              </a:p>
              <a:p>
                <a:pPr marL="0" indent="0">
                  <a:buNone/>
                </a:pPr>
                <a14:m>
                  <m:oMathPara xmlns:m="http://schemas.openxmlformats.org/officeDocument/2006/math">
                    <m:oMath>
                      <m:r>
                        <a:rPr lang="en-NL" i="1" dirty="0">
                          <a:latin typeface="Cambria Math" panose="02040503050406030204" pitchFamily="18" charset="0"/>
                        </a:rPr>
                        <m:t>𝑃</m:t>
                      </m:r>
                      <m:d>
                        <m:dPr>
                          <m:ctrlPr>
                            <a:rPr lang="en-US" i="1" dirty="0">
                              <a:latin typeface="Cambria Math" panose="02040503050406030204" pitchFamily="18" charset="0"/>
                            </a:rPr>
                          </m:ctrlPr>
                        </m:dPr>
                        <m:e>
                          <m:r>
                            <a:rPr lang="en-US" i="1" dirty="0">
                              <a:latin typeface="Cambria Math" panose="02040503050406030204" pitchFamily="18" charset="0"/>
                            </a:rPr>
                            <m:t>𝐻</m:t>
                          </m:r>
                          <m:r>
                            <a:rPr lang="en-US" i="1" dirty="0">
                              <a:latin typeface="Cambria Math" panose="02040503050406030204" pitchFamily="18" charset="0"/>
                            </a:rPr>
                            <m:t>=0</m:t>
                          </m:r>
                        </m:e>
                      </m:d>
                    </m:oMath>
                  </m:oMathPara>
                </a14:m>
                <a:endParaRPr lang="en-NL" dirty="0"/>
              </a:p>
            </p:txBody>
          </p:sp>
        </mc:Choice>
        <mc:Fallback>
          <p:sp>
            <p:nvSpPr>
              <p:cNvPr id="3" name="Content Placeholder 2">
                <a:extLst>
                  <a:ext uri="{FF2B5EF4-FFF2-40B4-BE49-F238E27FC236}">
                    <a16:creationId xmlns:a16="http://schemas.microsoft.com/office/drawing/2014/main" id="{F8EC4F40-697A-604C-3368-C80E5F91C223}"/>
                  </a:ext>
                </a:extLst>
              </p:cNvPr>
              <p:cNvSpPr>
                <a:spLocks noGrp="1" noRot="1" noChangeAspect="1" noMove="1" noResize="1" noEditPoints="1" noAdjustHandles="1" noChangeArrowheads="1" noChangeShapeType="1" noTextEdit="1"/>
              </p:cNvSpPr>
              <p:nvPr>
                <p:ph idx="1"/>
              </p:nvPr>
            </p:nvSpPr>
            <p:spPr>
              <a:blipFill>
                <a:blip r:embed="rId2"/>
                <a:stretch>
                  <a:fillRect t="-581"/>
                </a:stretch>
              </a:blipFill>
            </p:spPr>
            <p:txBody>
              <a:bodyPr/>
              <a:lstStyle/>
              <a:p>
                <a:r>
                  <a:rPr lang="en-NL">
                    <a:noFill/>
                  </a:rPr>
                  <a:t> </a:t>
                </a:r>
              </a:p>
            </p:txBody>
          </p:sp>
        </mc:Fallback>
      </mc:AlternateContent>
    </p:spTree>
    <p:extLst>
      <p:ext uri="{BB962C8B-B14F-4D97-AF65-F5344CB8AC3E}">
        <p14:creationId xmlns:p14="http://schemas.microsoft.com/office/powerpoint/2010/main" val="2334339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47BA1-B16D-FB5C-E50F-81E1D9A72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07FAB4-E393-AAAB-47E6-D9707BBCFB2C}"/>
              </a:ext>
            </a:extLst>
          </p:cNvPr>
          <p:cNvSpPr>
            <a:spLocks noGrp="1"/>
          </p:cNvSpPr>
          <p:nvPr>
            <p:ph type="title"/>
          </p:nvPr>
        </p:nvSpPr>
        <p:spPr/>
        <p:txBody>
          <a:bodyPr/>
          <a:lstStyle/>
          <a:p>
            <a:endParaRPr lang="en-NL"/>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A54E8F0-276E-1C93-3B26-C5F72A8F7ABF}"/>
                  </a:ext>
                </a:extLst>
              </p:cNvPr>
              <p:cNvSpPr>
                <a:spLocks noGrp="1"/>
              </p:cNvSpPr>
              <p:nvPr>
                <p:ph idx="1"/>
              </p:nvPr>
            </p:nvSpPr>
            <p:spPr/>
            <p:txBody>
              <a:bodyPr>
                <a:normAutofit fontScale="92500"/>
              </a:bodyPr>
              <a:lstStyle/>
              <a:p>
                <a:pPr marL="0" indent="0">
                  <a:buNone/>
                </a:pPr>
                <a14:m>
                  <m:oMathPara xmlns:m="http://schemas.openxmlformats.org/officeDocument/2006/math">
                    <m:o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=1</m:t>
                          </m:r>
                        </m:e>
                      </m:d>
                      <m:r>
                        <a:rPr lang="en-US" b="0" i="1" smtClean="0">
                          <a:latin typeface="Cambria Math" panose="02040503050406030204" pitchFamily="18" charset="0"/>
                        </a:rPr>
                        <m:t>=</m:t>
                      </m:r>
                      <m:r>
                        <a:rPr lang="en-NL" i="1" dirty="0">
                          <a:latin typeface="Cambria Math" panose="02040503050406030204" pitchFamily="18" charset="0"/>
                        </a:rPr>
                        <m:t>0.9</m:t>
                      </m:r>
                      <m:r>
                        <a:rPr lang="en-US" b="0" i="1" dirty="0" smtClean="0">
                          <a:latin typeface="Cambria Math" panose="02040503050406030204" pitchFamily="18" charset="0"/>
                        </a:rPr>
                        <m:t>9</m:t>
                      </m:r>
                    </m:oMath>
                    <m:o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𝐻</m:t>
                          </m:r>
                          <m:r>
                            <a:rPr lang="en-US" i="1">
                              <a:latin typeface="Cambria Math" panose="02040503050406030204" pitchFamily="18" charset="0"/>
                            </a:rPr>
                            <m:t>=0</m:t>
                          </m:r>
                        </m:e>
                      </m:d>
                      <m:r>
                        <a:rPr lang="en-US" b="0" i="1" smtClean="0">
                          <a:latin typeface="Cambria Math" panose="02040503050406030204" pitchFamily="18" charset="0"/>
                        </a:rPr>
                        <m:t>=</m:t>
                      </m:r>
                      <m:r>
                        <a:rPr lang="en-NL" i="1" dirty="0">
                          <a:latin typeface="Cambria Math" panose="02040503050406030204" pitchFamily="18" charset="0"/>
                        </a:rPr>
                        <m:t>0.</m:t>
                      </m:r>
                      <m:r>
                        <a:rPr lang="en-US" b="0" i="1" dirty="0" smtClean="0">
                          <a:latin typeface="Cambria Math" panose="02040503050406030204" pitchFamily="18" charset="0"/>
                        </a:rPr>
                        <m:t>0</m:t>
                      </m:r>
                      <m:r>
                        <a:rPr lang="en-US" b="0" i="1" dirty="0" smtClean="0">
                          <a:latin typeface="Cambria Math" panose="02040503050406030204" pitchFamily="18" charset="0"/>
                        </a:rPr>
                        <m:t>00</m:t>
                      </m:r>
                      <m:r>
                        <a:rPr lang="en-US" b="0" i="1" dirty="0" smtClean="0">
                          <a:latin typeface="Cambria Math" panose="02040503050406030204" pitchFamily="18" charset="0"/>
                        </a:rPr>
                        <m:t>1</m:t>
                      </m:r>
                    </m:oMath>
                  </m:oMathPara>
                </a14:m>
                <a:br>
                  <a:rPr lang="en-NL" dirty="0"/>
                </a:br>
                <a:endParaRPr lang="en-NL" dirty="0"/>
              </a:p>
              <a:p>
                <a:pPr marL="0" indent="0">
                  <a:buNone/>
                </a:pPr>
                <a:endParaRPr lang="en-NL" dirty="0"/>
              </a:p>
              <a:p>
                <a:pPr marL="0" indent="0">
                  <a:buNone/>
                </a:pPr>
                <a:r>
                  <a:rPr lang="en-NL" dirty="0"/>
                  <a:t>If the suspect were selected completely at random from the population, their prior probability of being the perpetrator would be:</a:t>
                </a:r>
              </a:p>
              <a:p>
                <a:pPr marL="0" indent="0">
                  <a:buNone/>
                </a:pPr>
                <a14:m>
                  <m:oMathPara xmlns:m="http://schemas.openxmlformats.org/officeDocument/2006/math">
                    <m:oMath>
                      <m:r>
                        <a:rPr lang="en-NL" i="1" dirty="0">
                          <a:latin typeface="Cambria Math" panose="02040503050406030204" pitchFamily="18" charset="0"/>
                        </a:rPr>
                        <m:t>𝑃</m:t>
                      </m:r>
                      <m:d>
                        <m:dPr>
                          <m:ctrlPr>
                            <a:rPr lang="en-US" i="1" dirty="0">
                              <a:latin typeface="Cambria Math" panose="02040503050406030204" pitchFamily="18" charset="0"/>
                            </a:rPr>
                          </m:ctrlPr>
                        </m:dPr>
                        <m:e>
                          <m:r>
                            <a:rPr lang="en-US" i="1" dirty="0">
                              <a:latin typeface="Cambria Math" panose="02040503050406030204" pitchFamily="18" charset="0"/>
                            </a:rPr>
                            <m:t>𝐻</m:t>
                          </m:r>
                          <m:r>
                            <a:rPr lang="en-US" i="1" dirty="0">
                              <a:latin typeface="Cambria Math" panose="02040503050406030204" pitchFamily="18" charset="0"/>
                            </a:rPr>
                            <m:t>=1</m:t>
                          </m:r>
                        </m:e>
                      </m:d>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500000</m:t>
                          </m:r>
                        </m:den>
                      </m:f>
                    </m:oMath>
                  </m:oMathPara>
                </a14:m>
                <a:endParaRPr lang="en-NL" dirty="0"/>
              </a:p>
              <a:p>
                <a:pPr marL="0" indent="0">
                  <a:buNone/>
                </a:pPr>
                <a:endParaRPr lang="en-NL" dirty="0"/>
              </a:p>
              <a:p>
                <a:pPr marL="0" indent="0">
                  <a:buNone/>
                </a:pPr>
                <a14:m>
                  <m:oMathPara xmlns:m="http://schemas.openxmlformats.org/officeDocument/2006/math">
                    <m:oMath>
                      <m:r>
                        <a:rPr lang="en-US" sz="2600" i="1">
                          <a:latin typeface="Cambria Math" panose="02040503050406030204" pitchFamily="18" charset="0"/>
                        </a:rPr>
                        <m:t>𝑃</m:t>
                      </m:r>
                      <m:d>
                        <m:dPr>
                          <m:ctrlPr>
                            <a:rPr lang="en-US" sz="2600" i="1">
                              <a:latin typeface="Cambria Math" panose="02040503050406030204" pitchFamily="18" charset="0"/>
                            </a:rPr>
                          </m:ctrlPr>
                        </m:dPr>
                        <m:e>
                          <m:r>
                            <a:rPr lang="en-US" sz="2600" i="1">
                              <a:latin typeface="Cambria Math" panose="02040503050406030204" pitchFamily="18" charset="0"/>
                            </a:rPr>
                            <m:t>𝐻</m:t>
                          </m:r>
                          <m:r>
                            <a:rPr lang="en-US" sz="2600" b="0" i="1" smtClean="0">
                              <a:latin typeface="Cambria Math" panose="02040503050406030204" pitchFamily="18" charset="0"/>
                            </a:rPr>
                            <m:t>=1</m:t>
                          </m:r>
                        </m:e>
                        <m:e>
                          <m:r>
                            <a:rPr lang="en-US" sz="2600" b="0" i="1" smtClean="0">
                              <a:latin typeface="Cambria Math" panose="02040503050406030204" pitchFamily="18" charset="0"/>
                            </a:rPr>
                            <m:t>𝑇</m:t>
                          </m:r>
                          <m:r>
                            <a:rPr lang="en-US" sz="2600" b="0" i="1" smtClean="0">
                              <a:latin typeface="Cambria Math" panose="02040503050406030204" pitchFamily="18" charset="0"/>
                            </a:rPr>
                            <m:t>=+</m:t>
                          </m:r>
                        </m:e>
                      </m:d>
                      <m:r>
                        <a:rPr lang="en-US" sz="2600" i="1">
                          <a:latin typeface="Cambria Math" panose="02040503050406030204" pitchFamily="18" charset="0"/>
                        </a:rPr>
                        <m:t>=</m:t>
                      </m:r>
                      <m:f>
                        <m:fPr>
                          <m:ctrlPr>
                            <a:rPr lang="en-US" sz="2600" i="1">
                              <a:latin typeface="Cambria Math" panose="02040503050406030204" pitchFamily="18" charset="0"/>
                            </a:rPr>
                          </m:ctrlPr>
                        </m:fPr>
                        <m:num>
                          <m:r>
                            <a:rPr lang="en-US" sz="2600" i="1">
                              <a:latin typeface="Cambria Math" panose="02040503050406030204" pitchFamily="18" charset="0"/>
                            </a:rPr>
                            <m:t>𝑃</m:t>
                          </m:r>
                          <m:d>
                            <m:dPr>
                              <m:ctrlPr>
                                <a:rPr lang="en-US" sz="2600" i="1">
                                  <a:latin typeface="Cambria Math" panose="02040503050406030204" pitchFamily="18" charset="0"/>
                                </a:rPr>
                              </m:ctrlPr>
                            </m:dPr>
                            <m:e>
                              <m:r>
                                <a:rPr lang="en-US" sz="2600" i="1">
                                  <a:latin typeface="Cambria Math" panose="02040503050406030204" pitchFamily="18" charset="0"/>
                                </a:rPr>
                                <m:t>𝑇</m:t>
                              </m:r>
                              <m:r>
                                <a:rPr lang="en-US" sz="2600" i="1">
                                  <a:latin typeface="Cambria Math" panose="02040503050406030204" pitchFamily="18" charset="0"/>
                                </a:rPr>
                                <m:t>=+|</m:t>
                              </m:r>
                              <m:r>
                                <a:rPr lang="en-US" sz="2600" i="1">
                                  <a:latin typeface="Cambria Math" panose="02040503050406030204" pitchFamily="18" charset="0"/>
                                </a:rPr>
                                <m:t>𝐻</m:t>
                              </m:r>
                              <m:r>
                                <a:rPr lang="en-US" sz="2600" b="0" i="1" smtClean="0">
                                  <a:latin typeface="Cambria Math" panose="02040503050406030204" pitchFamily="18" charset="0"/>
                                </a:rPr>
                                <m:t>=1</m:t>
                              </m:r>
                            </m:e>
                          </m:d>
                          <m:r>
                            <a:rPr lang="en-US" sz="2600" i="1">
                              <a:latin typeface="Cambria Math" panose="02040503050406030204" pitchFamily="18" charset="0"/>
                            </a:rPr>
                            <m:t>𝑃</m:t>
                          </m:r>
                          <m:d>
                            <m:dPr>
                              <m:ctrlPr>
                                <a:rPr lang="en-US" sz="2600" i="1">
                                  <a:latin typeface="Cambria Math" panose="02040503050406030204" pitchFamily="18" charset="0"/>
                                </a:rPr>
                              </m:ctrlPr>
                            </m:dPr>
                            <m:e>
                              <m:r>
                                <a:rPr lang="en-US" sz="2600" i="1">
                                  <a:latin typeface="Cambria Math" panose="02040503050406030204" pitchFamily="18" charset="0"/>
                                </a:rPr>
                                <m:t>𝐻</m:t>
                              </m:r>
                              <m:r>
                                <a:rPr lang="en-US" sz="2600" b="0" i="1" smtClean="0">
                                  <a:latin typeface="Cambria Math" panose="02040503050406030204" pitchFamily="18" charset="0"/>
                                </a:rPr>
                                <m:t>=1</m:t>
                              </m:r>
                            </m:e>
                          </m:d>
                        </m:num>
                        <m:den>
                          <m:r>
                            <a:rPr lang="en-US" sz="2600" i="1">
                              <a:latin typeface="Cambria Math" panose="02040503050406030204" pitchFamily="18" charset="0"/>
                            </a:rPr>
                            <m:t>𝑃</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𝑇</m:t>
                              </m:r>
                              <m:r>
                                <a:rPr lang="en-US" sz="2600" b="0" i="1" smtClean="0">
                                  <a:latin typeface="Cambria Math" panose="02040503050406030204" pitchFamily="18" charset="0"/>
                                </a:rPr>
                                <m:t>=+</m:t>
                              </m:r>
                            </m:e>
                            <m:e>
                              <m:r>
                                <a:rPr lang="en-US" sz="2600" i="1">
                                  <a:latin typeface="Cambria Math" panose="02040503050406030204" pitchFamily="18" charset="0"/>
                                </a:rPr>
                                <m:t>𝐻</m:t>
                              </m:r>
                              <m:r>
                                <a:rPr lang="en-US" sz="2600" i="1">
                                  <a:latin typeface="Cambria Math" panose="02040503050406030204" pitchFamily="18" charset="0"/>
                                </a:rPr>
                                <m:t>=0</m:t>
                              </m:r>
                            </m:e>
                          </m:d>
                          <m:r>
                            <a:rPr lang="en-US" sz="2600" i="1">
                              <a:latin typeface="Cambria Math" panose="02040503050406030204" pitchFamily="18" charset="0"/>
                            </a:rPr>
                            <m:t>𝑃</m:t>
                          </m:r>
                          <m:d>
                            <m:dPr>
                              <m:ctrlPr>
                                <a:rPr lang="en-US" sz="2600" i="1">
                                  <a:latin typeface="Cambria Math" panose="02040503050406030204" pitchFamily="18" charset="0"/>
                                </a:rPr>
                              </m:ctrlPr>
                            </m:dPr>
                            <m:e>
                              <m:r>
                                <a:rPr lang="en-US" sz="2600" i="1">
                                  <a:latin typeface="Cambria Math" panose="02040503050406030204" pitchFamily="18" charset="0"/>
                                </a:rPr>
                                <m:t>𝐻</m:t>
                              </m:r>
                              <m:r>
                                <a:rPr lang="en-US" sz="2600" i="1">
                                  <a:latin typeface="Cambria Math" panose="02040503050406030204" pitchFamily="18" charset="0"/>
                                </a:rPr>
                                <m:t>=0</m:t>
                              </m:r>
                            </m:e>
                          </m:d>
                          <m:r>
                            <a:rPr lang="en-US" sz="2600" i="1">
                              <a:latin typeface="Cambria Math" panose="02040503050406030204" pitchFamily="18" charset="0"/>
                            </a:rPr>
                            <m:t>+</m:t>
                          </m:r>
                          <m:r>
                            <a:rPr lang="en-US" sz="2600" i="1">
                              <a:latin typeface="Cambria Math" panose="02040503050406030204" pitchFamily="18" charset="0"/>
                            </a:rPr>
                            <m:t>𝑃</m:t>
                          </m:r>
                          <m:d>
                            <m:dPr>
                              <m:ctrlPr>
                                <a:rPr lang="en-US" sz="2600" b="0" i="1" smtClean="0">
                                  <a:latin typeface="Cambria Math" panose="02040503050406030204" pitchFamily="18" charset="0"/>
                                </a:rPr>
                              </m:ctrlPr>
                            </m:dPr>
                            <m:e>
                              <m:r>
                                <a:rPr lang="en-US" sz="2600" b="0" i="1" smtClean="0">
                                  <a:latin typeface="Cambria Math" panose="02040503050406030204" pitchFamily="18" charset="0"/>
                                </a:rPr>
                                <m:t>𝑇</m:t>
                              </m:r>
                              <m:r>
                                <a:rPr lang="en-US" sz="2600" b="0" i="1" smtClean="0">
                                  <a:latin typeface="Cambria Math" panose="02040503050406030204" pitchFamily="18" charset="0"/>
                                </a:rPr>
                                <m:t>=+</m:t>
                              </m:r>
                            </m:e>
                            <m:e>
                              <m:r>
                                <a:rPr lang="en-US" sz="2600" i="1">
                                  <a:latin typeface="Cambria Math" panose="02040503050406030204" pitchFamily="18" charset="0"/>
                                </a:rPr>
                                <m:t>𝐻</m:t>
                              </m:r>
                              <m:r>
                                <a:rPr lang="en-US" sz="2600" i="1">
                                  <a:latin typeface="Cambria Math" panose="02040503050406030204" pitchFamily="18" charset="0"/>
                                </a:rPr>
                                <m:t>=1</m:t>
                              </m:r>
                            </m:e>
                          </m:d>
                          <m:r>
                            <a:rPr lang="en-US" sz="2600" i="1">
                              <a:latin typeface="Cambria Math" panose="02040503050406030204" pitchFamily="18" charset="0"/>
                            </a:rPr>
                            <m:t>𝑃</m:t>
                          </m:r>
                          <m:r>
                            <a:rPr lang="en-US" sz="2600" i="1">
                              <a:latin typeface="Cambria Math" panose="02040503050406030204" pitchFamily="18" charset="0"/>
                            </a:rPr>
                            <m:t>(</m:t>
                          </m:r>
                          <m:r>
                            <a:rPr lang="en-US" sz="2600" i="1">
                              <a:latin typeface="Cambria Math" panose="02040503050406030204" pitchFamily="18" charset="0"/>
                            </a:rPr>
                            <m:t>𝐻</m:t>
                          </m:r>
                          <m:r>
                            <a:rPr lang="en-US" sz="2600" i="1">
                              <a:latin typeface="Cambria Math" panose="02040503050406030204" pitchFamily="18" charset="0"/>
                            </a:rPr>
                            <m:t>=1)</m:t>
                          </m:r>
                        </m:den>
                      </m:f>
                    </m:oMath>
                  </m:oMathPara>
                </a14:m>
                <a:endParaRPr lang="en-NL" sz="2600" dirty="0"/>
              </a:p>
              <a:p>
                <a:pPr marL="0" indent="0">
                  <a:buNone/>
                </a:pPr>
                <a:endParaRPr lang="en-NL" dirty="0"/>
              </a:p>
            </p:txBody>
          </p:sp>
        </mc:Choice>
        <mc:Fallback>
          <p:sp>
            <p:nvSpPr>
              <p:cNvPr id="3" name="Content Placeholder 2">
                <a:extLst>
                  <a:ext uri="{FF2B5EF4-FFF2-40B4-BE49-F238E27FC236}">
                    <a16:creationId xmlns:a16="http://schemas.microsoft.com/office/drawing/2014/main" id="{CA54E8F0-276E-1C93-3B26-C5F72A8F7ABF}"/>
                  </a:ext>
                </a:extLst>
              </p:cNvPr>
              <p:cNvSpPr>
                <a:spLocks noGrp="1" noRot="1" noChangeAspect="1" noMove="1" noResize="1" noEditPoints="1" noAdjustHandles="1" noChangeArrowheads="1" noChangeShapeType="1" noTextEdit="1"/>
              </p:cNvSpPr>
              <p:nvPr>
                <p:ph idx="1"/>
              </p:nvPr>
            </p:nvSpPr>
            <p:spPr>
              <a:blipFill>
                <a:blip r:embed="rId2"/>
                <a:stretch>
                  <a:fillRect l="-1086"/>
                </a:stretch>
              </a:blipFill>
            </p:spPr>
            <p:txBody>
              <a:bodyPr/>
              <a:lstStyle/>
              <a:p>
                <a:r>
                  <a:rPr lang="en-NL">
                    <a:noFill/>
                  </a:rPr>
                  <a:t> </a:t>
                </a:r>
              </a:p>
            </p:txBody>
          </p:sp>
        </mc:Fallback>
      </mc:AlternateContent>
    </p:spTree>
    <p:extLst>
      <p:ext uri="{BB962C8B-B14F-4D97-AF65-F5344CB8AC3E}">
        <p14:creationId xmlns:p14="http://schemas.microsoft.com/office/powerpoint/2010/main" val="281689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41A12-D77B-2AC0-510C-EA3F58B58AB5}"/>
              </a:ext>
            </a:extLst>
          </p:cNvPr>
          <p:cNvSpPr>
            <a:spLocks noGrp="1"/>
          </p:cNvSpPr>
          <p:nvPr>
            <p:ph type="title"/>
          </p:nvPr>
        </p:nvSpPr>
        <p:spPr/>
        <p:txBody>
          <a:bodyPr/>
          <a:lstStyle/>
          <a:p>
            <a:r>
              <a:rPr lang="en-NL" dirty="0"/>
              <a:t>A Radical Scientific Theory</a:t>
            </a:r>
          </a:p>
        </p:txBody>
      </p:sp>
      <p:sp>
        <p:nvSpPr>
          <p:cNvPr id="3" name="Content Placeholder 2">
            <a:extLst>
              <a:ext uri="{FF2B5EF4-FFF2-40B4-BE49-F238E27FC236}">
                <a16:creationId xmlns:a16="http://schemas.microsoft.com/office/drawing/2014/main" id="{F682C1B9-B813-1D7A-5D05-56FC22DF3EDE}"/>
              </a:ext>
            </a:extLst>
          </p:cNvPr>
          <p:cNvSpPr>
            <a:spLocks noGrp="1"/>
          </p:cNvSpPr>
          <p:nvPr>
            <p:ph idx="1"/>
          </p:nvPr>
        </p:nvSpPr>
        <p:spPr/>
        <p:txBody>
          <a:bodyPr>
            <a:normAutofit lnSpcReduction="10000"/>
          </a:bodyPr>
          <a:lstStyle/>
          <a:p>
            <a:pPr lvl="0"/>
            <a:r>
              <a:rPr lang="en-NL" dirty="0"/>
              <a:t>Suppose a new measurement shows that a particle is moving faster than the speed of light.</a:t>
            </a:r>
          </a:p>
          <a:p>
            <a:pPr lvl="0"/>
            <a:r>
              <a:rPr lang="en-NL" dirty="0"/>
              <a:t>Suppose our measurement is highly accurate: if the particle is actually moving faster than light, the experiment will detect it with a probability of 99%.</a:t>
            </a:r>
          </a:p>
          <a:p>
            <a:pPr lvl="0"/>
            <a:r>
              <a:rPr lang="en-NL" dirty="0"/>
              <a:t>However, because of measurement noise, even if the particle is moving slower than the speed of light, the experiment may still indicate that it is moving faster than light (a false positive) with a probability of 0.0000003.</a:t>
            </a:r>
          </a:p>
          <a:p>
            <a:pPr lvl="0"/>
            <a:r>
              <a:rPr lang="en-NL" dirty="0"/>
              <a:t>Given that the measurement is positive, what is the probability that the particle is actually moving faster than light?</a:t>
            </a:r>
          </a:p>
        </p:txBody>
      </p:sp>
    </p:spTree>
    <p:extLst>
      <p:ext uri="{BB962C8B-B14F-4D97-AF65-F5344CB8AC3E}">
        <p14:creationId xmlns:p14="http://schemas.microsoft.com/office/powerpoint/2010/main" val="13642912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D16B-6652-4FAE-A3CB-9DE3EDB32851}"/>
              </a:ext>
            </a:extLst>
          </p:cNvPr>
          <p:cNvSpPr>
            <a:spLocks noGrp="1"/>
          </p:cNvSpPr>
          <p:nvPr>
            <p:ph type="title"/>
          </p:nvPr>
        </p:nvSpPr>
        <p:spPr/>
        <p:txBody>
          <a:bodyPr/>
          <a:lstStyle/>
          <a:p>
            <a:r>
              <a:rPr lang="en-NL" dirty="0"/>
              <a:t>But how do you get these probabilities?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5E51745-EC8C-20F0-93C2-77552C1B6DAA}"/>
                  </a:ext>
                </a:extLst>
              </p:cNvPr>
              <p:cNvSpPr>
                <a:spLocks noGrp="1"/>
              </p:cNvSpPr>
              <p:nvPr>
                <p:ph idx="1"/>
              </p:nvPr>
            </p:nvSpPr>
            <p:spPr/>
            <p:txBody>
              <a:bodyPr>
                <a:normAutofit fontScale="62500" lnSpcReduction="20000"/>
              </a:bodyPr>
              <a:lstStyle/>
              <a:p>
                <a:pPr marL="0" indent="0">
                  <a:buNone/>
                </a:pPr>
                <a:r>
                  <a:rPr lang="en-NL" sz="2900" dirty="0"/>
                  <a:t>These terms are called likelihood, they are calculated based on modeling assumptions. </a:t>
                </a:r>
              </a:p>
              <a:p>
                <a:pPr marL="0" indent="0">
                  <a:buNone/>
                </a:pPr>
                <a:endParaRPr lang="en-NL" sz="2900" dirty="0"/>
              </a:p>
              <a:p>
                <a:pPr marL="0" indent="0">
                  <a:buNone/>
                </a:pPr>
                <a14:m>
                  <m:oMathPara xmlns:m="http://schemas.openxmlformats.org/officeDocument/2006/math">
                    <m:oMath>
                      <m:r>
                        <a:rPr lang="en-NL" sz="2900" dirty="0"/>
                        <m:t>𝑃</m:t>
                      </m:r>
                      <m:r>
                        <a:rPr lang="en-NL" sz="2900" dirty="0"/>
                        <m:t>(</m:t>
                      </m:r>
                      <m:r>
                        <a:rPr lang="en-US" sz="2900" dirty="0"/>
                        <m:t>𝑇</m:t>
                      </m:r>
                      <m:r>
                        <a:rPr lang="en-US" sz="2900" dirty="0"/>
                        <m:t>=</m:t>
                      </m:r>
                      <m:r>
                        <a:rPr lang="en-US" sz="2900" dirty="0"/>
                        <m:t>−</m:t>
                      </m:r>
                      <m:r>
                        <a:rPr lang="en-US" sz="2900" dirty="0"/>
                        <m:t>∣</m:t>
                      </m:r>
                      <m:r>
                        <a:rPr lang="en-US" sz="2900" dirty="0"/>
                        <m:t>𝐻</m:t>
                      </m:r>
                      <m:r>
                        <a:rPr lang="en-US" sz="2900" dirty="0"/>
                        <m:t>=</m:t>
                      </m:r>
                      <m:r>
                        <a:rPr lang="en-US" sz="2900" dirty="0"/>
                        <m:t>0</m:t>
                      </m:r>
                      <m:r>
                        <a:rPr lang="en-US" sz="2900" dirty="0"/>
                        <m:t>)</m:t>
                      </m:r>
                    </m:oMath>
                  </m:oMathPara>
                </a14:m>
                <a:br>
                  <a:rPr lang="en-NL" sz="2900" dirty="0"/>
                </a:br>
                <a:endParaRPr lang="en-NL" sz="2900" dirty="0"/>
              </a:p>
              <a:p>
                <a:pPr marL="0" indent="0">
                  <a:buNone/>
                </a:pPr>
                <a14:m>
                  <m:oMathPara xmlns:m="http://schemas.openxmlformats.org/officeDocument/2006/math">
                    <m:oMath>
                      <m:r>
                        <a:rPr lang="en-NL" sz="2900" dirty="0"/>
                        <m:t>𝑃</m:t>
                      </m:r>
                      <m:r>
                        <a:rPr lang="en-NL" sz="2900" dirty="0"/>
                        <m:t>(</m:t>
                      </m:r>
                      <m:r>
                        <a:rPr lang="en-US" sz="2900" dirty="0"/>
                        <m:t>𝑇</m:t>
                      </m:r>
                      <m:r>
                        <a:rPr lang="en-US" sz="2900" dirty="0"/>
                        <m:t>=</m:t>
                      </m:r>
                      <m:r>
                        <a:rPr lang="en-US" sz="2900" dirty="0"/>
                        <m:t>−</m:t>
                      </m:r>
                      <m:r>
                        <a:rPr lang="en-US" sz="2900" dirty="0"/>
                        <m:t>∣</m:t>
                      </m:r>
                      <m:r>
                        <a:rPr lang="en-US" sz="2900" dirty="0"/>
                        <m:t>𝐻</m:t>
                      </m:r>
                      <m:r>
                        <a:rPr lang="en-US" sz="2900" dirty="0"/>
                        <m:t>=</m:t>
                      </m:r>
                      <m:r>
                        <a:rPr lang="en-US" sz="2900" dirty="0"/>
                        <m:t>0</m:t>
                      </m:r>
                      <m:r>
                        <a:rPr lang="en-NL" sz="2900" dirty="0"/>
                        <m:t>)</m:t>
                      </m:r>
                    </m:oMath>
                  </m:oMathPara>
                </a14:m>
                <a:endParaRPr lang="en-NL" sz="2900" dirty="0"/>
              </a:p>
              <a:p>
                <a:pPr marL="0" indent="0">
                  <a:buNone/>
                </a:pPr>
                <a14:m>
                  <m:oMathPara xmlns:m="http://schemas.openxmlformats.org/officeDocument/2006/math">
                    <m:oMath>
                      <m:r>
                        <a:rPr lang="en-NL" sz="2900" dirty="0"/>
                        <m:t>𝑃</m:t>
                      </m:r>
                      <m:r>
                        <a:rPr lang="en-NL" sz="2900" dirty="0"/>
                        <m:t>(</m:t>
                      </m:r>
                      <m:r>
                        <a:rPr lang="en-US" sz="2900" dirty="0"/>
                        <m:t>𝑇</m:t>
                      </m:r>
                      <m:r>
                        <a:rPr lang="en-US" sz="2900" dirty="0"/>
                        <m:t>=</m:t>
                      </m:r>
                      <m:r>
                        <a:rPr lang="en-US" sz="2900" dirty="0"/>
                        <m:t>+</m:t>
                      </m:r>
                      <m:r>
                        <a:rPr lang="en-US" sz="2900" dirty="0"/>
                        <m:t>∣</m:t>
                      </m:r>
                      <m:r>
                        <a:rPr lang="en-US" sz="2900" dirty="0"/>
                        <m:t>𝐻</m:t>
                      </m:r>
                      <m:r>
                        <a:rPr lang="en-US" sz="2900" dirty="0"/>
                        <m:t>=</m:t>
                      </m:r>
                      <m:r>
                        <a:rPr lang="en-US" sz="2900" dirty="0"/>
                        <m:t>1</m:t>
                      </m:r>
                      <m:r>
                        <a:rPr lang="en-US" sz="2900" dirty="0"/>
                        <m:t>)</m:t>
                      </m:r>
                    </m:oMath>
                  </m:oMathPara>
                </a14:m>
                <a:br>
                  <a:rPr lang="en-NL" sz="2900" dirty="0"/>
                </a:br>
                <a:endParaRPr lang="en-NL" sz="2900" dirty="0"/>
              </a:p>
              <a:p>
                <a:pPr marL="0" indent="0">
                  <a:buNone/>
                </a:pPr>
                <a14:m>
                  <m:oMathPara xmlns:m="http://schemas.openxmlformats.org/officeDocument/2006/math">
                    <m:oMath>
                      <m:r>
                        <a:rPr lang="en-NL" sz="2900" dirty="0"/>
                        <m:t>𝑃</m:t>
                      </m:r>
                      <m:r>
                        <a:rPr lang="en-NL" sz="2900" dirty="0"/>
                        <m:t>(</m:t>
                      </m:r>
                      <m:r>
                        <a:rPr lang="en-US" sz="2900" dirty="0"/>
                        <m:t>𝑇</m:t>
                      </m:r>
                      <m:r>
                        <a:rPr lang="en-US" sz="2900" dirty="0"/>
                        <m:t>=</m:t>
                      </m:r>
                      <m:r>
                        <a:rPr lang="en-US" sz="2900" dirty="0"/>
                        <m:t>+</m:t>
                      </m:r>
                      <m:r>
                        <a:rPr lang="en-US" sz="2900" dirty="0"/>
                        <m:t>∣</m:t>
                      </m:r>
                      <m:r>
                        <a:rPr lang="en-US" sz="2900" dirty="0"/>
                        <m:t>𝐻</m:t>
                      </m:r>
                      <m:r>
                        <a:rPr lang="en-US" sz="2900" dirty="0"/>
                        <m:t>=</m:t>
                      </m:r>
                      <m:r>
                        <a:rPr lang="en-US" sz="2900" dirty="0"/>
                        <m:t>1</m:t>
                      </m:r>
                      <m:r>
                        <a:rPr lang="en-NL" sz="2900" dirty="0"/>
                        <m:t>)</m:t>
                      </m:r>
                    </m:oMath>
                  </m:oMathPara>
                </a14:m>
                <a:br>
                  <a:rPr lang="en-NL" sz="2900" dirty="0"/>
                </a:br>
                <a:endParaRPr lang="en-NL" sz="2900" dirty="0"/>
              </a:p>
              <a:p>
                <a:pPr marL="0" indent="0">
                  <a:buNone/>
                </a:pPr>
                <a:r>
                  <a:rPr lang="en-NL" sz="2900" dirty="0"/>
                  <a:t>These are probability of the data given the hypothesis.</a:t>
                </a:r>
              </a:p>
              <a:p>
                <a:pPr marL="0" indent="0">
                  <a:buNone/>
                </a:pPr>
                <a:endParaRPr lang="en-NL" sz="2900" dirty="0"/>
              </a:p>
              <a:p>
                <a:pPr marL="0" indent="0">
                  <a:buNone/>
                </a:pPr>
                <a:r>
                  <a:rPr lang="en-NL" sz="2900" dirty="0"/>
                  <a:t>These terms are priors (they are typically assumed, and sometimes measured from other data / past data)</a:t>
                </a:r>
              </a:p>
              <a:p>
                <a:pPr marL="0" indent="0">
                  <a:buNone/>
                </a:pPr>
                <a:br>
                  <a:rPr lang="en-NL" i="1" dirty="0">
                    <a:latin typeface="Cambria Math" panose="02040503050406030204" pitchFamily="18" charset="0"/>
                  </a:rPr>
                </a:br>
                <a14:m>
                  <m:oMathPara xmlns:m="http://schemas.openxmlformats.org/officeDocument/2006/math">
                    <m:oMath>
                      <m:r>
                        <a:rPr lang="en-NL" i="1" dirty="0">
                          <a:latin typeface="Cambria Math" panose="02040503050406030204" pitchFamily="18" charset="0"/>
                        </a:rPr>
                        <m:t>𝑃</m:t>
                      </m:r>
                      <m:d>
                        <m:dPr>
                          <m:ctrlPr>
                            <a:rPr lang="en-US" i="1" dirty="0">
                              <a:latin typeface="Cambria Math" panose="02040503050406030204" pitchFamily="18" charset="0"/>
                            </a:rPr>
                          </m:ctrlPr>
                        </m:dPr>
                        <m:e>
                          <m:r>
                            <a:rPr lang="en-US" i="1" dirty="0">
                              <a:latin typeface="Cambria Math" panose="02040503050406030204" pitchFamily="18" charset="0"/>
                            </a:rPr>
                            <m:t>𝐻</m:t>
                          </m:r>
                          <m:r>
                            <a:rPr lang="en-US" i="1" dirty="0">
                              <a:latin typeface="Cambria Math" panose="02040503050406030204" pitchFamily="18" charset="0"/>
                            </a:rPr>
                            <m:t>=1</m:t>
                          </m:r>
                        </m:e>
                      </m:d>
                    </m:oMath>
                  </m:oMathPara>
                </a14:m>
                <a:endParaRPr lang="en-NL" dirty="0"/>
              </a:p>
              <a:p>
                <a:pPr marL="0" indent="0">
                  <a:buNone/>
                </a:pPr>
                <a14:m>
                  <m:oMathPara xmlns:m="http://schemas.openxmlformats.org/officeDocument/2006/math">
                    <m:oMath>
                      <m:r>
                        <a:rPr lang="en-NL" i="1" dirty="0">
                          <a:latin typeface="Cambria Math" panose="02040503050406030204" pitchFamily="18" charset="0"/>
                        </a:rPr>
                        <m:t>𝑃</m:t>
                      </m:r>
                      <m:d>
                        <m:dPr>
                          <m:ctrlPr>
                            <a:rPr lang="en-US" i="1" dirty="0">
                              <a:latin typeface="Cambria Math" panose="02040503050406030204" pitchFamily="18" charset="0"/>
                            </a:rPr>
                          </m:ctrlPr>
                        </m:dPr>
                        <m:e>
                          <m:r>
                            <a:rPr lang="en-US" i="1" dirty="0">
                              <a:latin typeface="Cambria Math" panose="02040503050406030204" pitchFamily="18" charset="0"/>
                            </a:rPr>
                            <m:t>𝐻</m:t>
                          </m:r>
                          <m:r>
                            <a:rPr lang="en-US" i="1" dirty="0">
                              <a:latin typeface="Cambria Math" panose="02040503050406030204" pitchFamily="18" charset="0"/>
                            </a:rPr>
                            <m:t>=0</m:t>
                          </m:r>
                        </m:e>
                      </m:d>
                    </m:oMath>
                  </m:oMathPara>
                </a14:m>
                <a:endParaRPr lang="en-NL" dirty="0"/>
              </a:p>
              <a:p>
                <a:pPr marL="0" indent="0">
                  <a:buNone/>
                </a:pPr>
                <a:endParaRPr lang="en-NL" dirty="0"/>
              </a:p>
              <a:p>
                <a:pPr marL="0" indent="0">
                  <a:buNone/>
                </a:pPr>
                <a:r>
                  <a:rPr lang="en-NL" dirty="0"/>
                  <a:t>The important point is that the likelihoods come from our </a:t>
                </a:r>
                <a:r>
                  <a:rPr lang="en-NL" b="1" dirty="0"/>
                  <a:t>model for the data</a:t>
                </a:r>
                <a:r>
                  <a:rPr lang="en-NL" dirty="0"/>
                  <a:t>, while the priors represent our </a:t>
                </a:r>
                <a:r>
                  <a:rPr lang="en-NL" b="1" dirty="0"/>
                  <a:t>initial beliefs about the hypotheses</a:t>
                </a:r>
                <a:r>
                  <a:rPr lang="en-NL" dirty="0"/>
                  <a:t>.</a:t>
                </a:r>
              </a:p>
              <a:p>
                <a:endParaRPr lang="en-NL" dirty="0"/>
              </a:p>
            </p:txBody>
          </p:sp>
        </mc:Choice>
        <mc:Fallback>
          <p:sp>
            <p:nvSpPr>
              <p:cNvPr id="3" name="Content Placeholder 2">
                <a:extLst>
                  <a:ext uri="{FF2B5EF4-FFF2-40B4-BE49-F238E27FC236}">
                    <a16:creationId xmlns:a16="http://schemas.microsoft.com/office/drawing/2014/main" id="{55E51745-EC8C-20F0-93C2-77552C1B6DAA}"/>
                  </a:ext>
                </a:extLst>
              </p:cNvPr>
              <p:cNvSpPr>
                <a:spLocks noGrp="1" noRot="1" noChangeAspect="1" noMove="1" noResize="1" noEditPoints="1" noAdjustHandles="1" noChangeArrowheads="1" noChangeShapeType="1" noTextEdit="1"/>
              </p:cNvSpPr>
              <p:nvPr>
                <p:ph idx="1"/>
              </p:nvPr>
            </p:nvSpPr>
            <p:spPr>
              <a:blipFill>
                <a:blip r:embed="rId2"/>
                <a:stretch>
                  <a:fillRect l="-603" t="-2326"/>
                </a:stretch>
              </a:blipFill>
            </p:spPr>
            <p:txBody>
              <a:bodyPr/>
              <a:lstStyle/>
              <a:p>
                <a:r>
                  <a:rPr lang="en-NL">
                    <a:noFill/>
                  </a:rPr>
                  <a:t> </a:t>
                </a:r>
              </a:p>
            </p:txBody>
          </p:sp>
        </mc:Fallback>
      </mc:AlternateContent>
    </p:spTree>
    <p:extLst>
      <p:ext uri="{BB962C8B-B14F-4D97-AF65-F5344CB8AC3E}">
        <p14:creationId xmlns:p14="http://schemas.microsoft.com/office/powerpoint/2010/main" val="23859018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107EB-5AA7-CCFA-CC44-314F7F0B7B74}"/>
              </a:ext>
            </a:extLst>
          </p:cNvPr>
          <p:cNvSpPr>
            <a:spLocks noGrp="1"/>
          </p:cNvSpPr>
          <p:nvPr>
            <p:ph type="title"/>
          </p:nvPr>
        </p:nvSpPr>
        <p:spPr/>
        <p:txBody>
          <a:bodyPr/>
          <a:lstStyle/>
          <a:p>
            <a:r>
              <a:rPr lang="en-US" dirty="0"/>
              <a:t>Is this a hill or a crater?</a:t>
            </a:r>
            <a:endParaRPr lang="en-NL" dirty="0"/>
          </a:p>
        </p:txBody>
      </p:sp>
      <p:pic>
        <p:nvPicPr>
          <p:cNvPr id="5" name="Picture 4">
            <a:extLst>
              <a:ext uri="{FF2B5EF4-FFF2-40B4-BE49-F238E27FC236}">
                <a16:creationId xmlns:a16="http://schemas.microsoft.com/office/drawing/2014/main" id="{E823D553-DDD2-F9C8-98FE-756215890752}"/>
              </a:ext>
            </a:extLst>
          </p:cNvPr>
          <p:cNvPicPr>
            <a:picLocks noChangeAspect="1"/>
          </p:cNvPicPr>
          <p:nvPr/>
        </p:nvPicPr>
        <p:blipFill>
          <a:blip r:embed="rId2"/>
          <a:stretch>
            <a:fillRect/>
          </a:stretch>
        </p:blipFill>
        <p:spPr>
          <a:xfrm>
            <a:off x="1189690" y="2795275"/>
            <a:ext cx="4252328" cy="2560542"/>
          </a:xfrm>
          <a:prstGeom prst="rect">
            <a:avLst/>
          </a:prstGeom>
        </p:spPr>
      </p:pic>
      <p:pic>
        <p:nvPicPr>
          <p:cNvPr id="9" name="Picture 8">
            <a:extLst>
              <a:ext uri="{FF2B5EF4-FFF2-40B4-BE49-F238E27FC236}">
                <a16:creationId xmlns:a16="http://schemas.microsoft.com/office/drawing/2014/main" id="{3185910B-E06F-A445-281D-C8BC12BDC6B6}"/>
              </a:ext>
            </a:extLst>
          </p:cNvPr>
          <p:cNvPicPr>
            <a:picLocks noChangeAspect="1"/>
          </p:cNvPicPr>
          <p:nvPr/>
        </p:nvPicPr>
        <p:blipFill>
          <a:blip r:embed="rId2"/>
          <a:stretch>
            <a:fillRect/>
          </a:stretch>
        </p:blipFill>
        <p:spPr>
          <a:xfrm flipV="1">
            <a:off x="6343581" y="2795275"/>
            <a:ext cx="4252328" cy="2560542"/>
          </a:xfrm>
          <a:prstGeom prst="rect">
            <a:avLst/>
          </a:prstGeom>
        </p:spPr>
      </p:pic>
      <p:sp>
        <p:nvSpPr>
          <p:cNvPr id="11" name="TextBox 10">
            <a:extLst>
              <a:ext uri="{FF2B5EF4-FFF2-40B4-BE49-F238E27FC236}">
                <a16:creationId xmlns:a16="http://schemas.microsoft.com/office/drawing/2014/main" id="{23C8A962-2439-2967-1C49-53FDF5C558A3}"/>
              </a:ext>
            </a:extLst>
          </p:cNvPr>
          <p:cNvSpPr txBox="1"/>
          <p:nvPr/>
        </p:nvSpPr>
        <p:spPr>
          <a:xfrm>
            <a:off x="1189690" y="5846544"/>
            <a:ext cx="9406220" cy="646331"/>
          </a:xfrm>
          <a:prstGeom prst="rect">
            <a:avLst/>
          </a:prstGeom>
          <a:noFill/>
        </p:spPr>
        <p:txBody>
          <a:bodyPr wrap="square">
            <a:spAutoFit/>
          </a:bodyPr>
          <a:lstStyle/>
          <a:p>
            <a:r>
              <a:rPr lang="en-US" dirty="0"/>
              <a:t>Seeing is not a direct apprehension of reality, as we often like to pretend. Quite the contrary: seeing is inference from incomplete information ... ET Jaynes, 2003</a:t>
            </a:r>
            <a:endParaRPr lang="en-NL" dirty="0"/>
          </a:p>
        </p:txBody>
      </p:sp>
    </p:spTree>
    <p:extLst>
      <p:ext uri="{BB962C8B-B14F-4D97-AF65-F5344CB8AC3E}">
        <p14:creationId xmlns:p14="http://schemas.microsoft.com/office/powerpoint/2010/main" val="3389125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E8ECE-A712-D5F3-362E-29C61FE89EE0}"/>
              </a:ext>
            </a:extLst>
          </p:cNvPr>
          <p:cNvSpPr>
            <a:spLocks noGrp="1"/>
          </p:cNvSpPr>
          <p:nvPr>
            <p:ph type="title"/>
          </p:nvPr>
        </p:nvSpPr>
        <p:spPr/>
        <p:txBody>
          <a:bodyPr/>
          <a:lstStyle/>
          <a:p>
            <a:r>
              <a:rPr lang="en-US" dirty="0"/>
              <a:t>Videos worthy to watch</a:t>
            </a:r>
            <a:endParaRPr lang="en-NL" dirty="0"/>
          </a:p>
        </p:txBody>
      </p:sp>
      <p:sp>
        <p:nvSpPr>
          <p:cNvPr id="3" name="Content Placeholder 2">
            <a:extLst>
              <a:ext uri="{FF2B5EF4-FFF2-40B4-BE49-F238E27FC236}">
                <a16:creationId xmlns:a16="http://schemas.microsoft.com/office/drawing/2014/main" id="{6C57B7C5-5F57-89C8-DE47-A965E9B03C85}"/>
              </a:ext>
            </a:extLst>
          </p:cNvPr>
          <p:cNvSpPr>
            <a:spLocks noGrp="1"/>
          </p:cNvSpPr>
          <p:nvPr>
            <p:ph idx="1"/>
          </p:nvPr>
        </p:nvSpPr>
        <p:spPr/>
        <p:txBody>
          <a:bodyPr>
            <a:normAutofit/>
          </a:bodyPr>
          <a:lstStyle/>
          <a:p>
            <a:r>
              <a:rPr lang="en-US" sz="1600" b="1" i="0" dirty="0">
                <a:solidFill>
                  <a:srgbClr val="0F0F0F"/>
                </a:solidFill>
                <a:effectLst/>
                <a:latin typeface="YouTube Sans"/>
              </a:rPr>
              <a:t>Binomial distributions | Probabilities of probabilities: </a:t>
            </a:r>
            <a:r>
              <a:rPr lang="en-US" sz="1600" dirty="0">
                <a:hlinkClick r:id="rId2"/>
              </a:rPr>
              <a:t>https://youtu.be/8idr1WZ1A7Q</a:t>
            </a:r>
            <a:endParaRPr lang="en-US" sz="1600" dirty="0"/>
          </a:p>
          <a:p>
            <a:pPr algn="l"/>
            <a:r>
              <a:rPr lang="en-US" sz="1600" b="1" i="0" dirty="0">
                <a:solidFill>
                  <a:srgbClr val="0F0F0F"/>
                </a:solidFill>
                <a:effectLst/>
                <a:latin typeface="YouTube Sans"/>
              </a:rPr>
              <a:t>Bayes theorem, the geometry of changing beliefs: </a:t>
            </a:r>
            <a:r>
              <a:rPr lang="en-US" sz="1600" dirty="0">
                <a:hlinkClick r:id="rId3"/>
              </a:rPr>
              <a:t>https://youtu.be/HZGCoVF3YvM</a:t>
            </a:r>
            <a:endParaRPr lang="en-US" sz="1600" dirty="0"/>
          </a:p>
          <a:p>
            <a:pPr marL="0" indent="0">
              <a:buNone/>
            </a:pPr>
            <a:endParaRPr lang="en-NL" sz="1600" dirty="0"/>
          </a:p>
        </p:txBody>
      </p:sp>
    </p:spTree>
    <p:extLst>
      <p:ext uri="{BB962C8B-B14F-4D97-AF65-F5344CB8AC3E}">
        <p14:creationId xmlns:p14="http://schemas.microsoft.com/office/powerpoint/2010/main" val="21596524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Bayes theorem, the geometry of changing beliefs">
            <a:hlinkClick r:id="" action="ppaction://media"/>
            <a:extLst>
              <a:ext uri="{FF2B5EF4-FFF2-40B4-BE49-F238E27FC236}">
                <a16:creationId xmlns:a16="http://schemas.microsoft.com/office/drawing/2014/main" id="{D709A4AD-A9A7-8EE6-2342-0DE06E679533}"/>
              </a:ext>
            </a:extLst>
          </p:cNvPr>
          <p:cNvPicPr>
            <a:picLocks noGrp="1" noRot="1" noChangeAspect="1"/>
          </p:cNvPicPr>
          <p:nvPr>
            <p:ph idx="1"/>
            <a:videoFile r:link="rId1"/>
          </p:nvPr>
        </p:nvPicPr>
        <p:blipFill>
          <a:blip r:embed="rId3"/>
          <a:stretch>
            <a:fillRect/>
          </a:stretch>
        </p:blipFill>
        <p:spPr>
          <a:xfrm>
            <a:off x="2246313" y="1825625"/>
            <a:ext cx="7700962" cy="4351338"/>
          </a:xfrm>
          <a:prstGeom prst="rect">
            <a:avLst/>
          </a:prstGeom>
        </p:spPr>
      </p:pic>
      <p:sp>
        <p:nvSpPr>
          <p:cNvPr id="6" name="TextBox 5">
            <a:extLst>
              <a:ext uri="{FF2B5EF4-FFF2-40B4-BE49-F238E27FC236}">
                <a16:creationId xmlns:a16="http://schemas.microsoft.com/office/drawing/2014/main" id="{1FDD6AF1-6881-FD4D-ADA7-7C4138106DD1}"/>
              </a:ext>
            </a:extLst>
          </p:cNvPr>
          <p:cNvSpPr txBox="1"/>
          <p:nvPr/>
        </p:nvSpPr>
        <p:spPr>
          <a:xfrm>
            <a:off x="158866" y="6488668"/>
            <a:ext cx="6092890" cy="369332"/>
          </a:xfrm>
          <a:prstGeom prst="rect">
            <a:avLst/>
          </a:prstGeom>
          <a:noFill/>
        </p:spPr>
        <p:txBody>
          <a:bodyPr wrap="square">
            <a:spAutoFit/>
          </a:bodyPr>
          <a:lstStyle/>
          <a:p>
            <a:r>
              <a:rPr lang="en-NL" dirty="0"/>
              <a:t>https://youtu.be/HZGCoVF3YvM?si=8RoY7hWDC-7NoqUa</a:t>
            </a:r>
          </a:p>
        </p:txBody>
      </p:sp>
    </p:spTree>
    <p:extLst>
      <p:ext uri="{BB962C8B-B14F-4D97-AF65-F5344CB8AC3E}">
        <p14:creationId xmlns:p14="http://schemas.microsoft.com/office/powerpoint/2010/main" val="355280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7E19-C22A-15F6-B06B-B64A7E46D7B3}"/>
              </a:ext>
            </a:extLst>
          </p:cNvPr>
          <p:cNvSpPr>
            <a:spLocks noGrp="1"/>
          </p:cNvSpPr>
          <p:nvPr>
            <p:ph type="ctrTitle"/>
          </p:nvPr>
        </p:nvSpPr>
        <p:spPr/>
        <p:txBody>
          <a:bodyPr/>
          <a:lstStyle/>
          <a:p>
            <a:pPr marL="0" indent="0" algn="l">
              <a:buNone/>
            </a:pPr>
            <a:r>
              <a:rPr lang="en-US" b="0" i="0" dirty="0">
                <a:solidFill>
                  <a:srgbClr val="374151"/>
                </a:solidFill>
                <a:effectLst/>
                <a:latin typeface="Söhne"/>
              </a:rPr>
              <a:t>Graphical Models</a:t>
            </a:r>
          </a:p>
        </p:txBody>
      </p:sp>
      <p:sp>
        <p:nvSpPr>
          <p:cNvPr id="3" name="Subtitle 2">
            <a:extLst>
              <a:ext uri="{FF2B5EF4-FFF2-40B4-BE49-F238E27FC236}">
                <a16:creationId xmlns:a16="http://schemas.microsoft.com/office/drawing/2014/main" id="{10711011-4590-EA3A-B542-8F844D41BCE5}"/>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2768146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E0E1BA-F25E-BBF9-91AA-78C8345B4639}"/>
              </a:ext>
            </a:extLst>
          </p:cNvPr>
          <p:cNvPicPr>
            <a:picLocks noChangeAspect="1"/>
          </p:cNvPicPr>
          <p:nvPr/>
        </p:nvPicPr>
        <p:blipFill>
          <a:blip r:embed="rId3"/>
          <a:stretch>
            <a:fillRect/>
          </a:stretch>
        </p:blipFill>
        <p:spPr>
          <a:xfrm>
            <a:off x="0" y="285948"/>
            <a:ext cx="12192000" cy="6657040"/>
          </a:xfrm>
          <a:prstGeom prst="rect">
            <a:avLst/>
          </a:prstGeom>
        </p:spPr>
      </p:pic>
      <p:sp>
        <p:nvSpPr>
          <p:cNvPr id="5" name="Rectangle 4">
            <a:extLst>
              <a:ext uri="{FF2B5EF4-FFF2-40B4-BE49-F238E27FC236}">
                <a16:creationId xmlns:a16="http://schemas.microsoft.com/office/drawing/2014/main" id="{4530D5ED-5F7F-C1C7-27EE-3C657901E343}"/>
              </a:ext>
            </a:extLst>
          </p:cNvPr>
          <p:cNvSpPr/>
          <p:nvPr/>
        </p:nvSpPr>
        <p:spPr>
          <a:xfrm>
            <a:off x="3856008" y="1216325"/>
            <a:ext cx="3329796" cy="2398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F8E56E6C-435B-A611-8F47-DFBE24D85660}"/>
              </a:ext>
            </a:extLst>
          </p:cNvPr>
          <p:cNvSpPr/>
          <p:nvPr/>
        </p:nvSpPr>
        <p:spPr>
          <a:xfrm>
            <a:off x="7712015" y="816634"/>
            <a:ext cx="4278701" cy="2398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Rectangle 6">
            <a:extLst>
              <a:ext uri="{FF2B5EF4-FFF2-40B4-BE49-F238E27FC236}">
                <a16:creationId xmlns:a16="http://schemas.microsoft.com/office/drawing/2014/main" id="{41E50219-F944-0F8B-DF87-010297F747F9}"/>
              </a:ext>
            </a:extLst>
          </p:cNvPr>
          <p:cNvSpPr/>
          <p:nvPr/>
        </p:nvSpPr>
        <p:spPr>
          <a:xfrm>
            <a:off x="7712015" y="3073879"/>
            <a:ext cx="4479985" cy="36836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Rectangle 7">
            <a:extLst>
              <a:ext uri="{FF2B5EF4-FFF2-40B4-BE49-F238E27FC236}">
                <a16:creationId xmlns:a16="http://schemas.microsoft.com/office/drawing/2014/main" id="{1C4717F8-F3DE-4863-BF0A-AFB3BC332772}"/>
              </a:ext>
            </a:extLst>
          </p:cNvPr>
          <p:cNvSpPr/>
          <p:nvPr/>
        </p:nvSpPr>
        <p:spPr>
          <a:xfrm>
            <a:off x="350808" y="3986922"/>
            <a:ext cx="2375140" cy="24052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Speech Bubble: Oval 8">
            <a:extLst>
              <a:ext uri="{FF2B5EF4-FFF2-40B4-BE49-F238E27FC236}">
                <a16:creationId xmlns:a16="http://schemas.microsoft.com/office/drawing/2014/main" id="{18E2885A-0BAE-8F7C-544D-B6E9DC27A8DA}"/>
              </a:ext>
            </a:extLst>
          </p:cNvPr>
          <p:cNvSpPr/>
          <p:nvPr/>
        </p:nvSpPr>
        <p:spPr>
          <a:xfrm>
            <a:off x="6797614" y="1596985"/>
            <a:ext cx="2699311" cy="1617792"/>
          </a:xfrm>
          <a:prstGeom prst="wedgeEllipseCallout">
            <a:avLst>
              <a:gd name="adj1" fmla="val -52422"/>
              <a:gd name="adj2" fmla="val 7960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Fill in the table given the model</a:t>
            </a:r>
            <a:endParaRPr lang="en-NL" dirty="0"/>
          </a:p>
        </p:txBody>
      </p:sp>
    </p:spTree>
    <p:extLst>
      <p:ext uri="{BB962C8B-B14F-4D97-AF65-F5344CB8AC3E}">
        <p14:creationId xmlns:p14="http://schemas.microsoft.com/office/powerpoint/2010/main" val="1377120150"/>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E0E1BA-F25E-BBF9-91AA-78C8345B4639}"/>
              </a:ext>
            </a:extLst>
          </p:cNvPr>
          <p:cNvPicPr>
            <a:picLocks noChangeAspect="1"/>
          </p:cNvPicPr>
          <p:nvPr/>
        </p:nvPicPr>
        <p:blipFill>
          <a:blip r:embed="rId2"/>
          <a:stretch>
            <a:fillRect/>
          </a:stretch>
        </p:blipFill>
        <p:spPr>
          <a:xfrm>
            <a:off x="0" y="100480"/>
            <a:ext cx="12192000" cy="6657040"/>
          </a:xfrm>
          <a:prstGeom prst="rect">
            <a:avLst/>
          </a:prstGeom>
        </p:spPr>
      </p:pic>
      <p:sp>
        <p:nvSpPr>
          <p:cNvPr id="5" name="Rectangle 4">
            <a:extLst>
              <a:ext uri="{FF2B5EF4-FFF2-40B4-BE49-F238E27FC236}">
                <a16:creationId xmlns:a16="http://schemas.microsoft.com/office/drawing/2014/main" id="{4530D5ED-5F7F-C1C7-27EE-3C657901E343}"/>
              </a:ext>
            </a:extLst>
          </p:cNvPr>
          <p:cNvSpPr/>
          <p:nvPr/>
        </p:nvSpPr>
        <p:spPr>
          <a:xfrm>
            <a:off x="3856008" y="1216325"/>
            <a:ext cx="3329796" cy="23981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Rectangle 6">
            <a:extLst>
              <a:ext uri="{FF2B5EF4-FFF2-40B4-BE49-F238E27FC236}">
                <a16:creationId xmlns:a16="http://schemas.microsoft.com/office/drawing/2014/main" id="{41E50219-F944-0F8B-DF87-010297F747F9}"/>
              </a:ext>
            </a:extLst>
          </p:cNvPr>
          <p:cNvSpPr/>
          <p:nvPr/>
        </p:nvSpPr>
        <p:spPr>
          <a:xfrm>
            <a:off x="7712015" y="3073879"/>
            <a:ext cx="4479985" cy="36836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595990391"/>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E0E1BA-F25E-BBF9-91AA-78C8345B4639}"/>
              </a:ext>
            </a:extLst>
          </p:cNvPr>
          <p:cNvPicPr>
            <a:picLocks noChangeAspect="1"/>
          </p:cNvPicPr>
          <p:nvPr/>
        </p:nvPicPr>
        <p:blipFill>
          <a:blip r:embed="rId3"/>
          <a:stretch>
            <a:fillRect/>
          </a:stretch>
        </p:blipFill>
        <p:spPr>
          <a:xfrm>
            <a:off x="0" y="100480"/>
            <a:ext cx="12192000" cy="6657040"/>
          </a:xfrm>
          <a:prstGeom prst="rect">
            <a:avLst/>
          </a:prstGeom>
        </p:spPr>
      </p:pic>
      <p:graphicFrame>
        <p:nvGraphicFramePr>
          <p:cNvPr id="2" name="Table 2">
            <a:extLst>
              <a:ext uri="{FF2B5EF4-FFF2-40B4-BE49-F238E27FC236}">
                <a16:creationId xmlns:a16="http://schemas.microsoft.com/office/drawing/2014/main" id="{CFAC0E55-2BCE-9A4F-2912-9C186C492583}"/>
              </a:ext>
            </a:extLst>
          </p:cNvPr>
          <p:cNvGraphicFramePr>
            <a:graphicFrameLocks noGrp="1"/>
          </p:cNvGraphicFramePr>
          <p:nvPr/>
        </p:nvGraphicFramePr>
        <p:xfrm>
          <a:off x="9305160" y="4419306"/>
          <a:ext cx="2119585" cy="1655672"/>
        </p:xfrm>
        <a:graphic>
          <a:graphicData uri="http://schemas.openxmlformats.org/drawingml/2006/table">
            <a:tbl>
              <a:tblPr bandRow="1">
                <a:tableStyleId>{5C22544A-7EE6-4342-B048-85BDC9FD1C3A}</a:tableStyleId>
              </a:tblPr>
              <a:tblGrid>
                <a:gridCol w="1082168">
                  <a:extLst>
                    <a:ext uri="{9D8B030D-6E8A-4147-A177-3AD203B41FA5}">
                      <a16:colId xmlns:a16="http://schemas.microsoft.com/office/drawing/2014/main" val="3979438830"/>
                    </a:ext>
                  </a:extLst>
                </a:gridCol>
                <a:gridCol w="1037417">
                  <a:extLst>
                    <a:ext uri="{9D8B030D-6E8A-4147-A177-3AD203B41FA5}">
                      <a16:colId xmlns:a16="http://schemas.microsoft.com/office/drawing/2014/main" val="3056147524"/>
                    </a:ext>
                  </a:extLst>
                </a:gridCol>
              </a:tblGrid>
              <a:tr h="413918">
                <a:tc>
                  <a:txBody>
                    <a:bodyPr/>
                    <a:lstStyle/>
                    <a:p>
                      <a:r>
                        <a:rPr lang="en-US" sz="1100" dirty="0"/>
                        <a:t>1*0.7*0.01</a:t>
                      </a:r>
                      <a:endParaRPr lang="en-NL" sz="1100" dirty="0"/>
                    </a:p>
                  </a:txBody>
                  <a:tcPr/>
                </a:tc>
                <a:tc>
                  <a:txBody>
                    <a:bodyPr/>
                    <a:lstStyle/>
                    <a:p>
                      <a:r>
                        <a:rPr lang="en-US" sz="1100" dirty="0"/>
                        <a:t>0.9*0.01*0.3</a:t>
                      </a:r>
                      <a:endParaRPr lang="en-NL" sz="1100" dirty="0"/>
                    </a:p>
                  </a:txBody>
                  <a:tcPr/>
                </a:tc>
                <a:extLst>
                  <a:ext uri="{0D108BD9-81ED-4DB2-BD59-A6C34878D82A}">
                    <a16:rowId xmlns:a16="http://schemas.microsoft.com/office/drawing/2014/main" val="3717636035"/>
                  </a:ext>
                </a:extLst>
              </a:tr>
              <a:tr h="413918">
                <a:tc>
                  <a:txBody>
                    <a:bodyPr/>
                    <a:lstStyle/>
                    <a:p>
                      <a:r>
                        <a:rPr lang="en-US" sz="1100" dirty="0"/>
                        <a:t>0</a:t>
                      </a:r>
                      <a:endParaRPr lang="en-NL" sz="1100" dirty="0"/>
                    </a:p>
                  </a:txBody>
                  <a:tcPr/>
                </a:tc>
                <a:tc>
                  <a:txBody>
                    <a:bodyPr/>
                    <a:lstStyle/>
                    <a:p>
                      <a:r>
                        <a:rPr lang="en-US" sz="1100" dirty="0"/>
                        <a:t>0.1*0.3*0.01</a:t>
                      </a:r>
                      <a:endParaRPr lang="en-NL" sz="1100" dirty="0"/>
                    </a:p>
                  </a:txBody>
                  <a:tcPr/>
                </a:tc>
                <a:extLst>
                  <a:ext uri="{0D108BD9-81ED-4DB2-BD59-A6C34878D82A}">
                    <a16:rowId xmlns:a16="http://schemas.microsoft.com/office/drawing/2014/main" val="1918037206"/>
                  </a:ext>
                </a:extLst>
              </a:tr>
              <a:tr h="413918">
                <a:tc>
                  <a:txBody>
                    <a:bodyPr/>
                    <a:lstStyle/>
                    <a:p>
                      <a:r>
                        <a:rPr lang="en-US" sz="1100" dirty="0"/>
                        <a:t>0.7*0.7*0.99</a:t>
                      </a:r>
                      <a:endParaRPr lang="en-NL" sz="1100" dirty="0"/>
                    </a:p>
                  </a:txBody>
                  <a:tcPr/>
                </a:tc>
                <a:tc>
                  <a:txBody>
                    <a:bodyPr/>
                    <a:lstStyle/>
                    <a:p>
                      <a:r>
                        <a:rPr lang="en-US" sz="1100" dirty="0"/>
                        <a:t>0.1*0.3*0.99</a:t>
                      </a:r>
                      <a:endParaRPr lang="en-NL" sz="1100" dirty="0"/>
                    </a:p>
                  </a:txBody>
                  <a:tcPr/>
                </a:tc>
                <a:extLst>
                  <a:ext uri="{0D108BD9-81ED-4DB2-BD59-A6C34878D82A}">
                    <a16:rowId xmlns:a16="http://schemas.microsoft.com/office/drawing/2014/main" val="2709724333"/>
                  </a:ext>
                </a:extLst>
              </a:tr>
              <a:tr h="413918">
                <a:tc>
                  <a:txBody>
                    <a:bodyPr/>
                    <a:lstStyle/>
                    <a:p>
                      <a:r>
                        <a:rPr lang="en-US" sz="1100" dirty="0"/>
                        <a:t>0.3*0.7*0.99</a:t>
                      </a:r>
                      <a:endParaRPr lang="en-NL" sz="1100" dirty="0"/>
                    </a:p>
                  </a:txBody>
                  <a:tcPr/>
                </a:tc>
                <a:tc>
                  <a:txBody>
                    <a:bodyPr/>
                    <a:lstStyle/>
                    <a:p>
                      <a:r>
                        <a:rPr lang="en-US" sz="1100" dirty="0"/>
                        <a:t>0.9*0.3*0.99</a:t>
                      </a:r>
                      <a:endParaRPr lang="en-NL" sz="1100" dirty="0"/>
                    </a:p>
                  </a:txBody>
                  <a:tcPr/>
                </a:tc>
                <a:extLst>
                  <a:ext uri="{0D108BD9-81ED-4DB2-BD59-A6C34878D82A}">
                    <a16:rowId xmlns:a16="http://schemas.microsoft.com/office/drawing/2014/main" val="1945432730"/>
                  </a:ext>
                </a:extLst>
              </a:tr>
            </a:tbl>
          </a:graphicData>
        </a:graphic>
      </p:graphicFrame>
      <p:sp>
        <p:nvSpPr>
          <p:cNvPr id="3" name="Rectangle 2">
            <a:extLst>
              <a:ext uri="{FF2B5EF4-FFF2-40B4-BE49-F238E27FC236}">
                <a16:creationId xmlns:a16="http://schemas.microsoft.com/office/drawing/2014/main" id="{01BE1E29-74A3-0A66-9DF7-20A5E3D4EBC1}"/>
              </a:ext>
            </a:extLst>
          </p:cNvPr>
          <p:cNvSpPr/>
          <p:nvPr/>
        </p:nvSpPr>
        <p:spPr>
          <a:xfrm>
            <a:off x="9305159" y="4419306"/>
            <a:ext cx="2382344" cy="16556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089712593"/>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E0E1BA-F25E-BBF9-91AA-78C8345B4639}"/>
              </a:ext>
            </a:extLst>
          </p:cNvPr>
          <p:cNvPicPr>
            <a:picLocks noChangeAspect="1"/>
          </p:cNvPicPr>
          <p:nvPr/>
        </p:nvPicPr>
        <p:blipFill>
          <a:blip r:embed="rId3"/>
          <a:stretch>
            <a:fillRect/>
          </a:stretch>
        </p:blipFill>
        <p:spPr>
          <a:xfrm>
            <a:off x="0" y="100480"/>
            <a:ext cx="12192000" cy="6657040"/>
          </a:xfrm>
          <a:prstGeom prst="rect">
            <a:avLst/>
          </a:prstGeom>
        </p:spPr>
      </p:pic>
      <p:graphicFrame>
        <p:nvGraphicFramePr>
          <p:cNvPr id="2" name="Table 2">
            <a:extLst>
              <a:ext uri="{FF2B5EF4-FFF2-40B4-BE49-F238E27FC236}">
                <a16:creationId xmlns:a16="http://schemas.microsoft.com/office/drawing/2014/main" id="{CFAC0E55-2BCE-9A4F-2912-9C186C492583}"/>
              </a:ext>
            </a:extLst>
          </p:cNvPr>
          <p:cNvGraphicFramePr>
            <a:graphicFrameLocks noGrp="1"/>
          </p:cNvGraphicFramePr>
          <p:nvPr/>
        </p:nvGraphicFramePr>
        <p:xfrm>
          <a:off x="9305160" y="4419306"/>
          <a:ext cx="2119585" cy="1655672"/>
        </p:xfrm>
        <a:graphic>
          <a:graphicData uri="http://schemas.openxmlformats.org/drawingml/2006/table">
            <a:tbl>
              <a:tblPr bandRow="1">
                <a:tableStyleId>{5C22544A-7EE6-4342-B048-85BDC9FD1C3A}</a:tableStyleId>
              </a:tblPr>
              <a:tblGrid>
                <a:gridCol w="1082168">
                  <a:extLst>
                    <a:ext uri="{9D8B030D-6E8A-4147-A177-3AD203B41FA5}">
                      <a16:colId xmlns:a16="http://schemas.microsoft.com/office/drawing/2014/main" val="3979438830"/>
                    </a:ext>
                  </a:extLst>
                </a:gridCol>
                <a:gridCol w="1037417">
                  <a:extLst>
                    <a:ext uri="{9D8B030D-6E8A-4147-A177-3AD203B41FA5}">
                      <a16:colId xmlns:a16="http://schemas.microsoft.com/office/drawing/2014/main" val="3056147524"/>
                    </a:ext>
                  </a:extLst>
                </a:gridCol>
              </a:tblGrid>
              <a:tr h="413918">
                <a:tc>
                  <a:txBody>
                    <a:bodyPr/>
                    <a:lstStyle/>
                    <a:p>
                      <a:r>
                        <a:rPr lang="en-US" sz="1100" dirty="0"/>
                        <a:t>1*0.7*0.01</a:t>
                      </a:r>
                      <a:endParaRPr lang="en-NL" sz="1100" dirty="0"/>
                    </a:p>
                  </a:txBody>
                  <a:tcPr/>
                </a:tc>
                <a:tc>
                  <a:txBody>
                    <a:bodyPr/>
                    <a:lstStyle/>
                    <a:p>
                      <a:r>
                        <a:rPr lang="en-US" sz="1100" dirty="0"/>
                        <a:t>0.9*0.01*0.3</a:t>
                      </a:r>
                      <a:endParaRPr lang="en-NL" sz="1100" dirty="0"/>
                    </a:p>
                  </a:txBody>
                  <a:tcPr/>
                </a:tc>
                <a:extLst>
                  <a:ext uri="{0D108BD9-81ED-4DB2-BD59-A6C34878D82A}">
                    <a16:rowId xmlns:a16="http://schemas.microsoft.com/office/drawing/2014/main" val="3717636035"/>
                  </a:ext>
                </a:extLst>
              </a:tr>
              <a:tr h="413918">
                <a:tc>
                  <a:txBody>
                    <a:bodyPr/>
                    <a:lstStyle/>
                    <a:p>
                      <a:r>
                        <a:rPr lang="en-US" sz="1100" dirty="0"/>
                        <a:t>0</a:t>
                      </a:r>
                      <a:endParaRPr lang="en-NL" sz="1100" dirty="0"/>
                    </a:p>
                  </a:txBody>
                  <a:tcPr/>
                </a:tc>
                <a:tc>
                  <a:txBody>
                    <a:bodyPr/>
                    <a:lstStyle/>
                    <a:p>
                      <a:r>
                        <a:rPr lang="en-US" sz="1100" dirty="0"/>
                        <a:t>0.1*0.3*0.01</a:t>
                      </a:r>
                      <a:endParaRPr lang="en-NL" sz="1100" dirty="0"/>
                    </a:p>
                  </a:txBody>
                  <a:tcPr/>
                </a:tc>
                <a:extLst>
                  <a:ext uri="{0D108BD9-81ED-4DB2-BD59-A6C34878D82A}">
                    <a16:rowId xmlns:a16="http://schemas.microsoft.com/office/drawing/2014/main" val="1918037206"/>
                  </a:ext>
                </a:extLst>
              </a:tr>
              <a:tr h="413918">
                <a:tc>
                  <a:txBody>
                    <a:bodyPr/>
                    <a:lstStyle/>
                    <a:p>
                      <a:r>
                        <a:rPr lang="en-US" sz="1100" dirty="0"/>
                        <a:t>0.7*0.7*0.99</a:t>
                      </a:r>
                      <a:endParaRPr lang="en-NL" sz="1100" dirty="0"/>
                    </a:p>
                  </a:txBody>
                  <a:tcPr/>
                </a:tc>
                <a:tc>
                  <a:txBody>
                    <a:bodyPr/>
                    <a:lstStyle/>
                    <a:p>
                      <a:r>
                        <a:rPr lang="en-US" sz="1100" dirty="0"/>
                        <a:t>0.1*0.3*0.99</a:t>
                      </a:r>
                      <a:endParaRPr lang="en-NL" sz="1100" dirty="0"/>
                    </a:p>
                  </a:txBody>
                  <a:tcPr/>
                </a:tc>
                <a:extLst>
                  <a:ext uri="{0D108BD9-81ED-4DB2-BD59-A6C34878D82A}">
                    <a16:rowId xmlns:a16="http://schemas.microsoft.com/office/drawing/2014/main" val="2709724333"/>
                  </a:ext>
                </a:extLst>
              </a:tr>
              <a:tr h="413918">
                <a:tc>
                  <a:txBody>
                    <a:bodyPr/>
                    <a:lstStyle/>
                    <a:p>
                      <a:r>
                        <a:rPr lang="en-US" sz="1100" dirty="0"/>
                        <a:t>0.3*0.7*0.99</a:t>
                      </a:r>
                      <a:endParaRPr lang="en-NL" sz="1100" dirty="0"/>
                    </a:p>
                  </a:txBody>
                  <a:tcPr/>
                </a:tc>
                <a:tc>
                  <a:txBody>
                    <a:bodyPr/>
                    <a:lstStyle/>
                    <a:p>
                      <a:r>
                        <a:rPr lang="en-US" sz="1100" dirty="0"/>
                        <a:t>0.9*0.3*0.99</a:t>
                      </a:r>
                      <a:endParaRPr lang="en-NL" sz="1100" dirty="0"/>
                    </a:p>
                  </a:txBody>
                  <a:tcPr/>
                </a:tc>
                <a:extLst>
                  <a:ext uri="{0D108BD9-81ED-4DB2-BD59-A6C34878D82A}">
                    <a16:rowId xmlns:a16="http://schemas.microsoft.com/office/drawing/2014/main" val="1945432730"/>
                  </a:ext>
                </a:extLst>
              </a:tr>
            </a:tbl>
          </a:graphicData>
        </a:graphic>
      </p:graphicFrame>
    </p:spTree>
    <p:extLst>
      <p:ext uri="{BB962C8B-B14F-4D97-AF65-F5344CB8AC3E}">
        <p14:creationId xmlns:p14="http://schemas.microsoft.com/office/powerpoint/2010/main" val="1845124169"/>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D36C52-5A4B-AF57-A5ED-CC1F291482FF}"/>
              </a:ext>
            </a:extLst>
          </p:cNvPr>
          <p:cNvPicPr>
            <a:picLocks noChangeAspect="1"/>
          </p:cNvPicPr>
          <p:nvPr/>
        </p:nvPicPr>
        <p:blipFill>
          <a:blip r:embed="rId2"/>
          <a:stretch>
            <a:fillRect/>
          </a:stretch>
        </p:blipFill>
        <p:spPr>
          <a:xfrm>
            <a:off x="915051" y="409430"/>
            <a:ext cx="10786949" cy="5697080"/>
          </a:xfrm>
          <a:prstGeom prst="rect">
            <a:avLst/>
          </a:prstGeom>
        </p:spPr>
      </p:pic>
      <p:sp>
        <p:nvSpPr>
          <p:cNvPr id="5" name="Rectangle 4">
            <a:extLst>
              <a:ext uri="{FF2B5EF4-FFF2-40B4-BE49-F238E27FC236}">
                <a16:creationId xmlns:a16="http://schemas.microsoft.com/office/drawing/2014/main" id="{75C1EB8C-2814-C5B7-8922-6AF3CFA0A27E}"/>
              </a:ext>
            </a:extLst>
          </p:cNvPr>
          <p:cNvSpPr/>
          <p:nvPr/>
        </p:nvSpPr>
        <p:spPr>
          <a:xfrm>
            <a:off x="4614041" y="1156138"/>
            <a:ext cx="2396359" cy="21546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688B0ED-2501-D436-8598-F67DD6F03288}"/>
              </a:ext>
            </a:extLst>
          </p:cNvPr>
          <p:cNvSpPr/>
          <p:nvPr/>
        </p:nvSpPr>
        <p:spPr>
          <a:xfrm>
            <a:off x="709448" y="4177863"/>
            <a:ext cx="4146331" cy="20547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379218707"/>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D36C52-5A4B-AF57-A5ED-CC1F291482FF}"/>
              </a:ext>
            </a:extLst>
          </p:cNvPr>
          <p:cNvPicPr>
            <a:picLocks noChangeAspect="1"/>
          </p:cNvPicPr>
          <p:nvPr/>
        </p:nvPicPr>
        <p:blipFill>
          <a:blip r:embed="rId2"/>
          <a:stretch>
            <a:fillRect/>
          </a:stretch>
        </p:blipFill>
        <p:spPr>
          <a:xfrm>
            <a:off x="915051" y="409430"/>
            <a:ext cx="10786949" cy="5697080"/>
          </a:xfrm>
          <a:prstGeom prst="rect">
            <a:avLst/>
          </a:prstGeom>
        </p:spPr>
      </p:pic>
      <p:sp>
        <p:nvSpPr>
          <p:cNvPr id="5" name="Rectangle 4">
            <a:extLst>
              <a:ext uri="{FF2B5EF4-FFF2-40B4-BE49-F238E27FC236}">
                <a16:creationId xmlns:a16="http://schemas.microsoft.com/office/drawing/2014/main" id="{75C1EB8C-2814-C5B7-8922-6AF3CFA0A27E}"/>
              </a:ext>
            </a:extLst>
          </p:cNvPr>
          <p:cNvSpPr/>
          <p:nvPr/>
        </p:nvSpPr>
        <p:spPr>
          <a:xfrm>
            <a:off x="4614041" y="1156138"/>
            <a:ext cx="2396359" cy="21546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10161965"/>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5D36C52-5A4B-AF57-A5ED-CC1F291482FF}"/>
              </a:ext>
            </a:extLst>
          </p:cNvPr>
          <p:cNvPicPr>
            <a:picLocks noChangeAspect="1"/>
          </p:cNvPicPr>
          <p:nvPr/>
        </p:nvPicPr>
        <p:blipFill>
          <a:blip r:embed="rId3"/>
          <a:stretch>
            <a:fillRect/>
          </a:stretch>
        </p:blipFill>
        <p:spPr>
          <a:xfrm>
            <a:off x="915051" y="409430"/>
            <a:ext cx="10786949" cy="5697080"/>
          </a:xfrm>
          <a:prstGeom prst="rect">
            <a:avLst/>
          </a:prstGeom>
        </p:spPr>
      </p:pic>
    </p:spTree>
    <p:extLst>
      <p:ext uri="{BB962C8B-B14F-4D97-AF65-F5344CB8AC3E}">
        <p14:creationId xmlns:p14="http://schemas.microsoft.com/office/powerpoint/2010/main" val="1814174481"/>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6A4D-EF41-8053-06E3-F93C407AA1AC}"/>
              </a:ext>
            </a:extLst>
          </p:cNvPr>
          <p:cNvSpPr>
            <a:spLocks noGrp="1"/>
          </p:cNvSpPr>
          <p:nvPr>
            <p:ph type="title"/>
          </p:nvPr>
        </p:nvSpPr>
        <p:spPr/>
        <p:txBody>
          <a:bodyPr/>
          <a:lstStyle/>
          <a:p>
            <a:r>
              <a:rPr lang="en-US" dirty="0"/>
              <a:t>More than 2 random variables</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D7872B-CCFC-0803-6821-C43DE31AC76C}"/>
                  </a:ext>
                </a:extLst>
              </p:cNvPr>
              <p:cNvSpPr>
                <a:spLocks noGrp="1"/>
              </p:cNvSpPr>
              <p:nvPr>
                <p:ph idx="1"/>
              </p:nvPr>
            </p:nvSpPr>
            <p:spPr/>
            <p:txBody>
              <a:bodyPr>
                <a:normAutofit/>
              </a:bodyPr>
              <a:lstStyle/>
              <a:p>
                <a:pPr marL="0" indent="0">
                  <a:spcAft>
                    <a:spcPts val="600"/>
                  </a:spcAft>
                  <a:buNone/>
                </a:pPr>
                <a:r>
                  <a:rPr lang="en-US" dirty="0"/>
                  <a:t>Consider this rule:</a:t>
                </a:r>
                <a:br>
                  <a:rPr lang="en-US" dirty="0"/>
                </a:br>
                <a:endParaRPr lang="en-US" dirty="0"/>
              </a:p>
              <a:p>
                <a:pPr marL="0" indent="0">
                  <a:spcAft>
                    <a:spcPts val="600"/>
                  </a:spcAft>
                  <a:buNone/>
                </a:pPr>
                <a14:m>
                  <m:oMathPara xmlns:m="http://schemas.openxmlformats.org/officeDocument/2006/math">
                    <m:oMathParaPr>
                      <m:jc m:val="left"/>
                    </m:oMathParaPr>
                    <m:o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e>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r>
                            <a:rPr lang="en-US" i="1" smtClean="0">
                              <a:latin typeface="Cambria Math" panose="02040503050406030204" pitchFamily="18" charset="0"/>
                            </a:rPr>
                            <m:t> </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e>
                      </m:d>
                    </m:oMath>
                  </m:oMathPara>
                </a14:m>
                <a:endParaRPr lang="en-US" dirty="0"/>
              </a:p>
              <a:p>
                <a:pPr marL="0" indent="0">
                  <a:spcAft>
                    <a:spcPts val="600"/>
                  </a:spcAft>
                  <a:buNone/>
                </a:pPr>
                <a:endParaRPr lang="en-US" dirty="0"/>
              </a:p>
              <a:p>
                <a:pPr marL="0" indent="0">
                  <a:spcAft>
                    <a:spcPts val="600"/>
                  </a:spcAft>
                  <a:buNone/>
                </a:pPr>
                <a:r>
                  <a:rPr lang="en-US" dirty="0"/>
                  <a:t>For three variables this is how this law works:</a:t>
                </a:r>
                <a:endParaRPr lang="en-US" i="1" dirty="0">
                  <a:latin typeface="Cambria Math" panose="02040503050406030204" pitchFamily="18" charset="0"/>
                </a:endParaRPr>
              </a:p>
              <a:p>
                <a:pPr marL="0" indent="0">
                  <a:spcAft>
                    <a:spcPts val="600"/>
                  </a:spcAft>
                  <a:buNone/>
                </a:pPr>
                <a14:m>
                  <m:oMathPara xmlns:m="http://schemas.openxmlformats.org/officeDocument/2006/math">
                    <m:oMathParaPr>
                      <m:jc m:val="center"/>
                    </m:oMathParaPr>
                    <m:o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𝑧</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e>
                        <m:e>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𝑧</m:t>
                          </m:r>
                          <m:r>
                            <a:rPr lang="en-US" i="1">
                              <a:latin typeface="Cambria Math" panose="02040503050406030204" pitchFamily="18" charset="0"/>
                            </a:rPr>
                            <m:t> </m:t>
                          </m:r>
                        </m:e>
                      </m:d>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𝑍</m:t>
                          </m:r>
                          <m:r>
                            <a:rPr lang="en-US" i="1">
                              <a:latin typeface="Cambria Math" panose="02040503050406030204" pitchFamily="18" charset="0"/>
                            </a:rPr>
                            <m:t>=</m:t>
                          </m:r>
                          <m:r>
                            <a:rPr lang="en-US" i="1">
                              <a:latin typeface="Cambria Math" panose="02040503050406030204" pitchFamily="18" charset="0"/>
                            </a:rPr>
                            <m:t>𝑧</m:t>
                          </m:r>
                        </m:e>
                      </m:d>
                    </m:oMath>
                  </m:oMathPara>
                </a14:m>
                <a:endParaRPr lang="en-US" dirty="0"/>
              </a:p>
              <a:p>
                <a:pPr marL="0" indent="0">
                  <a:spcAft>
                    <a:spcPts val="600"/>
                  </a:spcAft>
                  <a:buNone/>
                </a:pPr>
                <a14:m>
                  <m:oMathPara xmlns:m="http://schemas.openxmlformats.org/officeDocument/2006/math">
                    <m:oMathParaPr>
                      <m:jc m:val="center"/>
                    </m:oMathParaPr>
                    <m:o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i="1">
                          <a:latin typeface="Cambria Math" panose="02040503050406030204" pitchFamily="18" charset="0"/>
                        </a:rPr>
                        <m:t>=</m:t>
                      </m:r>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𝑍</m:t>
                          </m:r>
                          <m:r>
                            <a:rPr lang="en-US" i="1">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e>
                          <m:r>
                            <a:rPr lang="en-US" b="0" i="1" smtClean="0">
                              <a:latin typeface="Cambria Math" panose="02040503050406030204" pitchFamily="18" charset="0"/>
                            </a:rPr>
                            <m:t>𝑌</m:t>
                          </m:r>
                          <m:r>
                            <a:rPr lang="en-US" i="1">
                              <a:latin typeface="Cambria Math" panose="02040503050406030204" pitchFamily="18" charset="0"/>
                            </a:rPr>
                            <m:t>=</m:t>
                          </m:r>
                          <m:r>
                            <a:rPr lang="en-US" b="0" i="1" smtClean="0">
                              <a:latin typeface="Cambria Math" panose="02040503050406030204" pitchFamily="18" charset="0"/>
                            </a:rPr>
                            <m:t>𝑦</m:t>
                          </m:r>
                          <m:r>
                            <a:rPr lang="en-US" i="1" smtClean="0">
                              <a:latin typeface="Cambria Math" panose="02040503050406030204" pitchFamily="18" charset="0"/>
                            </a:rPr>
                            <m:t> </m:t>
                          </m:r>
                        </m:e>
                      </m:d>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i="1">
                              <a:latin typeface="Cambria Math" panose="02040503050406030204" pitchFamily="18" charset="0"/>
                            </a:rPr>
                            <m:t>=</m:t>
                          </m:r>
                          <m:r>
                            <a:rPr lang="en-US" b="0" i="1" smtClean="0">
                              <a:latin typeface="Cambria Math" panose="02040503050406030204" pitchFamily="18" charset="0"/>
                            </a:rPr>
                            <m:t>𝑦</m:t>
                          </m:r>
                        </m:e>
                      </m:d>
                    </m:oMath>
                  </m:oMathPara>
                </a14:m>
                <a:endParaRPr lang="en-US" dirty="0"/>
              </a:p>
              <a:p>
                <a:pPr marL="0" indent="0">
                  <a:spcAft>
                    <a:spcPts val="600"/>
                  </a:spcAft>
                  <a:buNone/>
                </a:pPr>
                <a14:m>
                  <m:oMathPara xmlns:m="http://schemas.openxmlformats.org/officeDocument/2006/math">
                    <m:oMathParaPr>
                      <m:jc m:val="center"/>
                    </m:oMathParaPr>
                    <m:o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i="1">
                          <a:latin typeface="Cambria Math" panose="02040503050406030204" pitchFamily="18" charset="0"/>
                        </a:rPr>
                        <m:t>=</m:t>
                      </m:r>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i="1">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𝑧</m:t>
                          </m:r>
                        </m:e>
                        <m:e>
                          <m:r>
                            <a:rPr lang="en-US" b="0" i="1" smtClean="0">
                              <a:latin typeface="Cambria Math" panose="02040503050406030204" pitchFamily="18" charset="0"/>
                            </a:rPr>
                            <m:t>𝑋</m:t>
                          </m:r>
                          <m:r>
                            <a:rPr lang="en-US" i="1">
                              <a:latin typeface="Cambria Math" panose="02040503050406030204" pitchFamily="18" charset="0"/>
                            </a:rPr>
                            <m:t>=</m:t>
                          </m:r>
                          <m:r>
                            <a:rPr lang="en-US" b="0" i="1" smtClean="0">
                              <a:latin typeface="Cambria Math" panose="02040503050406030204" pitchFamily="18" charset="0"/>
                            </a:rPr>
                            <m:t>𝑥</m:t>
                          </m:r>
                          <m:r>
                            <a:rPr lang="en-US" i="1" smtClean="0">
                              <a:latin typeface="Cambria Math" panose="02040503050406030204" pitchFamily="18" charset="0"/>
                            </a:rPr>
                            <m:t> </m:t>
                          </m:r>
                        </m:e>
                      </m:d>
                      <m:r>
                        <a:rPr lang="en-US" i="1">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i="1">
                              <a:latin typeface="Cambria Math" panose="02040503050406030204" pitchFamily="18" charset="0"/>
                            </a:rPr>
                            <m:t>=</m:t>
                          </m:r>
                          <m:r>
                            <a:rPr lang="en-US" b="0" i="1" smtClean="0">
                              <a:latin typeface="Cambria Math" panose="02040503050406030204" pitchFamily="18" charset="0"/>
                            </a:rPr>
                            <m:t>𝑥</m:t>
                          </m:r>
                        </m:e>
                      </m:d>
                    </m:oMath>
                  </m:oMathPara>
                </a14:m>
                <a:endParaRPr lang="en-US" dirty="0"/>
              </a:p>
              <a:p>
                <a:pPr marL="0" indent="0">
                  <a:spcAft>
                    <a:spcPts val="600"/>
                  </a:spcAft>
                  <a:buNone/>
                </a:pPr>
                <a:endParaRPr lang="en-US" dirty="0"/>
              </a:p>
              <a:p>
                <a:pPr marL="0" indent="0">
                  <a:spcAft>
                    <a:spcPts val="600"/>
                  </a:spcAft>
                  <a:buNone/>
                </a:pPr>
                <a:endParaRPr lang="en-US" dirty="0"/>
              </a:p>
            </p:txBody>
          </p:sp>
        </mc:Choice>
        <mc:Fallback xmlns="">
          <p:sp>
            <p:nvSpPr>
              <p:cNvPr id="3" name="Content Placeholder 2">
                <a:extLst>
                  <a:ext uri="{FF2B5EF4-FFF2-40B4-BE49-F238E27FC236}">
                    <a16:creationId xmlns:a16="http://schemas.microsoft.com/office/drawing/2014/main" id="{E8D7872B-CCFC-0803-6821-C43DE31AC76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L">
                    <a:noFill/>
                  </a:rPr>
                  <a:t> </a:t>
                </a:r>
              </a:p>
            </p:txBody>
          </p:sp>
        </mc:Fallback>
      </mc:AlternateContent>
    </p:spTree>
    <p:extLst>
      <p:ext uri="{BB962C8B-B14F-4D97-AF65-F5344CB8AC3E}">
        <p14:creationId xmlns:p14="http://schemas.microsoft.com/office/powerpoint/2010/main" val="37504403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6A4D-EF41-8053-06E3-F93C407AA1AC}"/>
              </a:ext>
            </a:extLst>
          </p:cNvPr>
          <p:cNvSpPr>
            <a:spLocks noGrp="1"/>
          </p:cNvSpPr>
          <p:nvPr>
            <p:ph type="title"/>
          </p:nvPr>
        </p:nvSpPr>
        <p:spPr/>
        <p:txBody>
          <a:bodyPr/>
          <a:lstStyle/>
          <a:p>
            <a:r>
              <a:rPr lang="en-US" dirty="0"/>
              <a:t>Interpretation</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D7872B-CCFC-0803-6821-C43DE31AC76C}"/>
                  </a:ext>
                </a:extLst>
              </p:cNvPr>
              <p:cNvSpPr>
                <a:spLocks noGrp="1"/>
              </p:cNvSpPr>
              <p:nvPr>
                <p:ph idx="1"/>
              </p:nvPr>
            </p:nvSpPr>
            <p:spPr>
              <a:xfrm>
                <a:off x="935422" y="3591363"/>
                <a:ext cx="10515600" cy="497161"/>
              </a:xfrm>
            </p:spPr>
            <p:txBody>
              <a:bodyPr>
                <a:noAutofit/>
              </a:bodyPr>
              <a:lstStyle/>
              <a:p>
                <a:pPr marL="0" indent="0">
                  <a:spcAft>
                    <a:spcPts val="600"/>
                  </a:spcAft>
                  <a:buNone/>
                </a:pPr>
                <a14:m>
                  <m:oMathPara xmlns:m="http://schemas.openxmlformats.org/officeDocument/2006/math">
                    <m:oMathParaPr>
                      <m:jc m:val="center"/>
                    </m:oMathParaPr>
                    <m:oMath>
                      <m:r>
                        <a:rPr lang="en-US" sz="3200" i="1" smtClean="0">
                          <a:solidFill>
                            <a:schemeClr val="accent5">
                              <a:lumMod val="50000"/>
                            </a:schemeClr>
                          </a:solidFill>
                          <a:latin typeface="Cambria Math" panose="02040503050406030204" pitchFamily="18" charset="0"/>
                        </a:rPr>
                        <m:t>𝑃</m:t>
                      </m:r>
                      <m:d>
                        <m:dPr>
                          <m:ctrlPr>
                            <a:rPr lang="en-US" sz="3200" i="1">
                              <a:solidFill>
                                <a:schemeClr val="accent5">
                                  <a:lumMod val="50000"/>
                                </a:schemeClr>
                              </a:solidFill>
                              <a:latin typeface="Cambria Math" panose="02040503050406030204" pitchFamily="18" charset="0"/>
                            </a:rPr>
                          </m:ctrlPr>
                        </m:dPr>
                        <m:e>
                          <m:r>
                            <a:rPr lang="en-US" sz="3200" i="1">
                              <a:solidFill>
                                <a:schemeClr val="accent5">
                                  <a:lumMod val="50000"/>
                                </a:schemeClr>
                              </a:solidFill>
                              <a:latin typeface="Cambria Math" panose="02040503050406030204" pitchFamily="18" charset="0"/>
                            </a:rPr>
                            <m:t>𝑋</m:t>
                          </m:r>
                          <m:r>
                            <a:rPr lang="en-US" sz="3200" i="1">
                              <a:solidFill>
                                <a:schemeClr val="accent5">
                                  <a:lumMod val="50000"/>
                                </a:schemeClr>
                              </a:solidFill>
                              <a:latin typeface="Cambria Math" panose="02040503050406030204" pitchFamily="18" charset="0"/>
                            </a:rPr>
                            <m:t>=</m:t>
                          </m:r>
                          <m:r>
                            <a:rPr lang="en-US" sz="3200" i="1">
                              <a:solidFill>
                                <a:schemeClr val="accent5">
                                  <a:lumMod val="50000"/>
                                </a:schemeClr>
                              </a:solidFill>
                              <a:latin typeface="Cambria Math" panose="02040503050406030204" pitchFamily="18" charset="0"/>
                            </a:rPr>
                            <m:t>𝑥</m:t>
                          </m:r>
                          <m:r>
                            <a:rPr lang="en-US" sz="3200" i="1">
                              <a:solidFill>
                                <a:schemeClr val="accent5">
                                  <a:lumMod val="50000"/>
                                </a:schemeClr>
                              </a:solidFill>
                              <a:latin typeface="Cambria Math" panose="02040503050406030204" pitchFamily="18" charset="0"/>
                            </a:rPr>
                            <m:t>,</m:t>
                          </m:r>
                          <m:r>
                            <a:rPr lang="en-US" sz="3200" i="1">
                              <a:solidFill>
                                <a:schemeClr val="accent5">
                                  <a:lumMod val="50000"/>
                                </a:schemeClr>
                              </a:solidFill>
                              <a:latin typeface="Cambria Math" panose="02040503050406030204" pitchFamily="18" charset="0"/>
                            </a:rPr>
                            <m:t>𝑌</m:t>
                          </m:r>
                          <m:r>
                            <a:rPr lang="en-US" sz="3200" i="1">
                              <a:solidFill>
                                <a:schemeClr val="accent5">
                                  <a:lumMod val="50000"/>
                                </a:schemeClr>
                              </a:solidFill>
                              <a:latin typeface="Cambria Math" panose="02040503050406030204" pitchFamily="18" charset="0"/>
                            </a:rPr>
                            <m:t>=</m:t>
                          </m:r>
                          <m:r>
                            <a:rPr lang="en-US" sz="3200" i="1">
                              <a:solidFill>
                                <a:schemeClr val="accent5">
                                  <a:lumMod val="50000"/>
                                </a:schemeClr>
                              </a:solidFill>
                              <a:latin typeface="Cambria Math" panose="02040503050406030204" pitchFamily="18" charset="0"/>
                            </a:rPr>
                            <m:t>𝑦</m:t>
                          </m:r>
                          <m:r>
                            <a:rPr lang="en-US" sz="3200" b="0" i="1" smtClean="0">
                              <a:solidFill>
                                <a:schemeClr val="accent5">
                                  <a:lumMod val="50000"/>
                                </a:schemeClr>
                              </a:solidFill>
                              <a:latin typeface="Cambria Math" panose="02040503050406030204" pitchFamily="18" charset="0"/>
                            </a:rPr>
                            <m:t>,</m:t>
                          </m:r>
                          <m:r>
                            <a:rPr lang="en-US" sz="3200" b="0" i="1" smtClean="0">
                              <a:solidFill>
                                <a:schemeClr val="accent5">
                                  <a:lumMod val="50000"/>
                                </a:schemeClr>
                              </a:solidFill>
                              <a:latin typeface="Cambria Math" panose="02040503050406030204" pitchFamily="18" charset="0"/>
                            </a:rPr>
                            <m:t>𝑍</m:t>
                          </m:r>
                          <m:r>
                            <a:rPr lang="en-US" sz="3200" b="0" i="1" smtClean="0">
                              <a:solidFill>
                                <a:schemeClr val="accent5">
                                  <a:lumMod val="50000"/>
                                </a:schemeClr>
                              </a:solidFill>
                              <a:latin typeface="Cambria Math" panose="02040503050406030204" pitchFamily="18" charset="0"/>
                            </a:rPr>
                            <m:t>=</m:t>
                          </m:r>
                          <m:r>
                            <a:rPr lang="en-US" sz="3200" b="0" i="1" smtClean="0">
                              <a:solidFill>
                                <a:schemeClr val="accent5">
                                  <a:lumMod val="50000"/>
                                </a:schemeClr>
                              </a:solidFill>
                              <a:latin typeface="Cambria Math" panose="02040503050406030204" pitchFamily="18" charset="0"/>
                            </a:rPr>
                            <m:t>𝑧</m:t>
                          </m:r>
                        </m:e>
                      </m:d>
                      <m:r>
                        <a:rPr lang="en-US" sz="3200" i="1">
                          <a:latin typeface="Cambria Math" panose="02040503050406030204" pitchFamily="18" charset="0"/>
                        </a:rPr>
                        <m:t>=</m:t>
                      </m:r>
                      <m:r>
                        <a:rPr lang="en-US" sz="3200" i="1">
                          <a:latin typeface="Cambria Math" panose="02040503050406030204" pitchFamily="18" charset="0"/>
                        </a:rPr>
                        <m:t>𝑃</m:t>
                      </m:r>
                      <m:d>
                        <m:dPr>
                          <m:ctrlPr>
                            <a:rPr lang="en-US" sz="3200" i="1">
                              <a:latin typeface="Cambria Math" panose="02040503050406030204" pitchFamily="18" charset="0"/>
                            </a:rPr>
                          </m:ctrlPr>
                        </m:dPr>
                        <m:e>
                          <m:r>
                            <a:rPr lang="en-US" sz="3200" i="1">
                              <a:latin typeface="Cambria Math" panose="02040503050406030204" pitchFamily="18" charset="0"/>
                            </a:rPr>
                            <m:t>𝑋</m:t>
                          </m:r>
                          <m:r>
                            <a:rPr lang="en-US" sz="3200" i="1">
                              <a:latin typeface="Cambria Math" panose="02040503050406030204" pitchFamily="18" charset="0"/>
                            </a:rPr>
                            <m:t>=</m:t>
                          </m:r>
                          <m:r>
                            <a:rPr lang="en-US" sz="3200" i="1">
                              <a:latin typeface="Cambria Math" panose="02040503050406030204" pitchFamily="18" charset="0"/>
                            </a:rPr>
                            <m:t>𝑥</m:t>
                          </m:r>
                          <m:r>
                            <a:rPr lang="en-US" sz="3200" b="0" i="1" smtClean="0">
                              <a:latin typeface="Cambria Math" panose="02040503050406030204" pitchFamily="18" charset="0"/>
                            </a:rPr>
                            <m:t>,</m:t>
                          </m:r>
                          <m:r>
                            <a:rPr lang="en-US" sz="3200" b="0" i="1" smtClean="0">
                              <a:latin typeface="Cambria Math" panose="02040503050406030204" pitchFamily="18" charset="0"/>
                            </a:rPr>
                            <m:t>𝑌</m:t>
                          </m:r>
                          <m:r>
                            <a:rPr lang="en-US" sz="3200" b="0" i="1" smtClean="0">
                              <a:latin typeface="Cambria Math" panose="02040503050406030204" pitchFamily="18" charset="0"/>
                            </a:rPr>
                            <m:t>=</m:t>
                          </m:r>
                          <m:r>
                            <a:rPr lang="en-US" sz="3200" b="0" i="1" smtClean="0">
                              <a:latin typeface="Cambria Math" panose="02040503050406030204" pitchFamily="18" charset="0"/>
                            </a:rPr>
                            <m:t>𝑦</m:t>
                          </m:r>
                        </m:e>
                        <m:e>
                          <m:r>
                            <a:rPr lang="en-US" sz="3200" b="0" i="1" smtClean="0">
                              <a:latin typeface="Cambria Math" panose="02040503050406030204" pitchFamily="18" charset="0"/>
                            </a:rPr>
                            <m:t>𝑍</m:t>
                          </m:r>
                          <m:r>
                            <a:rPr lang="en-US" sz="3200" i="1">
                              <a:latin typeface="Cambria Math" panose="02040503050406030204" pitchFamily="18" charset="0"/>
                            </a:rPr>
                            <m:t>=</m:t>
                          </m:r>
                          <m:r>
                            <a:rPr lang="en-US" sz="3200" b="0" i="1" smtClean="0">
                              <a:latin typeface="Cambria Math" panose="02040503050406030204" pitchFamily="18" charset="0"/>
                            </a:rPr>
                            <m:t>𝑧</m:t>
                          </m:r>
                          <m:r>
                            <a:rPr lang="en-US" sz="3200" i="1" smtClean="0">
                              <a:latin typeface="Cambria Math" panose="02040503050406030204" pitchFamily="18" charset="0"/>
                            </a:rPr>
                            <m:t> </m:t>
                          </m:r>
                        </m:e>
                      </m:d>
                      <m:r>
                        <a:rPr lang="en-US" sz="3200" i="1">
                          <a:latin typeface="Cambria Math" panose="02040503050406030204" pitchFamily="18" charset="0"/>
                        </a:rPr>
                        <m:t>𝑃</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𝑍</m:t>
                          </m:r>
                          <m:r>
                            <a:rPr lang="en-US" sz="3200" i="1">
                              <a:latin typeface="Cambria Math" panose="02040503050406030204" pitchFamily="18" charset="0"/>
                            </a:rPr>
                            <m:t>=</m:t>
                          </m:r>
                          <m:r>
                            <a:rPr lang="en-US" sz="3200" b="0" i="1" smtClean="0">
                              <a:latin typeface="Cambria Math" panose="02040503050406030204" pitchFamily="18" charset="0"/>
                            </a:rPr>
                            <m:t>𝑧</m:t>
                          </m:r>
                        </m:e>
                      </m:d>
                    </m:oMath>
                  </m:oMathPara>
                </a14:m>
                <a:endParaRPr lang="en-US" sz="3200" dirty="0"/>
              </a:p>
              <a:p>
                <a:pPr marL="0" indent="0">
                  <a:spcAft>
                    <a:spcPts val="600"/>
                  </a:spcAft>
                  <a:buNone/>
                </a:pPr>
                <a:endParaRPr lang="en-US" sz="3200" dirty="0"/>
              </a:p>
              <a:p>
                <a:pPr marL="0" indent="0">
                  <a:spcAft>
                    <a:spcPts val="600"/>
                  </a:spcAft>
                  <a:buNone/>
                </a:pPr>
                <a:r>
                  <a:rPr lang="en-US" sz="3200" dirty="0"/>
                  <a:t> </a:t>
                </a:r>
              </a:p>
            </p:txBody>
          </p:sp>
        </mc:Choice>
        <mc:Fallback xmlns="">
          <p:sp>
            <p:nvSpPr>
              <p:cNvPr id="3" name="Content Placeholder 2">
                <a:extLst>
                  <a:ext uri="{FF2B5EF4-FFF2-40B4-BE49-F238E27FC236}">
                    <a16:creationId xmlns:a16="http://schemas.microsoft.com/office/drawing/2014/main" id="{E8D7872B-CCFC-0803-6821-C43DE31AC76C}"/>
                  </a:ext>
                </a:extLst>
              </p:cNvPr>
              <p:cNvSpPr>
                <a:spLocks noGrp="1" noRot="1" noChangeAspect="1" noMove="1" noResize="1" noEditPoints="1" noAdjustHandles="1" noChangeArrowheads="1" noChangeShapeType="1" noTextEdit="1"/>
              </p:cNvSpPr>
              <p:nvPr>
                <p:ph idx="1"/>
              </p:nvPr>
            </p:nvSpPr>
            <p:spPr>
              <a:xfrm>
                <a:off x="935422" y="3591363"/>
                <a:ext cx="10515600" cy="497161"/>
              </a:xfrm>
              <a:blipFill>
                <a:blip r:embed="rId3"/>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Speech Bubble: Rectangle with Corners Rounded 3">
                <a:extLst>
                  <a:ext uri="{FF2B5EF4-FFF2-40B4-BE49-F238E27FC236}">
                    <a16:creationId xmlns:a16="http://schemas.microsoft.com/office/drawing/2014/main" id="{248BC84C-568E-C12D-853D-98E2762346F6}"/>
                  </a:ext>
                </a:extLst>
              </p:cNvPr>
              <p:cNvSpPr/>
              <p:nvPr/>
            </p:nvSpPr>
            <p:spPr>
              <a:xfrm>
                <a:off x="1408385" y="4658821"/>
                <a:ext cx="4950373" cy="1668408"/>
              </a:xfrm>
              <a:prstGeom prst="wedgeRoundRectCallout">
                <a:avLst>
                  <a:gd name="adj1" fmla="val -15413"/>
                  <a:gd name="adj2" fmla="val -69397"/>
                  <a:gd name="adj3" fmla="val 16667"/>
                </a:avLst>
              </a:prstGeom>
              <a:noFill/>
              <a:ln w="28575">
                <a:solidFill>
                  <a:srgbClr val="5075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1800" dirty="0">
                    <a:solidFill>
                      <a:schemeClr val="accent5">
                        <a:lumMod val="50000"/>
                      </a:schemeClr>
                    </a:solidFill>
                  </a:rPr>
                  <a:t>The probability that </a:t>
                </a:r>
                <a14:m>
                  <m:oMath xmlns:m="http://schemas.openxmlformats.org/officeDocument/2006/math">
                    <m:r>
                      <a:rPr lang="en-US" sz="1800" b="0" i="1" smtClean="0">
                        <a:solidFill>
                          <a:schemeClr val="accent5">
                            <a:lumMod val="50000"/>
                          </a:schemeClr>
                        </a:solidFill>
                        <a:latin typeface="Cambria Math" panose="02040503050406030204" pitchFamily="18" charset="0"/>
                      </a:rPr>
                      <m:t>𝑥</m:t>
                    </m:r>
                    <m:r>
                      <a:rPr lang="en-US" sz="1800" b="0" i="1" smtClean="0">
                        <a:solidFill>
                          <a:schemeClr val="accent5">
                            <a:lumMod val="50000"/>
                          </a:schemeClr>
                        </a:solidFill>
                        <a:latin typeface="Cambria Math" panose="02040503050406030204" pitchFamily="18" charset="0"/>
                      </a:rPr>
                      <m:t>,</m:t>
                    </m:r>
                    <m:r>
                      <a:rPr lang="en-US" sz="1800" b="0" i="1" smtClean="0">
                        <a:solidFill>
                          <a:schemeClr val="accent5">
                            <a:lumMod val="50000"/>
                          </a:schemeClr>
                        </a:solidFill>
                        <a:latin typeface="Cambria Math" panose="02040503050406030204" pitchFamily="18" charset="0"/>
                      </a:rPr>
                      <m:t>𝑦</m:t>
                    </m:r>
                    <m:r>
                      <a:rPr lang="en-US" sz="1800" b="0" i="1" smtClean="0">
                        <a:solidFill>
                          <a:schemeClr val="accent5">
                            <a:lumMod val="50000"/>
                          </a:schemeClr>
                        </a:solidFill>
                        <a:latin typeface="Cambria Math" panose="02040503050406030204" pitchFamily="18" charset="0"/>
                      </a:rPr>
                      <m:t>, </m:t>
                    </m:r>
                    <m:r>
                      <a:rPr lang="en-US" sz="1800" b="0" i="1" smtClean="0">
                        <a:solidFill>
                          <a:schemeClr val="accent5">
                            <a:lumMod val="50000"/>
                          </a:schemeClr>
                        </a:solidFill>
                        <a:latin typeface="Cambria Math" panose="02040503050406030204" pitchFamily="18" charset="0"/>
                      </a:rPr>
                      <m:t>𝑧</m:t>
                    </m:r>
                  </m:oMath>
                </a14:m>
                <a:r>
                  <a:rPr lang="en-US" sz="1800" dirty="0">
                    <a:solidFill>
                      <a:schemeClr val="accent5">
                        <a:lumMod val="50000"/>
                      </a:schemeClr>
                    </a:solidFill>
                  </a:rPr>
                  <a:t> happen together for random variables </a:t>
                </a:r>
                <a14:m>
                  <m:oMath xmlns:m="http://schemas.openxmlformats.org/officeDocument/2006/math">
                    <m:r>
                      <a:rPr lang="en-US" sz="1800" b="0" i="1" smtClean="0">
                        <a:solidFill>
                          <a:schemeClr val="accent5">
                            <a:lumMod val="50000"/>
                          </a:schemeClr>
                        </a:solidFill>
                        <a:latin typeface="Cambria Math" panose="02040503050406030204" pitchFamily="18" charset="0"/>
                      </a:rPr>
                      <m:t>𝑋</m:t>
                    </m:r>
                    <m:r>
                      <a:rPr lang="en-US" sz="1800" b="0" i="1" smtClean="0">
                        <a:solidFill>
                          <a:schemeClr val="accent5">
                            <a:lumMod val="50000"/>
                          </a:schemeClr>
                        </a:solidFill>
                        <a:latin typeface="Cambria Math" panose="02040503050406030204" pitchFamily="18" charset="0"/>
                      </a:rPr>
                      <m:t>,</m:t>
                    </m:r>
                    <m:r>
                      <a:rPr lang="en-US" sz="1800" b="0" i="1" smtClean="0">
                        <a:solidFill>
                          <a:schemeClr val="accent5">
                            <a:lumMod val="50000"/>
                          </a:schemeClr>
                        </a:solidFill>
                        <a:latin typeface="Cambria Math" panose="02040503050406030204" pitchFamily="18" charset="0"/>
                      </a:rPr>
                      <m:t>𝑌</m:t>
                    </m:r>
                  </m:oMath>
                </a14:m>
                <a:r>
                  <a:rPr lang="en-US" sz="1800" i="1" dirty="0">
                    <a:solidFill>
                      <a:schemeClr val="accent5">
                        <a:lumMod val="50000"/>
                      </a:schemeClr>
                    </a:solidFill>
                    <a:latin typeface="Cambria Math" panose="02040503050406030204" pitchFamily="18" charset="0"/>
                  </a:rPr>
                  <a:t> </a:t>
                </a:r>
                <a:r>
                  <a:rPr lang="en-US" dirty="0">
                    <a:solidFill>
                      <a:schemeClr val="accent5">
                        <a:lumMod val="50000"/>
                      </a:schemeClr>
                    </a:solidFill>
                  </a:rPr>
                  <a:t>and </a:t>
                </a:r>
                <a14:m>
                  <m:oMath xmlns:m="http://schemas.openxmlformats.org/officeDocument/2006/math">
                    <m:r>
                      <a:rPr lang="en-US" b="0" i="1" smtClean="0">
                        <a:solidFill>
                          <a:schemeClr val="accent5">
                            <a:lumMod val="50000"/>
                          </a:schemeClr>
                        </a:solidFill>
                        <a:latin typeface="Cambria Math" panose="02040503050406030204" pitchFamily="18" charset="0"/>
                      </a:rPr>
                      <m:t>𝑍</m:t>
                    </m:r>
                  </m:oMath>
                </a14:m>
                <a:endParaRPr lang="en-US" sz="1800" i="1" dirty="0">
                  <a:solidFill>
                    <a:schemeClr val="accent5">
                      <a:lumMod val="50000"/>
                    </a:schemeClr>
                  </a:solidFill>
                  <a:latin typeface="Cambria Math" panose="02040503050406030204" pitchFamily="18" charset="0"/>
                </a:endParaRPr>
              </a:p>
            </p:txBody>
          </p:sp>
        </mc:Choice>
        <mc:Fallback xmlns="">
          <p:sp>
            <p:nvSpPr>
              <p:cNvPr id="4" name="Speech Bubble: Rectangle with Corners Rounded 3">
                <a:extLst>
                  <a:ext uri="{FF2B5EF4-FFF2-40B4-BE49-F238E27FC236}">
                    <a16:creationId xmlns:a16="http://schemas.microsoft.com/office/drawing/2014/main" id="{248BC84C-568E-C12D-853D-98E2762346F6}"/>
                  </a:ext>
                </a:extLst>
              </p:cNvPr>
              <p:cNvSpPr>
                <a:spLocks noRot="1" noChangeAspect="1" noMove="1" noResize="1" noEditPoints="1" noAdjustHandles="1" noChangeArrowheads="1" noChangeShapeType="1" noTextEdit="1"/>
              </p:cNvSpPr>
              <p:nvPr/>
            </p:nvSpPr>
            <p:spPr>
              <a:xfrm>
                <a:off x="1408385" y="4658821"/>
                <a:ext cx="4950373" cy="1668408"/>
              </a:xfrm>
              <a:prstGeom prst="wedgeRoundRectCallout">
                <a:avLst>
                  <a:gd name="adj1" fmla="val -15413"/>
                  <a:gd name="adj2" fmla="val -69397"/>
                  <a:gd name="adj3" fmla="val 16667"/>
                </a:avLst>
              </a:prstGeom>
              <a:blipFill>
                <a:blip r:embed="rId4"/>
                <a:stretch>
                  <a:fillRect/>
                </a:stretch>
              </a:blipFill>
              <a:ln w="28575">
                <a:solidFill>
                  <a:srgbClr val="507596"/>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 name="Speech Bubble: Rectangle with Corners Rounded 4">
                <a:extLst>
                  <a:ext uri="{FF2B5EF4-FFF2-40B4-BE49-F238E27FC236}">
                    <a16:creationId xmlns:a16="http://schemas.microsoft.com/office/drawing/2014/main" id="{975F4B22-D158-8764-D739-4787E02BDBC1}"/>
                  </a:ext>
                </a:extLst>
              </p:cNvPr>
              <p:cNvSpPr/>
              <p:nvPr/>
            </p:nvSpPr>
            <p:spPr>
              <a:xfrm>
                <a:off x="7577960" y="4658820"/>
                <a:ext cx="4261944" cy="1668408"/>
              </a:xfrm>
              <a:prstGeom prst="wedgeRoundRectCallout">
                <a:avLst>
                  <a:gd name="adj1" fmla="val 12229"/>
                  <a:gd name="adj2" fmla="val -82328"/>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dirty="0">
                    <a:solidFill>
                      <a:schemeClr val="tx1"/>
                    </a:solidFill>
                  </a:rPr>
                  <a:t>The probability that </a:t>
                </a:r>
                <a14:m>
                  <m:oMath xmlns:m="http://schemas.openxmlformats.org/officeDocument/2006/math">
                    <m:r>
                      <a:rPr lang="en-US" i="1">
                        <a:solidFill>
                          <a:schemeClr val="tx1"/>
                        </a:solidFill>
                        <a:latin typeface="Cambria Math" panose="02040503050406030204" pitchFamily="18" charset="0"/>
                      </a:rPr>
                      <m:t>𝑍</m:t>
                    </m:r>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𝑧</m:t>
                    </m:r>
                  </m:oMath>
                </a14:m>
                <a:r>
                  <a:rPr lang="en-US" dirty="0">
                    <a:solidFill>
                      <a:schemeClr val="tx1"/>
                    </a:solidFill>
                  </a:rPr>
                  <a:t> happens</a:t>
                </a:r>
              </a:p>
              <a:p>
                <a:pPr>
                  <a:spcAft>
                    <a:spcPts val="600"/>
                  </a:spcAft>
                </a:pPr>
                <a14:m>
                  <m:oMathPara xmlns:m="http://schemas.openxmlformats.org/officeDocument/2006/math">
                    <m:oMath>
                      <m:r>
                        <a:rPr lang="en-US" i="1">
                          <a:solidFill>
                            <a:schemeClr val="tx1"/>
                          </a:solidFill>
                          <a:latin typeface="Cambria Math" panose="02040503050406030204" pitchFamily="18" charset="0"/>
                        </a:rPr>
                        <m:t>𝑃</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𝑍</m:t>
                          </m:r>
                          <m:r>
                            <a:rPr lang="en-US" i="1">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𝑧</m:t>
                          </m:r>
                        </m:e>
                      </m:d>
                    </m:oMath>
                  </m:oMathPara>
                </a14:m>
                <a:endParaRPr lang="en-NL" dirty="0">
                  <a:solidFill>
                    <a:schemeClr val="tx1"/>
                  </a:solidFill>
                </a:endParaRPr>
              </a:p>
            </p:txBody>
          </p:sp>
        </mc:Choice>
        <mc:Fallback xmlns="">
          <p:sp>
            <p:nvSpPr>
              <p:cNvPr id="5" name="Speech Bubble: Rectangle with Corners Rounded 4">
                <a:extLst>
                  <a:ext uri="{FF2B5EF4-FFF2-40B4-BE49-F238E27FC236}">
                    <a16:creationId xmlns:a16="http://schemas.microsoft.com/office/drawing/2014/main" id="{975F4B22-D158-8764-D739-4787E02BDBC1}"/>
                  </a:ext>
                </a:extLst>
              </p:cNvPr>
              <p:cNvSpPr>
                <a:spLocks noRot="1" noChangeAspect="1" noMove="1" noResize="1" noEditPoints="1" noAdjustHandles="1" noChangeArrowheads="1" noChangeShapeType="1" noTextEdit="1"/>
              </p:cNvSpPr>
              <p:nvPr/>
            </p:nvSpPr>
            <p:spPr>
              <a:xfrm>
                <a:off x="7577960" y="4658820"/>
                <a:ext cx="4261944" cy="1668408"/>
              </a:xfrm>
              <a:prstGeom prst="wedgeRoundRectCallout">
                <a:avLst>
                  <a:gd name="adj1" fmla="val 12229"/>
                  <a:gd name="adj2" fmla="val -82328"/>
                  <a:gd name="adj3" fmla="val 16667"/>
                </a:avLst>
              </a:prstGeom>
              <a:blipFill>
                <a:blip r:embed="rId5"/>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 name="Speech Bubble: Rectangle with Corners Rounded 5">
                <a:extLst>
                  <a:ext uri="{FF2B5EF4-FFF2-40B4-BE49-F238E27FC236}">
                    <a16:creationId xmlns:a16="http://schemas.microsoft.com/office/drawing/2014/main" id="{D70CDCD4-5227-99C4-2E9A-6F2C041A39F7}"/>
                  </a:ext>
                </a:extLst>
              </p:cNvPr>
              <p:cNvSpPr/>
              <p:nvPr/>
            </p:nvSpPr>
            <p:spPr>
              <a:xfrm>
                <a:off x="5707118" y="299326"/>
                <a:ext cx="4214647" cy="2189080"/>
              </a:xfrm>
              <a:prstGeom prst="wedgeRoundRectCallout">
                <a:avLst>
                  <a:gd name="adj1" fmla="val -8922"/>
                  <a:gd name="adj2" fmla="val 92401"/>
                  <a:gd name="adj3" fmla="val 16667"/>
                </a:avLst>
              </a:prstGeom>
              <a:no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dirty="0">
                    <a:solidFill>
                      <a:schemeClr val="accent6">
                        <a:lumMod val="50000"/>
                      </a:schemeClr>
                    </a:solidFill>
                  </a:rPr>
                  <a:t>The probability that </a:t>
                </a:r>
                <a14:m>
                  <m:oMath xmlns:m="http://schemas.openxmlformats.org/officeDocument/2006/math">
                    <m:r>
                      <a:rPr lang="en-US" b="0" i="1" smtClean="0">
                        <a:solidFill>
                          <a:schemeClr val="accent6">
                            <a:lumMod val="50000"/>
                          </a:schemeClr>
                        </a:solidFill>
                        <a:latin typeface="Cambria Math" panose="02040503050406030204" pitchFamily="18" charset="0"/>
                      </a:rPr>
                      <m:t>𝑋</m:t>
                    </m:r>
                    <m:r>
                      <a:rPr lang="en-US" i="1">
                        <a:solidFill>
                          <a:schemeClr val="accent6">
                            <a:lumMod val="50000"/>
                          </a:schemeClr>
                        </a:solidFill>
                        <a:latin typeface="Cambria Math" panose="02040503050406030204" pitchFamily="18" charset="0"/>
                      </a:rPr>
                      <m:t>=</m:t>
                    </m:r>
                    <m:r>
                      <a:rPr lang="en-US" b="0" i="1" smtClean="0">
                        <a:solidFill>
                          <a:schemeClr val="accent6">
                            <a:lumMod val="50000"/>
                          </a:schemeClr>
                        </a:solidFill>
                        <a:latin typeface="Cambria Math" panose="02040503050406030204" pitchFamily="18" charset="0"/>
                      </a:rPr>
                      <m:t>𝑥</m:t>
                    </m:r>
                  </m:oMath>
                </a14:m>
                <a:r>
                  <a:rPr lang="en-US" dirty="0">
                    <a:solidFill>
                      <a:schemeClr val="accent6">
                        <a:lumMod val="50000"/>
                      </a:schemeClr>
                    </a:solidFill>
                  </a:rPr>
                  <a:t> and </a:t>
                </a:r>
                <a14:m>
                  <m:oMath xmlns:m="http://schemas.openxmlformats.org/officeDocument/2006/math">
                    <m:r>
                      <a:rPr lang="en-US" b="0" i="1" smtClean="0">
                        <a:solidFill>
                          <a:schemeClr val="accent6">
                            <a:lumMod val="50000"/>
                          </a:schemeClr>
                        </a:solidFill>
                        <a:latin typeface="Cambria Math" panose="02040503050406030204" pitchFamily="18" charset="0"/>
                      </a:rPr>
                      <m:t>𝑌</m:t>
                    </m:r>
                    <m:r>
                      <a:rPr lang="en-US" i="1">
                        <a:solidFill>
                          <a:schemeClr val="accent6">
                            <a:lumMod val="50000"/>
                          </a:schemeClr>
                        </a:solidFill>
                        <a:latin typeface="Cambria Math" panose="02040503050406030204" pitchFamily="18" charset="0"/>
                      </a:rPr>
                      <m:t>=</m:t>
                    </m:r>
                    <m:r>
                      <a:rPr lang="en-US" b="0" i="1" smtClean="0">
                        <a:solidFill>
                          <a:schemeClr val="accent6">
                            <a:lumMod val="50000"/>
                          </a:schemeClr>
                        </a:solidFill>
                        <a:latin typeface="Cambria Math" panose="02040503050406030204" pitchFamily="18" charset="0"/>
                      </a:rPr>
                      <m:t>𝑦</m:t>
                    </m:r>
                  </m:oMath>
                </a14:m>
                <a:r>
                  <a:rPr lang="en-US" dirty="0">
                    <a:solidFill>
                      <a:schemeClr val="accent6">
                        <a:lumMod val="50000"/>
                      </a:schemeClr>
                    </a:solidFill>
                  </a:rPr>
                  <a:t> happens given that </a:t>
                </a:r>
                <a14:m>
                  <m:oMath xmlns:m="http://schemas.openxmlformats.org/officeDocument/2006/math">
                    <m:r>
                      <a:rPr lang="en-US" b="0" i="1" smtClean="0">
                        <a:solidFill>
                          <a:schemeClr val="accent6">
                            <a:lumMod val="50000"/>
                          </a:schemeClr>
                        </a:solidFill>
                        <a:latin typeface="Cambria Math" panose="02040503050406030204" pitchFamily="18" charset="0"/>
                      </a:rPr>
                      <m:t>𝑍</m:t>
                    </m:r>
                    <m:r>
                      <a:rPr lang="en-US" i="1">
                        <a:solidFill>
                          <a:schemeClr val="accent6">
                            <a:lumMod val="50000"/>
                          </a:schemeClr>
                        </a:solidFill>
                        <a:latin typeface="Cambria Math" panose="02040503050406030204" pitchFamily="18" charset="0"/>
                      </a:rPr>
                      <m:t>=</m:t>
                    </m:r>
                    <m:r>
                      <a:rPr lang="en-US" b="0" i="1" smtClean="0">
                        <a:solidFill>
                          <a:schemeClr val="accent6">
                            <a:lumMod val="50000"/>
                          </a:schemeClr>
                        </a:solidFill>
                        <a:latin typeface="Cambria Math" panose="02040503050406030204" pitchFamily="18" charset="0"/>
                      </a:rPr>
                      <m:t>𝑧</m:t>
                    </m:r>
                  </m:oMath>
                </a14:m>
                <a:r>
                  <a:rPr lang="en-US" dirty="0">
                    <a:solidFill>
                      <a:schemeClr val="accent6">
                        <a:lumMod val="50000"/>
                      </a:schemeClr>
                    </a:solidFill>
                  </a:rPr>
                  <a:t> has happened</a:t>
                </a:r>
              </a:p>
            </p:txBody>
          </p:sp>
        </mc:Choice>
        <mc:Fallback xmlns="">
          <p:sp>
            <p:nvSpPr>
              <p:cNvPr id="6" name="Speech Bubble: Rectangle with Corners Rounded 5">
                <a:extLst>
                  <a:ext uri="{FF2B5EF4-FFF2-40B4-BE49-F238E27FC236}">
                    <a16:creationId xmlns:a16="http://schemas.microsoft.com/office/drawing/2014/main" id="{D70CDCD4-5227-99C4-2E9A-6F2C041A39F7}"/>
                  </a:ext>
                </a:extLst>
              </p:cNvPr>
              <p:cNvSpPr>
                <a:spLocks noRot="1" noChangeAspect="1" noMove="1" noResize="1" noEditPoints="1" noAdjustHandles="1" noChangeArrowheads="1" noChangeShapeType="1" noTextEdit="1"/>
              </p:cNvSpPr>
              <p:nvPr/>
            </p:nvSpPr>
            <p:spPr>
              <a:xfrm>
                <a:off x="5707118" y="299326"/>
                <a:ext cx="4214647" cy="2189080"/>
              </a:xfrm>
              <a:prstGeom prst="wedgeRoundRectCallout">
                <a:avLst>
                  <a:gd name="adj1" fmla="val -8922"/>
                  <a:gd name="adj2" fmla="val 92401"/>
                  <a:gd name="adj3" fmla="val 16667"/>
                </a:avLst>
              </a:prstGeom>
              <a:blipFill>
                <a:blip r:embed="rId6"/>
                <a:stretch>
                  <a:fillRect/>
                </a:stretch>
              </a:blipFill>
              <a:ln>
                <a:solidFill>
                  <a:schemeClr val="accent6">
                    <a:lumMod val="50000"/>
                  </a:schemeClr>
                </a:solidFill>
              </a:ln>
            </p:spPr>
            <p:txBody>
              <a:bodyPr/>
              <a:lstStyle/>
              <a:p>
                <a:r>
                  <a:rPr lang="en-NL">
                    <a:noFill/>
                  </a:rPr>
                  <a:t> </a:t>
                </a:r>
              </a:p>
            </p:txBody>
          </p:sp>
        </mc:Fallback>
      </mc:AlternateContent>
    </p:spTree>
    <p:extLst>
      <p:ext uri="{BB962C8B-B14F-4D97-AF65-F5344CB8AC3E}">
        <p14:creationId xmlns:p14="http://schemas.microsoft.com/office/powerpoint/2010/main" val="14720734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6A4D-EF41-8053-06E3-F93C407AA1AC}"/>
              </a:ext>
            </a:extLst>
          </p:cNvPr>
          <p:cNvSpPr>
            <a:spLocks noGrp="1"/>
          </p:cNvSpPr>
          <p:nvPr>
            <p:ph type="title"/>
          </p:nvPr>
        </p:nvSpPr>
        <p:spPr/>
        <p:txBody>
          <a:bodyPr/>
          <a:lstStyle/>
          <a:p>
            <a:r>
              <a:rPr lang="en-US" dirty="0"/>
              <a:t>More than 3 variables</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D7872B-CCFC-0803-6821-C43DE31AC76C}"/>
                  </a:ext>
                </a:extLst>
              </p:cNvPr>
              <p:cNvSpPr>
                <a:spLocks noGrp="1"/>
              </p:cNvSpPr>
              <p:nvPr>
                <p:ph idx="1"/>
              </p:nvPr>
            </p:nvSpPr>
            <p:spPr/>
            <p:txBody>
              <a:bodyPr>
                <a:noAutofit/>
              </a:bodyPr>
              <a:lstStyle/>
              <a:p>
                <a:pPr marL="0" indent="0">
                  <a:spcAft>
                    <a:spcPts val="600"/>
                  </a:spcAft>
                  <a:buNone/>
                </a:pPr>
                <a:r>
                  <a:rPr lang="en-US" sz="2400" dirty="0"/>
                  <a:t>The same holds for any number of random variables:</a:t>
                </a:r>
              </a:p>
              <a:p>
                <a:pPr marL="0" indent="0">
                  <a:spcAft>
                    <a:spcPts val="600"/>
                  </a:spcAft>
                  <a:buNone/>
                </a:pPr>
                <a:endParaRPr lang="en-US" sz="2400" i="1" dirty="0">
                  <a:latin typeface="Cambria Math" panose="02040503050406030204" pitchFamily="18" charset="0"/>
                </a:endParaRPr>
              </a:p>
              <a:p>
                <a:pPr marL="0" indent="0">
                  <a:spcAft>
                    <a:spcPts val="600"/>
                  </a:spcAft>
                  <a:buNone/>
                </a:pPr>
                <a14:m>
                  <m:oMathPara xmlns:m="http://schemas.openxmlformats.org/officeDocument/2006/math">
                    <m:oMathParaPr>
                      <m:jc m:val="center"/>
                    </m:oMathParaPr>
                    <m:o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1</m:t>
                              </m:r>
                            </m:sub>
                          </m:sSub>
                          <m:r>
                            <a:rPr lang="en-US" sz="2400" i="1">
                              <a:latin typeface="Cambria Math" panose="02040503050406030204" pitchFamily="18" charset="0"/>
                            </a:rPr>
                            <m:t>,</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𝑁</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𝑁</m:t>
                              </m:r>
                            </m:sub>
                          </m:sSub>
                        </m:e>
                      </m:d>
                      <m:r>
                        <a:rPr lang="en-US" sz="2400" i="1">
                          <a:latin typeface="Cambria Math" panose="02040503050406030204" pitchFamily="18" charset="0"/>
                        </a:rPr>
                        <m:t>=</m:t>
                      </m:r>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𝑁</m:t>
                              </m:r>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𝑁</m:t>
                              </m:r>
                              <m:r>
                                <a:rPr lang="en-US" sz="2400" b="0" i="1" smtClean="0">
                                  <a:latin typeface="Cambria Math" panose="02040503050406030204" pitchFamily="18" charset="0"/>
                                </a:rPr>
                                <m:t>−1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𝑁</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𝑁</m:t>
                              </m:r>
                            </m:sub>
                          </m:sSub>
                        </m:e>
                      </m:d>
                      <m:r>
                        <a:rPr lang="en-US" sz="2400" i="1">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i="1">
                                  <a:latin typeface="Cambria Math" panose="02040503050406030204" pitchFamily="18" charset="0"/>
                                </a:rPr>
                                <m:t>𝑁</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𝑁</m:t>
                              </m:r>
                            </m:sub>
                          </m:sSub>
                        </m:e>
                      </m:d>
                    </m:oMath>
                  </m:oMathPara>
                </a14:m>
                <a:endParaRPr lang="en-US" sz="2400" dirty="0"/>
              </a:p>
              <a:p>
                <a:pPr marL="0" indent="0">
                  <a:spcAft>
                    <a:spcPts val="600"/>
                  </a:spcAft>
                  <a:buNone/>
                </a:pPr>
                <a:endParaRPr lang="en-US" sz="2400" dirty="0"/>
              </a:p>
              <a:p>
                <a:pPr marL="0" indent="0">
                  <a:spcAft>
                    <a:spcPts val="600"/>
                  </a:spcAft>
                  <a:buNone/>
                </a:pPr>
                <a:r>
                  <a:rPr lang="en-US" sz="2400" dirty="0"/>
                  <a:t>These are not different laws, they are the same law just for different number of variables. Try to find the common concept they represent. </a:t>
                </a:r>
              </a:p>
            </p:txBody>
          </p:sp>
        </mc:Choice>
        <mc:Fallback xmlns="">
          <p:sp>
            <p:nvSpPr>
              <p:cNvPr id="3" name="Content Placeholder 2">
                <a:extLst>
                  <a:ext uri="{FF2B5EF4-FFF2-40B4-BE49-F238E27FC236}">
                    <a16:creationId xmlns:a16="http://schemas.microsoft.com/office/drawing/2014/main" id="{E8D7872B-CCFC-0803-6821-C43DE31AC76C}"/>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NL">
                    <a:noFill/>
                  </a:rPr>
                  <a:t> </a:t>
                </a:r>
              </a:p>
            </p:txBody>
          </p:sp>
        </mc:Fallback>
      </mc:AlternateContent>
    </p:spTree>
    <p:extLst>
      <p:ext uri="{BB962C8B-B14F-4D97-AF65-F5344CB8AC3E}">
        <p14:creationId xmlns:p14="http://schemas.microsoft.com/office/powerpoint/2010/main" val="10729530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1F099D-C28A-83A2-4246-ED3757D43488}"/>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Probabilities and context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5045241-DAFA-9E7B-86ED-3F7FCB67D43D}"/>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a:lnSpc>
                    <a:spcPct val="90000"/>
                  </a:lnSpc>
                  <a:spcAft>
                    <a:spcPts val="600"/>
                  </a:spcAft>
                </a:pPr>
                <a:r>
                  <a:rPr lang="en-US" b="0" dirty="0"/>
                  <a:t>For every context </a:t>
                </a:r>
                <a14:m>
                  <m:oMath xmlns:m="http://schemas.openxmlformats.org/officeDocument/2006/math">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𝑐</m:t>
                    </m:r>
                  </m:oMath>
                </a14:m>
                <a:r>
                  <a:rPr lang="en-US" b="0" i="1" dirty="0"/>
                  <a:t>, </a:t>
                </a:r>
                <a:r>
                  <a:rPr lang="en-US" dirty="0"/>
                  <a:t>the same rules apply conditioned on that context:</a:t>
                </a:r>
              </a:p>
              <a:p>
                <a:pPr indent="-228600">
                  <a:lnSpc>
                    <a:spcPct val="90000"/>
                  </a:lnSpc>
                  <a:spcAft>
                    <a:spcPts val="600"/>
                  </a:spcAft>
                  <a:buFont typeface="Arial" panose="020B0604020202020204" pitchFamily="34" charset="0"/>
                  <a:buChar char="•"/>
                </a:pPr>
                <a:endParaRPr lang="en-US" dirty="0"/>
              </a:p>
              <a:p>
                <a:pPr>
                  <a:lnSpc>
                    <a:spcPct val="90000"/>
                  </a:lnSpc>
                  <a:spcAft>
                    <a:spcPts val="600"/>
                  </a:spcAft>
                </a:pPr>
                <a14:m>
                  <m:oMathPara xmlns:m="http://schemas.openxmlformats.org/officeDocument/2006/math">
                    <m:oMathParaPr>
                      <m:jc m:val="left"/>
                    </m:oMathParaPr>
                    <m:oMath>
                      <m:nary>
                        <m:naryPr>
                          <m:chr m:val="∑"/>
                          <m:supHide m:val="on"/>
                          <m:ctrlPr>
                            <a:rPr lang="en-US" b="0" i="1">
                              <a:latin typeface="Cambria Math" panose="02040503050406030204" pitchFamily="18" charset="0"/>
                            </a:rPr>
                          </m:ctrlPr>
                        </m:naryPr>
                        <m:sub>
                          <m:r>
                            <a:rPr lang="en-US" b="0" i="1">
                              <a:latin typeface="Cambria Math" panose="02040503050406030204" pitchFamily="18" charset="0"/>
                            </a:rPr>
                            <m:t>𝑥</m:t>
                          </m:r>
                        </m:sub>
                        <m:sup/>
                        <m:e>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e>
                            <m:e>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𝑐</m:t>
                              </m:r>
                            </m:e>
                          </m:d>
                        </m:e>
                      </m:nary>
                      <m:r>
                        <a:rPr lang="en-US" b="0" i="1">
                          <a:latin typeface="Cambria Math" panose="02040503050406030204" pitchFamily="18" charset="0"/>
                        </a:rPr>
                        <m:t>=1</m:t>
                      </m:r>
                    </m:oMath>
                  </m:oMathPara>
                </a14:m>
                <a:endParaRPr lang="en-US" b="0" dirty="0"/>
              </a:p>
              <a:p>
                <a:pPr>
                  <a:lnSpc>
                    <a:spcPct val="90000"/>
                  </a:lnSpc>
                  <a:spcAft>
                    <a:spcPts val="600"/>
                  </a:spcAft>
                </a:pPr>
                <a:endParaRPr lang="en-US" b="0" dirty="0"/>
              </a:p>
              <a:p>
                <a:pPr>
                  <a:lnSpc>
                    <a:spcPct val="90000"/>
                  </a:lnSpc>
                  <a:spcAft>
                    <a:spcPts val="600"/>
                  </a:spcAft>
                </a:pPr>
                <a14:m>
                  <m:oMathPara xmlns:m="http://schemas.openxmlformats.org/officeDocument/2006/math">
                    <m:oMathParaPr>
                      <m:jc m:val="left"/>
                    </m:oMathParaPr>
                    <m:oMath>
                      <m:nary>
                        <m:naryPr>
                          <m:chr m:val="∑"/>
                          <m:supHide m:val="on"/>
                          <m:ctrlPr>
                            <a:rPr lang="en-US" b="0" i="1">
                              <a:latin typeface="Cambria Math" panose="02040503050406030204" pitchFamily="18" charset="0"/>
                            </a:rPr>
                          </m:ctrlPr>
                        </m:naryPr>
                        <m:sub>
                          <m:r>
                            <a:rPr lang="en-US" b="0" i="1">
                              <a:latin typeface="Cambria Math" panose="02040503050406030204" pitchFamily="18" charset="0"/>
                            </a:rPr>
                            <m:t>𝑥</m:t>
                          </m:r>
                        </m:sub>
                        <m:sup/>
                        <m:e>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e>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𝑐</m:t>
                              </m:r>
                            </m:e>
                          </m:d>
                        </m:e>
                      </m:nary>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e>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𝑐</m:t>
                          </m:r>
                        </m:e>
                      </m:d>
                    </m:oMath>
                  </m:oMathPara>
                </a14:m>
                <a:endParaRPr lang="en-US" b="0" dirty="0"/>
              </a:p>
              <a:p>
                <a:pPr>
                  <a:lnSpc>
                    <a:spcPct val="90000"/>
                  </a:lnSpc>
                  <a:spcAft>
                    <a:spcPts val="600"/>
                  </a:spcAft>
                </a:pPr>
                <a:endParaRPr lang="en-US" b="0" dirty="0"/>
              </a:p>
              <a:p>
                <a:pPr>
                  <a:lnSpc>
                    <a:spcPct val="90000"/>
                  </a:lnSpc>
                  <a:spcAft>
                    <a:spcPts val="600"/>
                  </a:spcAft>
                </a:pPr>
                <a14:m>
                  <m:oMathPara xmlns:m="http://schemas.openxmlformats.org/officeDocument/2006/math">
                    <m:oMathParaPr>
                      <m:jc m:val="left"/>
                    </m:oMathParaPr>
                    <m:oMath>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r>
                            <a:rPr lang="en-US" b="0" i="1">
                              <a:latin typeface="Cambria Math" panose="02040503050406030204" pitchFamily="18" charset="0"/>
                            </a:rPr>
                            <m:t>,</m:t>
                          </m:r>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e>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𝑐</m:t>
                          </m:r>
                        </m:e>
                      </m:d>
                      <m:r>
                        <a:rPr lang="en-US" b="0" i="1">
                          <a:latin typeface="Cambria Math" panose="02040503050406030204" pitchFamily="18" charset="0"/>
                        </a:rPr>
                        <m:t>=</m:t>
                      </m:r>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𝑋</m:t>
                          </m:r>
                          <m:r>
                            <a:rPr lang="en-US" b="0" i="1">
                              <a:latin typeface="Cambria Math" panose="02040503050406030204" pitchFamily="18" charset="0"/>
                            </a:rPr>
                            <m:t>=</m:t>
                          </m:r>
                          <m:r>
                            <a:rPr lang="en-US" b="0" i="1">
                              <a:latin typeface="Cambria Math" panose="02040503050406030204" pitchFamily="18" charset="0"/>
                            </a:rPr>
                            <m:t>𝑥</m:t>
                          </m:r>
                        </m:e>
                        <m:e>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r>
                            <a:rPr lang="en-US" b="0" i="1">
                              <a:latin typeface="Cambria Math" panose="02040503050406030204" pitchFamily="18" charset="0"/>
                            </a:rPr>
                            <m:t>, </m:t>
                          </m:r>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𝑐</m:t>
                          </m:r>
                        </m:e>
                      </m:d>
                      <m:r>
                        <a:rPr lang="en-US" b="0" i="1">
                          <a:latin typeface="Cambria Math" panose="02040503050406030204" pitchFamily="18" charset="0"/>
                        </a:rPr>
                        <m:t>𝑃</m:t>
                      </m:r>
                      <m:d>
                        <m:dPr>
                          <m:ctrlPr>
                            <a:rPr lang="en-US" b="0" i="1">
                              <a:latin typeface="Cambria Math" panose="02040503050406030204" pitchFamily="18" charset="0"/>
                            </a:rPr>
                          </m:ctrlPr>
                        </m:dPr>
                        <m:e>
                          <m:r>
                            <a:rPr lang="en-US" b="0" i="1">
                              <a:latin typeface="Cambria Math" panose="02040503050406030204" pitchFamily="18" charset="0"/>
                            </a:rPr>
                            <m:t>𝑌</m:t>
                          </m:r>
                          <m:r>
                            <a:rPr lang="en-US" b="0" i="1">
                              <a:latin typeface="Cambria Math" panose="02040503050406030204" pitchFamily="18" charset="0"/>
                            </a:rPr>
                            <m:t>=</m:t>
                          </m:r>
                          <m:r>
                            <a:rPr lang="en-US" b="0" i="1">
                              <a:latin typeface="Cambria Math" panose="02040503050406030204" pitchFamily="18" charset="0"/>
                            </a:rPr>
                            <m:t>𝑦</m:t>
                          </m:r>
                        </m:e>
                        <m:e>
                          <m:r>
                            <a:rPr lang="en-US" b="0" i="1">
                              <a:latin typeface="Cambria Math" panose="02040503050406030204" pitchFamily="18" charset="0"/>
                            </a:rPr>
                            <m:t>𝐶</m:t>
                          </m:r>
                          <m:r>
                            <a:rPr lang="en-US" b="0" i="1">
                              <a:latin typeface="Cambria Math" panose="02040503050406030204" pitchFamily="18" charset="0"/>
                            </a:rPr>
                            <m:t>=</m:t>
                          </m:r>
                          <m:r>
                            <a:rPr lang="en-US" b="0" i="1">
                              <a:latin typeface="Cambria Math" panose="02040503050406030204" pitchFamily="18" charset="0"/>
                            </a:rPr>
                            <m:t>𝑐</m:t>
                          </m:r>
                        </m:e>
                      </m:d>
                    </m:oMath>
                  </m:oMathPara>
                </a14:m>
                <a:endParaRPr lang="en-US" b="0" dirty="0"/>
              </a:p>
              <a:p>
                <a:pPr indent="-228600">
                  <a:lnSpc>
                    <a:spcPct val="90000"/>
                  </a:lnSpc>
                  <a:spcAft>
                    <a:spcPts val="600"/>
                  </a:spcAft>
                  <a:buFont typeface="Arial" panose="020B0604020202020204" pitchFamily="34" charset="0"/>
                  <a:buChar char="•"/>
                </a:pPr>
                <a:endParaRPr lang="en-US" dirty="0"/>
              </a:p>
              <a:p>
                <a:pPr>
                  <a:lnSpc>
                    <a:spcPct val="90000"/>
                  </a:lnSpc>
                  <a:spcAft>
                    <a:spcPts val="600"/>
                  </a:spcAft>
                </a:pPr>
                <a:r>
                  <a:rPr lang="en-US" dirty="0"/>
                  <a:t>Exercise: Prove these given the main axioms. </a:t>
                </a:r>
              </a:p>
              <a:p>
                <a:pPr>
                  <a:lnSpc>
                    <a:spcPct val="90000"/>
                  </a:lnSpc>
                  <a:spcAft>
                    <a:spcPts val="600"/>
                  </a:spcAft>
                </a:pPr>
                <a:endParaRPr lang="en-US" dirty="0"/>
              </a:p>
              <a:p>
                <a:pPr>
                  <a:lnSpc>
                    <a:spcPct val="90000"/>
                  </a:lnSpc>
                  <a:spcAft>
                    <a:spcPts val="600"/>
                  </a:spcAft>
                </a:pPr>
                <a:r>
                  <a:rPr lang="en-US" dirty="0"/>
                  <a:t>Basically we can add a condition </a:t>
                </a:r>
                <a14:m>
                  <m:oMath xmlns:m="http://schemas.openxmlformats.org/officeDocument/2006/math">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𝑐</m:t>
                    </m:r>
                  </m:oMath>
                </a14:m>
                <a:r>
                  <a:rPr lang="en-US" dirty="0"/>
                  <a:t> to all terms on both sides of the equations that describe the three main laws.</a:t>
                </a:r>
              </a:p>
              <a:p>
                <a:pPr>
                  <a:lnSpc>
                    <a:spcPct val="90000"/>
                  </a:lnSpc>
                  <a:spcAft>
                    <a:spcPts val="600"/>
                  </a:spcAft>
                </a:pPr>
                <a:endParaRPr lang="en-US" dirty="0"/>
              </a:p>
            </p:txBody>
          </p:sp>
        </mc:Choice>
        <mc:Fallback xmlns="">
          <p:sp>
            <p:nvSpPr>
              <p:cNvPr id="4" name="TextBox 3">
                <a:extLst>
                  <a:ext uri="{FF2B5EF4-FFF2-40B4-BE49-F238E27FC236}">
                    <a16:creationId xmlns:a16="http://schemas.microsoft.com/office/drawing/2014/main" id="{35045241-DAFA-9E7B-86ED-3F7FCB67D43D}"/>
                  </a:ext>
                </a:extLst>
              </p:cNvPr>
              <p:cNvSpPr txBox="1">
                <a:spLocks noRot="1" noChangeAspect="1" noMove="1" noResize="1" noEditPoints="1" noAdjustHandles="1" noChangeArrowheads="1" noChangeShapeType="1" noTextEdit="1"/>
              </p:cNvSpPr>
              <p:nvPr/>
            </p:nvSpPr>
            <p:spPr>
              <a:xfrm>
                <a:off x="4447308" y="591344"/>
                <a:ext cx="6906491" cy="5585619"/>
              </a:xfrm>
              <a:prstGeom prst="rect">
                <a:avLst/>
              </a:prstGeom>
              <a:blipFill>
                <a:blip r:embed="rId2"/>
                <a:stretch>
                  <a:fillRect l="-795"/>
                </a:stretch>
              </a:blipFill>
            </p:spPr>
            <p:txBody>
              <a:bodyPr/>
              <a:lstStyle/>
              <a:p>
                <a:r>
                  <a:rPr lang="en-NL">
                    <a:noFill/>
                  </a:rPr>
                  <a:t> </a:t>
                </a:r>
              </a:p>
            </p:txBody>
          </p:sp>
        </mc:Fallback>
      </mc:AlternateContent>
    </p:spTree>
    <p:extLst>
      <p:ext uri="{BB962C8B-B14F-4D97-AF65-F5344CB8AC3E}">
        <p14:creationId xmlns:p14="http://schemas.microsoft.com/office/powerpoint/2010/main" val="5008312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6A4D-EF41-8053-06E3-F93C407AA1AC}"/>
              </a:ext>
            </a:extLst>
          </p:cNvPr>
          <p:cNvSpPr>
            <a:spLocks noGrp="1"/>
          </p:cNvSpPr>
          <p:nvPr>
            <p:ph type="title"/>
          </p:nvPr>
        </p:nvSpPr>
        <p:spPr/>
        <p:txBody>
          <a:bodyPr/>
          <a:lstStyle/>
          <a:p>
            <a:r>
              <a:rPr lang="en-US" dirty="0"/>
              <a:t>Creating a chain (1/2)</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D7872B-CCFC-0803-6821-C43DE31AC76C}"/>
                  </a:ext>
                </a:extLst>
              </p:cNvPr>
              <p:cNvSpPr>
                <a:spLocks noGrp="1"/>
              </p:cNvSpPr>
              <p:nvPr>
                <p:ph idx="1"/>
              </p:nvPr>
            </p:nvSpPr>
            <p:spPr/>
            <p:txBody>
              <a:bodyPr>
                <a:normAutofit fontScale="77500" lnSpcReduction="20000"/>
              </a:bodyPr>
              <a:lstStyle/>
              <a:p>
                <a:pPr marL="0" indent="0">
                  <a:spcAft>
                    <a:spcPts val="600"/>
                  </a:spcAft>
                  <a:buNone/>
                </a:pPr>
                <a:r>
                  <a:rPr lang="en-US" dirty="0"/>
                  <a:t>Starting from</a:t>
                </a:r>
                <a:endParaRPr lang="en-US" i="1" dirty="0">
                  <a:latin typeface="Cambria Math" panose="02040503050406030204" pitchFamily="18" charset="0"/>
                </a:endParaRPr>
              </a:p>
              <a:p>
                <a:pPr marL="0" indent="0">
                  <a:spcAft>
                    <a:spcPts val="600"/>
                  </a:spcAft>
                  <a:buNone/>
                </a:pPr>
                <a14:m>
                  <m:oMathPara xmlns:m="http://schemas.openxmlformats.org/officeDocument/2006/math">
                    <m:oMathParaPr>
                      <m:jc m:val="center"/>
                    </m:oMathParaPr>
                    <m:o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𝑧</m:t>
                          </m:r>
                        </m:e>
                      </m:d>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𝑧</m:t>
                          </m:r>
                        </m:e>
                        <m:e>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r>
                            <a:rPr lang="en-US" i="1" smtClean="0">
                              <a:solidFill>
                                <a:srgbClr val="FF0000"/>
                              </a:solidFill>
                              <a:latin typeface="Cambria Math" panose="02040503050406030204" pitchFamily="18" charset="0"/>
                            </a:rPr>
                            <m:t> </m:t>
                          </m:r>
                        </m:e>
                      </m:d>
                      <m:r>
                        <a:rPr lang="en-US" i="1">
                          <a:latin typeface="Cambria Math" panose="02040503050406030204" pitchFamily="18" charset="0"/>
                        </a:rPr>
                        <m:t>𝑃</m:t>
                      </m:r>
                      <m:d>
                        <m:dPr>
                          <m:ctrlPr>
                            <a:rPr lang="en-US" i="1" smtClean="0">
                              <a:solidFill>
                                <a:srgbClr val="FF0000"/>
                              </a:solidFill>
                              <a:latin typeface="Cambria Math" panose="02040503050406030204" pitchFamily="18" charset="0"/>
                            </a:rPr>
                          </m:ctrlPr>
                        </m:dPr>
                        <m:e>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e>
                      </m:d>
                    </m:oMath>
                  </m:oMathPara>
                </a14:m>
                <a:endParaRPr lang="en-US" dirty="0"/>
              </a:p>
              <a:p>
                <a:pPr marL="0" indent="0">
                  <a:spcAft>
                    <a:spcPts val="600"/>
                  </a:spcAft>
                  <a:buNone/>
                </a:pPr>
                <a:endParaRPr lang="en-US" dirty="0"/>
              </a:p>
              <a:p>
                <a:pPr marL="0" indent="0">
                  <a:spcAft>
                    <a:spcPts val="600"/>
                  </a:spcAft>
                  <a:buNone/>
                </a:pPr>
                <a:r>
                  <a:rPr lang="en-US" dirty="0"/>
                  <a:t>We can further play this game with </a:t>
                </a:r>
                <a14:m>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𝑧</m:t>
                        </m:r>
                      </m:e>
                      <m:e>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r>
                          <a:rPr lang="en-US" i="1" smtClean="0">
                            <a:solidFill>
                              <a:srgbClr val="FF0000"/>
                            </a:solidFill>
                            <a:latin typeface="Cambria Math" panose="02040503050406030204" pitchFamily="18" charset="0"/>
                          </a:rPr>
                          <m:t> </m:t>
                        </m:r>
                      </m:e>
                    </m:d>
                  </m:oMath>
                </a14:m>
                <a:r>
                  <a:rPr lang="en-US" dirty="0"/>
                  <a:t>:</a:t>
                </a:r>
              </a:p>
              <a:p>
                <a:pPr marL="0" indent="0">
                  <a:spcAft>
                    <a:spcPts val="600"/>
                  </a:spcAft>
                  <a:buNone/>
                </a:pPr>
                <a:endParaRPr lang="en-US" i="1" dirty="0">
                  <a:latin typeface="Cambria Math" panose="02040503050406030204" pitchFamily="18" charset="0"/>
                </a:endParaRPr>
              </a:p>
              <a:p>
                <a:pPr marL="0" indent="0">
                  <a:spcAft>
                    <a:spcPts val="600"/>
                  </a:spcAft>
                  <a:buNone/>
                </a:pPr>
                <a14:m>
                  <m:oMathPara xmlns:m="http://schemas.openxmlformats.org/officeDocument/2006/math">
                    <m:oMathParaPr>
                      <m:jc m:val="center"/>
                    </m:oMathParaPr>
                    <m:oMath>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r>
                            <a:rPr lang="en-US" i="1" smtClean="0">
                              <a:solidFill>
                                <a:schemeClr val="accent5">
                                  <a:lumMod val="75000"/>
                                </a:schemeClr>
                              </a:solidFill>
                              <a:latin typeface="Cambria Math" panose="02040503050406030204" pitchFamily="18" charset="0"/>
                            </a:rPr>
                            <m:t>𝑍</m:t>
                          </m:r>
                          <m:r>
                            <a:rPr lang="en-US" i="1" smtClean="0">
                              <a:solidFill>
                                <a:schemeClr val="accent5">
                                  <a:lumMod val="75000"/>
                                </a:schemeClr>
                              </a:solidFill>
                              <a:latin typeface="Cambria Math" panose="02040503050406030204" pitchFamily="18" charset="0"/>
                            </a:rPr>
                            <m:t>=</m:t>
                          </m:r>
                          <m:r>
                            <a:rPr lang="en-US" i="1" smtClean="0">
                              <a:solidFill>
                                <a:schemeClr val="accent5">
                                  <a:lumMod val="75000"/>
                                </a:schemeClr>
                              </a:solidFill>
                              <a:latin typeface="Cambria Math" panose="02040503050406030204" pitchFamily="18" charset="0"/>
                            </a:rPr>
                            <m:t>𝑧</m:t>
                          </m:r>
                        </m:e>
                        <m:e>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r>
                            <a:rPr lang="en-US" i="1">
                              <a:latin typeface="Cambria Math" panose="02040503050406030204" pitchFamily="18" charset="0"/>
                            </a:rPr>
                            <m:t> </m:t>
                          </m:r>
                        </m:e>
                      </m:d>
                      <m:r>
                        <a:rPr lang="en-US" b="0" i="1" smtClean="0">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𝑋</m:t>
                          </m:r>
                          <m:r>
                            <a:rPr lang="en-US" i="1">
                              <a:latin typeface="Cambria Math" panose="02040503050406030204" pitchFamily="18" charset="0"/>
                            </a:rPr>
                            <m:t>=</m:t>
                          </m:r>
                          <m:r>
                            <a:rPr lang="en-US" i="1">
                              <a:latin typeface="Cambria Math" panose="02040503050406030204" pitchFamily="18" charset="0"/>
                            </a:rPr>
                            <m:t>𝑥</m:t>
                          </m:r>
                        </m:e>
                        <m:e>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r>
                            <a:rPr lang="en-US" i="1">
                              <a:latin typeface="Cambria Math" panose="02040503050406030204" pitchFamily="18" charset="0"/>
                            </a:rPr>
                            <m:t>,</m:t>
                          </m:r>
                          <m:r>
                            <a:rPr lang="en-US" i="1" smtClean="0">
                              <a:solidFill>
                                <a:schemeClr val="accent5">
                                  <a:lumMod val="75000"/>
                                </a:schemeClr>
                              </a:solidFill>
                              <a:latin typeface="Cambria Math" panose="02040503050406030204" pitchFamily="18" charset="0"/>
                            </a:rPr>
                            <m:t>𝑍</m:t>
                          </m:r>
                          <m:r>
                            <a:rPr lang="en-US" i="1" smtClean="0">
                              <a:solidFill>
                                <a:schemeClr val="accent5">
                                  <a:lumMod val="75000"/>
                                </a:schemeClr>
                              </a:solidFill>
                              <a:latin typeface="Cambria Math" panose="02040503050406030204" pitchFamily="18" charset="0"/>
                            </a:rPr>
                            <m:t>=</m:t>
                          </m:r>
                          <m:r>
                            <a:rPr lang="en-US" i="1" smtClean="0">
                              <a:solidFill>
                                <a:schemeClr val="accent5">
                                  <a:lumMod val="75000"/>
                                </a:schemeClr>
                              </a:solidFill>
                              <a:latin typeface="Cambria Math" panose="02040503050406030204" pitchFamily="18" charset="0"/>
                            </a:rPr>
                            <m:t>𝑧</m:t>
                          </m:r>
                        </m:e>
                      </m:d>
                      <m:r>
                        <a:rPr lang="en-US" i="1">
                          <a:latin typeface="Cambria Math" panose="02040503050406030204" pitchFamily="18" charset="0"/>
                        </a:rPr>
                        <m:t>𝑃</m:t>
                      </m:r>
                      <m:d>
                        <m:dPr>
                          <m:ctrlPr>
                            <a:rPr lang="en-US" i="1" smtClean="0">
                              <a:solidFill>
                                <a:schemeClr val="accent5">
                                  <a:lumMod val="75000"/>
                                </a:schemeClr>
                              </a:solidFill>
                              <a:latin typeface="Cambria Math" panose="02040503050406030204" pitchFamily="18" charset="0"/>
                            </a:rPr>
                          </m:ctrlPr>
                        </m:dPr>
                        <m:e>
                          <m:r>
                            <a:rPr lang="en-US" i="1" smtClean="0">
                              <a:solidFill>
                                <a:schemeClr val="accent5">
                                  <a:lumMod val="75000"/>
                                </a:schemeClr>
                              </a:solidFill>
                              <a:latin typeface="Cambria Math" panose="02040503050406030204" pitchFamily="18" charset="0"/>
                            </a:rPr>
                            <m:t>𝑍</m:t>
                          </m:r>
                          <m:r>
                            <a:rPr lang="en-US" i="1" smtClean="0">
                              <a:solidFill>
                                <a:schemeClr val="accent5">
                                  <a:lumMod val="75000"/>
                                </a:schemeClr>
                              </a:solidFill>
                              <a:latin typeface="Cambria Math" panose="02040503050406030204" pitchFamily="18" charset="0"/>
                            </a:rPr>
                            <m:t>=</m:t>
                          </m:r>
                          <m:r>
                            <a:rPr lang="en-US" i="1" smtClean="0">
                              <a:solidFill>
                                <a:schemeClr val="accent5">
                                  <a:lumMod val="75000"/>
                                </a:schemeClr>
                              </a:solidFill>
                              <a:latin typeface="Cambria Math" panose="02040503050406030204" pitchFamily="18" charset="0"/>
                            </a:rPr>
                            <m:t>𝑧</m:t>
                          </m:r>
                        </m:e>
                        <m:e>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r>
                            <a:rPr lang="en-US" i="1">
                              <a:solidFill>
                                <a:srgbClr val="FF0000"/>
                              </a:solidFill>
                              <a:latin typeface="Cambria Math" panose="02040503050406030204" pitchFamily="18" charset="0"/>
                            </a:rPr>
                            <m:t> </m:t>
                          </m:r>
                        </m:e>
                      </m:d>
                    </m:oMath>
                  </m:oMathPara>
                </a14:m>
                <a:endParaRPr lang="en-US" dirty="0"/>
              </a:p>
              <a:p>
                <a:pPr marL="0" indent="0">
                  <a:spcAft>
                    <a:spcPts val="600"/>
                  </a:spcAft>
                  <a:buNone/>
                </a:pPr>
                <a:endParaRPr lang="en-US" dirty="0"/>
              </a:p>
              <a:p>
                <a:pPr marL="0" indent="0">
                  <a:spcAft>
                    <a:spcPts val="600"/>
                  </a:spcAft>
                  <a:buNone/>
                </a:pPr>
                <a:r>
                  <a:rPr lang="en-US" dirty="0"/>
                  <a:t>If this formula confuses you, consider the known f</a:t>
                </a:r>
              </a:p>
              <a:p>
                <a:pPr marL="0" indent="0" algn="ctr">
                  <a:spcAft>
                    <a:spcPts val="600"/>
                  </a:spcAft>
                  <a:buNone/>
                </a:pPr>
                <a:r>
                  <a:rPr lang="en-US" dirty="0"/>
                  <a:t>) </a:t>
                </a:r>
              </a:p>
              <a:p>
                <a:pPr marL="0" indent="0">
                  <a:spcAft>
                    <a:spcPts val="600"/>
                  </a:spcAft>
                  <a:buNone/>
                </a:pPr>
                <a:r>
                  <a:rPr lang="en-US" dirty="0"/>
                  <a:t>If we add the same condition </a:t>
                </a:r>
                <a14:m>
                  <m:oMath xmlns:m="http://schemas.openxmlformats.org/officeDocument/2006/math">
                    <m:r>
                      <a:rPr lang="en-US" i="1" smtClean="0">
                        <a:solidFill>
                          <a:srgbClr val="FF0000"/>
                        </a:solidFill>
                        <a:latin typeface="Cambria Math" panose="02040503050406030204" pitchFamily="18" charset="0"/>
                      </a:rPr>
                      <m:t>𝑌</m:t>
                    </m:r>
                    <m:r>
                      <a:rPr lang="en-US" i="1" smtClean="0">
                        <a:solidFill>
                          <a:srgbClr val="FF0000"/>
                        </a:solidFill>
                        <a:latin typeface="Cambria Math" panose="02040503050406030204" pitchFamily="18" charset="0"/>
                      </a:rPr>
                      <m:t>=</m:t>
                    </m:r>
                    <m:r>
                      <a:rPr lang="en-US" i="1" smtClean="0">
                        <a:solidFill>
                          <a:srgbClr val="FF0000"/>
                        </a:solidFill>
                        <a:latin typeface="Cambria Math" panose="02040503050406030204" pitchFamily="18" charset="0"/>
                      </a:rPr>
                      <m:t>𝑦</m:t>
                    </m:r>
                    <m:r>
                      <a:rPr lang="en-US" i="1">
                        <a:latin typeface="Cambria Math" panose="02040503050406030204" pitchFamily="18" charset="0"/>
                      </a:rPr>
                      <m:t> </m:t>
                    </m:r>
                  </m:oMath>
                </a14:m>
                <a:r>
                  <a:rPr lang="en-US" dirty="0"/>
                  <a:t> to both sides of the equation as we saw it.</a:t>
                </a:r>
              </a:p>
            </p:txBody>
          </p:sp>
        </mc:Choice>
        <mc:Fallback xmlns="">
          <p:sp>
            <p:nvSpPr>
              <p:cNvPr id="3" name="Content Placeholder 2">
                <a:extLst>
                  <a:ext uri="{FF2B5EF4-FFF2-40B4-BE49-F238E27FC236}">
                    <a16:creationId xmlns:a16="http://schemas.microsoft.com/office/drawing/2014/main" id="{E8D7872B-CCFC-0803-6821-C43DE31AC76C}"/>
                  </a:ext>
                </a:extLst>
              </p:cNvPr>
              <p:cNvSpPr>
                <a:spLocks noGrp="1" noRot="1" noChangeAspect="1" noMove="1" noResize="1" noEditPoints="1" noAdjustHandles="1" noChangeArrowheads="1" noChangeShapeType="1" noTextEdit="1"/>
              </p:cNvSpPr>
              <p:nvPr>
                <p:ph idx="1"/>
              </p:nvPr>
            </p:nvSpPr>
            <p:spPr>
              <a:blipFill>
                <a:blip r:embed="rId2"/>
                <a:stretch>
                  <a:fillRect l="-754" t="-2801"/>
                </a:stretch>
              </a:blipFill>
            </p:spPr>
            <p:txBody>
              <a:bodyPr/>
              <a:lstStyle/>
              <a:p>
                <a:r>
                  <a:rPr lang="en-NL">
                    <a:noFill/>
                  </a:rPr>
                  <a:t> </a:t>
                </a:r>
              </a:p>
            </p:txBody>
          </p:sp>
        </mc:Fallback>
      </mc:AlternateContent>
    </p:spTree>
    <p:extLst>
      <p:ext uri="{BB962C8B-B14F-4D97-AF65-F5344CB8AC3E}">
        <p14:creationId xmlns:p14="http://schemas.microsoft.com/office/powerpoint/2010/main" val="18633267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36A4D-EF41-8053-06E3-F93C407AA1AC}"/>
              </a:ext>
            </a:extLst>
          </p:cNvPr>
          <p:cNvSpPr>
            <a:spLocks noGrp="1"/>
          </p:cNvSpPr>
          <p:nvPr>
            <p:ph type="title"/>
          </p:nvPr>
        </p:nvSpPr>
        <p:spPr/>
        <p:txBody>
          <a:bodyPr/>
          <a:lstStyle/>
          <a:p>
            <a:r>
              <a:rPr lang="en-US" dirty="0"/>
              <a:t>Creating a chain (2/2)</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D7872B-CCFC-0803-6821-C43DE31AC76C}"/>
                  </a:ext>
                </a:extLst>
              </p:cNvPr>
              <p:cNvSpPr>
                <a:spLocks noGrp="1"/>
              </p:cNvSpPr>
              <p:nvPr>
                <p:ph idx="1"/>
              </p:nvPr>
            </p:nvSpPr>
            <p:spPr/>
            <p:txBody>
              <a:bodyPr>
                <a:normAutofit/>
              </a:bodyPr>
              <a:lstStyle/>
              <a:p>
                <a:pPr marL="0" indent="0">
                  <a:spcAft>
                    <a:spcPts val="600"/>
                  </a:spcAft>
                  <a:buNone/>
                </a:pPr>
                <a:r>
                  <a:rPr lang="en-US" sz="2400" dirty="0"/>
                  <a:t>Which gives us</a:t>
                </a:r>
              </a:p>
              <a:p>
                <a:pPr marL="0" indent="0">
                  <a:spcAft>
                    <a:spcPts val="600"/>
                  </a:spcAft>
                  <a:buNone/>
                </a:pPr>
                <a:endParaRPr lang="en-US" sz="2400" i="1" dirty="0">
                  <a:latin typeface="Cambria Math" panose="02040503050406030204" pitchFamily="18" charset="0"/>
                </a:endParaRPr>
              </a:p>
              <a:p>
                <a:pPr marL="0" indent="0">
                  <a:spcAft>
                    <a:spcPts val="600"/>
                  </a:spcAft>
                  <a:buNone/>
                </a:pPr>
                <a14:m>
                  <m:oMathPara xmlns:m="http://schemas.openxmlformats.org/officeDocument/2006/math">
                    <m:oMathParaPr>
                      <m:jc m:val="center"/>
                    </m:oMathParaPr>
                    <m:oMath>
                      <m:r>
                        <a:rPr lang="en-US" sz="2400" i="1" smtClean="0">
                          <a:solidFill>
                            <a:schemeClr val="accent6">
                              <a:lumMod val="50000"/>
                            </a:schemeClr>
                          </a:solidFill>
                          <a:latin typeface="Cambria Math" panose="02040503050406030204" pitchFamily="18" charset="0"/>
                        </a:rPr>
                        <m:t>𝑃</m:t>
                      </m:r>
                      <m:d>
                        <m:dPr>
                          <m:ctrlPr>
                            <a:rPr lang="en-US" sz="2400" i="1">
                              <a:solidFill>
                                <a:schemeClr val="accent6">
                                  <a:lumMod val="50000"/>
                                </a:schemeClr>
                              </a:solidFill>
                              <a:latin typeface="Cambria Math" panose="02040503050406030204" pitchFamily="18" charset="0"/>
                            </a:rPr>
                          </m:ctrlPr>
                        </m:dPr>
                        <m:e>
                          <m:r>
                            <a:rPr lang="en-US" sz="2400" i="1">
                              <a:solidFill>
                                <a:schemeClr val="accent6">
                                  <a:lumMod val="50000"/>
                                </a:schemeClr>
                              </a:solidFill>
                              <a:latin typeface="Cambria Math" panose="02040503050406030204" pitchFamily="18" charset="0"/>
                            </a:rPr>
                            <m:t>𝑋</m:t>
                          </m:r>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𝑥</m:t>
                          </m:r>
                          <m:r>
                            <a:rPr lang="en-US" sz="2400" i="1">
                              <a:solidFill>
                                <a:schemeClr val="accent6">
                                  <a:lumMod val="50000"/>
                                </a:schemeClr>
                              </a:solidFill>
                              <a:latin typeface="Cambria Math" panose="02040503050406030204" pitchFamily="18" charset="0"/>
                            </a:rPr>
                            <m:t>,</m:t>
                          </m:r>
                          <m:r>
                            <a:rPr lang="en-US" sz="2400" i="1" smtClean="0">
                              <a:solidFill>
                                <a:schemeClr val="accent6">
                                  <a:lumMod val="50000"/>
                                </a:schemeClr>
                              </a:solidFill>
                              <a:latin typeface="Cambria Math" panose="02040503050406030204" pitchFamily="18" charset="0"/>
                            </a:rPr>
                            <m:t>𝑌</m:t>
                          </m:r>
                          <m:r>
                            <a:rPr lang="en-US" sz="2400" i="1" smtClean="0">
                              <a:solidFill>
                                <a:schemeClr val="accent6">
                                  <a:lumMod val="50000"/>
                                </a:schemeClr>
                              </a:solidFill>
                              <a:latin typeface="Cambria Math" panose="02040503050406030204" pitchFamily="18" charset="0"/>
                            </a:rPr>
                            <m:t>=</m:t>
                          </m:r>
                          <m:r>
                            <a:rPr lang="en-US" sz="2400" i="1" smtClean="0">
                              <a:solidFill>
                                <a:schemeClr val="accent6">
                                  <a:lumMod val="50000"/>
                                </a:schemeClr>
                              </a:solidFill>
                              <a:latin typeface="Cambria Math" panose="02040503050406030204" pitchFamily="18" charset="0"/>
                            </a:rPr>
                            <m:t>𝑦</m:t>
                          </m:r>
                          <m:r>
                            <a:rPr lang="en-US" sz="2400" b="0" i="1" smtClean="0">
                              <a:solidFill>
                                <a:schemeClr val="accent6">
                                  <a:lumMod val="50000"/>
                                </a:schemeClr>
                              </a:solidFill>
                              <a:latin typeface="Cambria Math" panose="02040503050406030204" pitchFamily="18" charset="0"/>
                            </a:rPr>
                            <m:t>,</m:t>
                          </m:r>
                          <m:r>
                            <a:rPr lang="en-US" sz="2400" b="0" i="1" smtClean="0">
                              <a:solidFill>
                                <a:schemeClr val="accent6">
                                  <a:lumMod val="50000"/>
                                </a:schemeClr>
                              </a:solidFill>
                              <a:latin typeface="Cambria Math" panose="02040503050406030204" pitchFamily="18" charset="0"/>
                            </a:rPr>
                            <m:t>𝑍</m:t>
                          </m:r>
                          <m:r>
                            <a:rPr lang="en-US" sz="2400" b="0" i="1" smtClean="0">
                              <a:solidFill>
                                <a:schemeClr val="accent6">
                                  <a:lumMod val="50000"/>
                                </a:schemeClr>
                              </a:solidFill>
                              <a:latin typeface="Cambria Math" panose="02040503050406030204" pitchFamily="18" charset="0"/>
                            </a:rPr>
                            <m:t>=</m:t>
                          </m:r>
                          <m:r>
                            <a:rPr lang="en-US" sz="2400" b="0" i="1" smtClean="0">
                              <a:solidFill>
                                <a:schemeClr val="accent6">
                                  <a:lumMod val="50000"/>
                                </a:schemeClr>
                              </a:solidFill>
                              <a:latin typeface="Cambria Math" panose="02040503050406030204" pitchFamily="18" charset="0"/>
                            </a:rPr>
                            <m:t>𝑧</m:t>
                          </m:r>
                        </m:e>
                      </m:d>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𝑃</m:t>
                      </m:r>
                      <m:d>
                        <m:dPr>
                          <m:ctrlPr>
                            <a:rPr lang="en-US" sz="2400" i="1">
                              <a:solidFill>
                                <a:schemeClr val="accent6">
                                  <a:lumMod val="50000"/>
                                </a:schemeClr>
                              </a:solidFill>
                              <a:latin typeface="Cambria Math" panose="02040503050406030204" pitchFamily="18" charset="0"/>
                            </a:rPr>
                          </m:ctrlPr>
                        </m:dPr>
                        <m:e>
                          <m:r>
                            <a:rPr lang="en-US" sz="2400" i="1">
                              <a:solidFill>
                                <a:schemeClr val="accent6">
                                  <a:lumMod val="50000"/>
                                </a:schemeClr>
                              </a:solidFill>
                              <a:latin typeface="Cambria Math" panose="02040503050406030204" pitchFamily="18" charset="0"/>
                            </a:rPr>
                            <m:t>𝑋</m:t>
                          </m:r>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𝑥</m:t>
                          </m:r>
                        </m:e>
                        <m:e>
                          <m:r>
                            <a:rPr lang="en-US" sz="2400" i="1">
                              <a:solidFill>
                                <a:schemeClr val="accent6">
                                  <a:lumMod val="50000"/>
                                </a:schemeClr>
                              </a:solidFill>
                              <a:latin typeface="Cambria Math" panose="02040503050406030204" pitchFamily="18" charset="0"/>
                            </a:rPr>
                            <m:t>𝑌</m:t>
                          </m:r>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𝑦</m:t>
                          </m:r>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𝑍</m:t>
                          </m:r>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𝑧</m:t>
                          </m:r>
                        </m:e>
                      </m:d>
                      <m:r>
                        <a:rPr lang="en-US" sz="2400" i="1">
                          <a:solidFill>
                            <a:schemeClr val="accent6">
                              <a:lumMod val="50000"/>
                            </a:schemeClr>
                          </a:solidFill>
                          <a:latin typeface="Cambria Math" panose="02040503050406030204" pitchFamily="18" charset="0"/>
                        </a:rPr>
                        <m:t>𝑃</m:t>
                      </m:r>
                      <m:d>
                        <m:dPr>
                          <m:ctrlPr>
                            <a:rPr lang="en-US" sz="2400" i="1">
                              <a:solidFill>
                                <a:schemeClr val="accent6">
                                  <a:lumMod val="50000"/>
                                </a:schemeClr>
                              </a:solidFill>
                              <a:latin typeface="Cambria Math" panose="02040503050406030204" pitchFamily="18" charset="0"/>
                            </a:rPr>
                          </m:ctrlPr>
                        </m:dPr>
                        <m:e>
                          <m:r>
                            <a:rPr lang="en-US" sz="2400" i="1">
                              <a:solidFill>
                                <a:schemeClr val="accent6">
                                  <a:lumMod val="50000"/>
                                </a:schemeClr>
                              </a:solidFill>
                              <a:latin typeface="Cambria Math" panose="02040503050406030204" pitchFamily="18" charset="0"/>
                            </a:rPr>
                            <m:t>𝑍</m:t>
                          </m:r>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𝑧</m:t>
                          </m:r>
                        </m:e>
                        <m:e>
                          <m:r>
                            <a:rPr lang="en-US" sz="2400" i="1">
                              <a:solidFill>
                                <a:schemeClr val="accent6">
                                  <a:lumMod val="50000"/>
                                </a:schemeClr>
                              </a:solidFill>
                              <a:latin typeface="Cambria Math" panose="02040503050406030204" pitchFamily="18" charset="0"/>
                            </a:rPr>
                            <m:t>𝑌</m:t>
                          </m:r>
                          <m:r>
                            <a:rPr lang="en-US" sz="2400" i="1">
                              <a:solidFill>
                                <a:schemeClr val="accent6">
                                  <a:lumMod val="50000"/>
                                </a:schemeClr>
                              </a:solidFill>
                              <a:latin typeface="Cambria Math" panose="02040503050406030204" pitchFamily="18" charset="0"/>
                            </a:rPr>
                            <m:t>=</m:t>
                          </m:r>
                          <m:r>
                            <a:rPr lang="en-US" sz="2400" i="1">
                              <a:solidFill>
                                <a:schemeClr val="accent6">
                                  <a:lumMod val="50000"/>
                                </a:schemeClr>
                              </a:solidFill>
                              <a:latin typeface="Cambria Math" panose="02040503050406030204" pitchFamily="18" charset="0"/>
                            </a:rPr>
                            <m:t>𝑦</m:t>
                          </m:r>
                          <m:r>
                            <a:rPr lang="en-US" sz="2400" i="1">
                              <a:solidFill>
                                <a:schemeClr val="accent6">
                                  <a:lumMod val="50000"/>
                                </a:schemeClr>
                              </a:solidFill>
                              <a:latin typeface="Cambria Math" panose="02040503050406030204" pitchFamily="18" charset="0"/>
                            </a:rPr>
                            <m:t> </m:t>
                          </m:r>
                        </m:e>
                      </m:d>
                      <m:r>
                        <a:rPr lang="en-US" sz="2400" i="1">
                          <a:solidFill>
                            <a:schemeClr val="accent6">
                              <a:lumMod val="50000"/>
                            </a:schemeClr>
                          </a:solidFill>
                          <a:latin typeface="Cambria Math" panose="02040503050406030204" pitchFamily="18" charset="0"/>
                        </a:rPr>
                        <m:t>𝑃</m:t>
                      </m:r>
                      <m:d>
                        <m:dPr>
                          <m:ctrlPr>
                            <a:rPr lang="en-US" sz="2400" i="1" smtClean="0">
                              <a:solidFill>
                                <a:schemeClr val="accent6">
                                  <a:lumMod val="50000"/>
                                </a:schemeClr>
                              </a:solidFill>
                              <a:latin typeface="Cambria Math" panose="02040503050406030204" pitchFamily="18" charset="0"/>
                            </a:rPr>
                          </m:ctrlPr>
                        </m:dPr>
                        <m:e>
                          <m:r>
                            <a:rPr lang="en-US" sz="2400" i="1" smtClean="0">
                              <a:solidFill>
                                <a:schemeClr val="accent6">
                                  <a:lumMod val="50000"/>
                                </a:schemeClr>
                              </a:solidFill>
                              <a:latin typeface="Cambria Math" panose="02040503050406030204" pitchFamily="18" charset="0"/>
                            </a:rPr>
                            <m:t>𝑌</m:t>
                          </m:r>
                          <m:r>
                            <a:rPr lang="en-US" sz="2400" i="1" smtClean="0">
                              <a:solidFill>
                                <a:schemeClr val="accent6">
                                  <a:lumMod val="50000"/>
                                </a:schemeClr>
                              </a:solidFill>
                              <a:latin typeface="Cambria Math" panose="02040503050406030204" pitchFamily="18" charset="0"/>
                            </a:rPr>
                            <m:t>=</m:t>
                          </m:r>
                          <m:r>
                            <a:rPr lang="en-US" sz="2400" i="1" smtClean="0">
                              <a:solidFill>
                                <a:schemeClr val="accent6">
                                  <a:lumMod val="50000"/>
                                </a:schemeClr>
                              </a:solidFill>
                              <a:latin typeface="Cambria Math" panose="02040503050406030204" pitchFamily="18" charset="0"/>
                            </a:rPr>
                            <m:t>𝑦</m:t>
                          </m:r>
                        </m:e>
                      </m:d>
                    </m:oMath>
                  </m:oMathPara>
                </a14:m>
                <a:endParaRPr lang="en-US" sz="2400" dirty="0">
                  <a:solidFill>
                    <a:schemeClr val="accent6">
                      <a:lumMod val="50000"/>
                    </a:schemeClr>
                  </a:solidFill>
                </a:endParaRPr>
              </a:p>
              <a:p>
                <a:pPr marL="0" indent="0">
                  <a:spcAft>
                    <a:spcPts val="600"/>
                  </a:spcAft>
                  <a:buNone/>
                </a:pPr>
                <a:r>
                  <a:rPr lang="en-US" sz="2400" dirty="0"/>
                  <a:t>The same holds for any number of random variables </a:t>
                </a:r>
                <a14:m>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𝑋</m:t>
                            </m:r>
                          </m:e>
                          <m:sub>
                            <m:r>
                              <a:rPr lang="en-US" sz="2400" b="0" i="1" smtClean="0">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1</m:t>
                            </m:r>
                          </m:sub>
                        </m:sSub>
                        <m:r>
                          <a:rPr lang="en-US" sz="2400" i="1">
                            <a:latin typeface="Cambria Math" panose="02040503050406030204" pitchFamily="18" charset="0"/>
                          </a:rPr>
                          <m:t>,</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𝑁</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𝑁</m:t>
                            </m:r>
                          </m:sub>
                        </m:sSub>
                      </m:e>
                    </m:d>
                    <m:r>
                      <a:rPr lang="en-US" sz="2400" b="0" i="1" smtClean="0">
                        <a:latin typeface="Cambria Math" panose="02040503050406030204" pitchFamily="18" charset="0"/>
                      </a:rPr>
                      <m:t> </m:t>
                    </m:r>
                  </m:oMath>
                </a14:m>
                <a:r>
                  <a:rPr lang="en-US" sz="2400" dirty="0"/>
                  <a:t>:</a:t>
                </a:r>
              </a:p>
              <a:p>
                <a:pPr marL="0" indent="0">
                  <a:spcAft>
                    <a:spcPts val="600"/>
                  </a:spcAft>
                  <a:buNone/>
                </a:pPr>
                <a:endParaRPr lang="en-US" sz="2400" i="1" dirty="0">
                  <a:latin typeface="Cambria Math" panose="02040503050406030204" pitchFamily="18" charset="0"/>
                </a:endParaRPr>
              </a:p>
              <a:p>
                <a:pPr marL="0" indent="0">
                  <a:spcAft>
                    <a:spcPts val="600"/>
                  </a:spcAft>
                  <a:buNone/>
                </a:pPr>
                <a14:m>
                  <m:oMathPara xmlns:m="http://schemas.openxmlformats.org/officeDocument/2006/math">
                    <m:oMathParaPr>
                      <m:jc m:val="center"/>
                    </m:oMathParaPr>
                    <m:oMath>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b="0" i="1" smtClean="0">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b="0" i="1" smtClean="0">
                                  <a:latin typeface="Cambria Math" panose="02040503050406030204" pitchFamily="18" charset="0"/>
                                </a:rPr>
                                <m:t>1</m:t>
                              </m:r>
                            </m:sub>
                          </m:sSub>
                        </m:e>
                      </m:d>
                      <m:r>
                        <a:rPr lang="en-US" sz="1900" i="1">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2</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2</m:t>
                              </m:r>
                            </m:sub>
                          </m:sSub>
                          <m:r>
                            <a:rPr lang="en-US" sz="1900" i="1">
                              <a:latin typeface="Cambria Math" panose="02040503050406030204" pitchFamily="18" charset="0"/>
                            </a:rPr>
                            <m:t> </m:t>
                          </m:r>
                        </m:e>
                        <m:e>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1</m:t>
                              </m:r>
                            </m:sub>
                          </m:sSub>
                        </m:e>
                      </m:d>
                      <m:r>
                        <a:rPr lang="en-US" sz="1900" i="1">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3</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3</m:t>
                              </m:r>
                            </m:sub>
                          </m:sSub>
                          <m:r>
                            <a:rPr lang="en-US" sz="1900" i="1">
                              <a:latin typeface="Cambria Math" panose="02040503050406030204" pitchFamily="18" charset="0"/>
                            </a:rPr>
                            <m:t> </m:t>
                          </m:r>
                        </m:e>
                        <m:e>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2</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2</m:t>
                              </m:r>
                            </m:sub>
                          </m:sSub>
                        </m:e>
                      </m:d>
                      <m:r>
                        <a:rPr lang="en-US" sz="1900" i="1">
                          <a:latin typeface="Cambria Math" panose="02040503050406030204" pitchFamily="18" charset="0"/>
                        </a:rPr>
                        <m:t>×⋯</m:t>
                      </m:r>
                      <m:r>
                        <a:rPr lang="en-US" sz="1900" b="0" i="1" smtClean="0">
                          <a:latin typeface="Cambria Math" panose="02040503050406030204" pitchFamily="18" charset="0"/>
                        </a:rPr>
                        <m:t>×</m:t>
                      </m:r>
                      <m:r>
                        <a:rPr lang="en-US" sz="1900" i="1">
                          <a:latin typeface="Cambria Math" panose="02040503050406030204" pitchFamily="18" charset="0"/>
                        </a:rPr>
                        <m:t>𝑃</m:t>
                      </m:r>
                      <m:d>
                        <m:dPr>
                          <m:ctrlPr>
                            <a:rPr lang="en-US" sz="1900" i="1">
                              <a:latin typeface="Cambria Math" panose="02040503050406030204" pitchFamily="18" charset="0"/>
                            </a:rPr>
                          </m:ctrlPr>
                        </m:dPr>
                        <m:e>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𝑁</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𝑁</m:t>
                              </m:r>
                            </m:sub>
                          </m:sSub>
                          <m:r>
                            <a:rPr lang="en-US" sz="1900" i="1">
                              <a:latin typeface="Cambria Math" panose="02040503050406030204" pitchFamily="18" charset="0"/>
                            </a:rPr>
                            <m:t> </m:t>
                          </m:r>
                        </m:e>
                        <m:e>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𝑋</m:t>
                              </m:r>
                            </m:e>
                            <m:sub>
                              <m:r>
                                <a:rPr lang="en-US" sz="1900" i="1">
                                  <a:latin typeface="Cambria Math" panose="02040503050406030204" pitchFamily="18" charset="0"/>
                                </a:rPr>
                                <m:t>𝑁</m:t>
                              </m:r>
                              <m:r>
                                <a:rPr lang="en-US" sz="1900" i="1">
                                  <a:latin typeface="Cambria Math" panose="02040503050406030204" pitchFamily="18" charset="0"/>
                                </a:rPr>
                                <m:t>−1</m:t>
                              </m:r>
                            </m:sub>
                          </m:sSub>
                          <m:r>
                            <a:rPr lang="en-US" sz="1900" i="1">
                              <a:latin typeface="Cambria Math" panose="02040503050406030204" pitchFamily="18" charset="0"/>
                            </a:rPr>
                            <m:t>=</m:t>
                          </m:r>
                          <m:sSub>
                            <m:sSubPr>
                              <m:ctrlPr>
                                <a:rPr lang="en-US" sz="1900" i="1">
                                  <a:latin typeface="Cambria Math" panose="02040503050406030204" pitchFamily="18" charset="0"/>
                                </a:rPr>
                              </m:ctrlPr>
                            </m:sSubPr>
                            <m:e>
                              <m:r>
                                <a:rPr lang="en-US" sz="1900" i="1">
                                  <a:latin typeface="Cambria Math" panose="02040503050406030204" pitchFamily="18" charset="0"/>
                                </a:rPr>
                                <m:t>𝑥</m:t>
                              </m:r>
                            </m:e>
                            <m:sub>
                              <m:r>
                                <a:rPr lang="en-US" sz="1900" i="1">
                                  <a:latin typeface="Cambria Math" panose="02040503050406030204" pitchFamily="18" charset="0"/>
                                </a:rPr>
                                <m:t>𝑁</m:t>
                              </m:r>
                              <m:r>
                                <a:rPr lang="en-US" sz="1900" i="1">
                                  <a:latin typeface="Cambria Math" panose="02040503050406030204" pitchFamily="18" charset="0"/>
                                </a:rPr>
                                <m:t>−1</m:t>
                              </m:r>
                            </m:sub>
                          </m:sSub>
                        </m:e>
                      </m:d>
                    </m:oMath>
                  </m:oMathPara>
                </a14:m>
                <a:br>
                  <a:rPr lang="en-US" sz="1900" i="1" dirty="0">
                    <a:latin typeface="Cambria Math" panose="02040503050406030204" pitchFamily="18" charset="0"/>
                  </a:rPr>
                </a:br>
                <a:endParaRPr lang="en-US" sz="1900" dirty="0"/>
              </a:p>
              <a:p>
                <a:pPr marL="0" indent="0">
                  <a:spcAft>
                    <a:spcPts val="600"/>
                  </a:spcAft>
                  <a:buNone/>
                </a:pPr>
                <a:endParaRPr lang="en-US" sz="2400" dirty="0"/>
              </a:p>
            </p:txBody>
          </p:sp>
        </mc:Choice>
        <mc:Fallback xmlns="">
          <p:sp>
            <p:nvSpPr>
              <p:cNvPr id="3" name="Content Placeholder 2">
                <a:extLst>
                  <a:ext uri="{FF2B5EF4-FFF2-40B4-BE49-F238E27FC236}">
                    <a16:creationId xmlns:a16="http://schemas.microsoft.com/office/drawing/2014/main" id="{E8D7872B-CCFC-0803-6821-C43DE31AC76C}"/>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NL">
                    <a:noFill/>
                  </a:rPr>
                  <a:t> </a:t>
                </a:r>
              </a:p>
            </p:txBody>
          </p:sp>
        </mc:Fallback>
      </mc:AlternateContent>
    </p:spTree>
    <p:extLst>
      <p:ext uri="{BB962C8B-B14F-4D97-AF65-F5344CB8AC3E}">
        <p14:creationId xmlns:p14="http://schemas.microsoft.com/office/powerpoint/2010/main" val="16360000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836487-B266-12B4-7664-A1B038FE0DCE}"/>
              </a:ext>
            </a:extLst>
          </p:cNvPr>
          <p:cNvSpPr>
            <a:spLocks noGrp="1"/>
          </p:cNvSpPr>
          <p:nvPr>
            <p:ph type="title"/>
          </p:nvPr>
        </p:nvSpPr>
        <p:spPr>
          <a:xfrm>
            <a:off x="841248" y="256032"/>
            <a:ext cx="10506456" cy="1014984"/>
          </a:xfrm>
        </p:spPr>
        <p:txBody>
          <a:bodyPr anchor="b">
            <a:normAutofit fontScale="90000"/>
          </a:bodyPr>
          <a:lstStyle/>
          <a:p>
            <a:r>
              <a:rPr lang="en-US" dirty="0"/>
              <a:t>Efficient representation of joint probabilities (1/5)</a:t>
            </a:r>
            <a:endParaRPr lang="en-NL" dirty="0"/>
          </a:p>
        </p:txBody>
      </p:sp>
      <p:sp>
        <p:nvSpPr>
          <p:cNvPr id="1033" name="Rectangle 103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5" name="Rectangle 103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Content Placeholder 4">
            <a:extLst>
              <a:ext uri="{FF2B5EF4-FFF2-40B4-BE49-F238E27FC236}">
                <a16:creationId xmlns:a16="http://schemas.microsoft.com/office/drawing/2014/main" id="{414AEF2D-CA62-36BF-B239-6C0BFF28E20F}"/>
              </a:ext>
            </a:extLst>
          </p:cNvPr>
          <p:cNvSpPr>
            <a:spLocks/>
          </p:cNvSpPr>
          <p:nvPr/>
        </p:nvSpPr>
        <p:spPr>
          <a:xfrm>
            <a:off x="838199" y="2181171"/>
            <a:ext cx="5672015" cy="4150541"/>
          </a:xfrm>
          <a:prstGeom prst="rect">
            <a:avLst/>
          </a:prstGeom>
        </p:spPr>
        <p:txBody>
          <a:bodyPr>
            <a:normAutofit/>
          </a:bodyPr>
          <a:lstStyle/>
          <a:p>
            <a:pPr defTabSz="731520">
              <a:spcAft>
                <a:spcPts val="600"/>
              </a:spcAft>
            </a:pPr>
            <a:r>
              <a:rPr lang="en-US" sz="1440" kern="1200" dirty="0">
                <a:solidFill>
                  <a:schemeClr val="tx1"/>
                </a:solidFill>
                <a:latin typeface="+mn-lt"/>
                <a:ea typeface="+mn-ea"/>
                <a:cs typeface="+mn-cs"/>
              </a:rPr>
              <a:t>Every table represents (conditional) probabilities:</a:t>
            </a:r>
            <a:br>
              <a:rPr lang="en-US" sz="1440" kern="1200" dirty="0">
                <a:solidFill>
                  <a:schemeClr val="tx1"/>
                </a:solidFill>
                <a:latin typeface="+mn-lt"/>
                <a:ea typeface="+mn-ea"/>
                <a:cs typeface="+mn-cs"/>
              </a:rPr>
            </a:br>
            <a:endParaRPr lang="en-US" sz="1440" kern="1200" dirty="0">
              <a:solidFill>
                <a:schemeClr val="tx1"/>
              </a:solidFill>
              <a:latin typeface="+mn-lt"/>
              <a:ea typeface="+mn-ea"/>
              <a:cs typeface="+mn-cs"/>
            </a:endParaRP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For Difficulty and Intelligence random variables note the two numbers sum up to one.</a:t>
            </a: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Grade depends on difficulty and Intelligence</a:t>
            </a: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SAT exam results depend on intelligence</a:t>
            </a: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Getting a recommendation letter depends on the grade.</a:t>
            </a:r>
          </a:p>
          <a:p>
            <a:pPr marL="742950" lvl="1" indent="-285750" defTabSz="731520">
              <a:spcAft>
                <a:spcPts val="600"/>
              </a:spcAft>
              <a:buFont typeface="Arial" panose="020B0604020202020204" pitchFamily="34" charset="0"/>
              <a:buChar char="•"/>
            </a:pPr>
            <a:r>
              <a:rPr lang="en-US" sz="1440" dirty="0"/>
              <a:t>Note the sum of all numbers in each row sum up to one. Why?</a:t>
            </a:r>
          </a:p>
          <a:p>
            <a:pPr marL="742950" lvl="1" indent="-285750" defTabSz="731520">
              <a:spcAft>
                <a:spcPts val="600"/>
              </a:spcAft>
              <a:buFont typeface="Arial" panose="020B0604020202020204" pitchFamily="34" charset="0"/>
              <a:buChar char="•"/>
            </a:pPr>
            <a:r>
              <a:rPr lang="en-US" sz="1440" dirty="0"/>
              <a:t>Note the graph has no loops, it is directed and acyclic. </a:t>
            </a:r>
          </a:p>
          <a:p>
            <a:pPr marL="742950" lvl="1" indent="-285750" defTabSz="731520">
              <a:spcAft>
                <a:spcPts val="600"/>
              </a:spcAft>
              <a:buFont typeface="Arial" panose="020B0604020202020204" pitchFamily="34" charset="0"/>
              <a:buChar char="•"/>
            </a:pPr>
            <a:endParaRPr lang="en-US" sz="1440" kern="1200" dirty="0">
              <a:solidFill>
                <a:schemeClr val="tx1"/>
              </a:solidFill>
              <a:latin typeface="+mn-lt"/>
              <a:ea typeface="+mn-ea"/>
              <a:cs typeface="+mn-cs"/>
            </a:endParaRPr>
          </a:p>
          <a:p>
            <a:pPr lvl="1" defTabSz="731520">
              <a:spcAft>
                <a:spcPts val="600"/>
              </a:spcAft>
            </a:pPr>
            <a:endParaRPr lang="en-US" sz="1440" kern="1200" dirty="0">
              <a:solidFill>
                <a:schemeClr val="tx1"/>
              </a:solidFill>
              <a:latin typeface="+mn-lt"/>
              <a:ea typeface="+mn-ea"/>
              <a:cs typeface="+mn-cs"/>
            </a:endParaRPr>
          </a:p>
          <a:p>
            <a:pPr defTabSz="731520">
              <a:spcAft>
                <a:spcPts val="600"/>
              </a:spcAft>
            </a:pPr>
            <a:r>
              <a:rPr lang="en-US" sz="1440" kern="1200" dirty="0">
                <a:solidFill>
                  <a:schemeClr val="tx1"/>
                </a:solidFill>
                <a:latin typeface="+mn-lt"/>
                <a:ea typeface="+mn-ea"/>
                <a:cs typeface="+mn-cs"/>
              </a:rPr>
              <a:t>See more explanations next slide</a:t>
            </a:r>
            <a:endParaRPr lang="en-US" dirty="0"/>
          </a:p>
        </p:txBody>
      </p:sp>
      <p:pic>
        <p:nvPicPr>
          <p:cNvPr id="1026" name="Picture 2">
            <a:extLst>
              <a:ext uri="{FF2B5EF4-FFF2-40B4-BE49-F238E27FC236}">
                <a16:creationId xmlns:a16="http://schemas.microsoft.com/office/drawing/2014/main" id="{4C6117D5-A788-4828-2D17-BC20D3C2D0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7994" y="2181171"/>
            <a:ext cx="4697876" cy="371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88E61E-91C5-7B53-4A30-0FCD2C1635EE}"/>
              </a:ext>
            </a:extLst>
          </p:cNvPr>
          <p:cNvSpPr txBox="1"/>
          <p:nvPr/>
        </p:nvSpPr>
        <p:spPr>
          <a:xfrm>
            <a:off x="8700210" y="6109220"/>
            <a:ext cx="4888790" cy="313932"/>
          </a:xfrm>
          <a:prstGeom prst="rect">
            <a:avLst/>
          </a:prstGeom>
          <a:noFill/>
        </p:spPr>
        <p:txBody>
          <a:bodyPr wrap="square">
            <a:spAutoFit/>
          </a:bodyPr>
          <a:lstStyle/>
          <a:p>
            <a:pPr defTabSz="731520">
              <a:spcAft>
                <a:spcPts val="600"/>
              </a:spcAft>
            </a:pPr>
            <a:r>
              <a:rPr lang="en-US" sz="1440" kern="1200" dirty="0">
                <a:solidFill>
                  <a:schemeClr val="tx1"/>
                </a:solidFill>
                <a:latin typeface="+mn-lt"/>
                <a:ea typeface="+mn-ea"/>
                <a:cs typeface="+mn-cs"/>
                <a:hlinkClick r:id="rId3"/>
              </a:rPr>
              <a:t>Bayesian networks (ermongroup.github.io)</a:t>
            </a:r>
            <a:endParaRPr lang="en-NL" dirty="0"/>
          </a:p>
        </p:txBody>
      </p:sp>
    </p:spTree>
    <p:extLst>
      <p:ext uri="{BB962C8B-B14F-4D97-AF65-F5344CB8AC3E}">
        <p14:creationId xmlns:p14="http://schemas.microsoft.com/office/powerpoint/2010/main" val="11001990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36487-B266-12B4-7664-A1B038FE0DCE}"/>
              </a:ext>
            </a:extLst>
          </p:cNvPr>
          <p:cNvSpPr>
            <a:spLocks noGrp="1"/>
          </p:cNvSpPr>
          <p:nvPr>
            <p:ph type="title"/>
          </p:nvPr>
        </p:nvSpPr>
        <p:spPr>
          <a:xfrm>
            <a:off x="841248" y="256032"/>
            <a:ext cx="10506456" cy="1014984"/>
          </a:xfrm>
        </p:spPr>
        <p:txBody>
          <a:bodyPr anchor="b">
            <a:normAutofit fontScale="90000"/>
          </a:bodyPr>
          <a:lstStyle/>
          <a:p>
            <a:r>
              <a:rPr lang="en-US" dirty="0"/>
              <a:t>Efficient representation of joint probabilities (2/5)</a:t>
            </a:r>
            <a:endParaRPr lang="en-NL"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14AEF2D-CA62-36BF-B239-6C0BFF28E20F}"/>
                  </a:ext>
                </a:extLst>
              </p:cNvPr>
              <p:cNvSpPr>
                <a:spLocks/>
              </p:cNvSpPr>
              <p:nvPr/>
            </p:nvSpPr>
            <p:spPr>
              <a:xfrm>
                <a:off x="838199" y="2181171"/>
                <a:ext cx="5672015" cy="4150541"/>
              </a:xfrm>
              <a:prstGeom prst="rect">
                <a:avLst/>
              </a:prstGeom>
            </p:spPr>
            <p:txBody>
              <a:bodyPr>
                <a:normAutofit/>
              </a:bodyPr>
              <a:lstStyle/>
              <a:p>
                <a:pPr defTabSz="731520">
                  <a:spcAft>
                    <a:spcPts val="600"/>
                  </a:spcAft>
                </a:pPr>
                <a:r>
                  <a:rPr lang="en-US" sz="1440" kern="1200" dirty="0">
                    <a:solidFill>
                      <a:schemeClr val="tx1"/>
                    </a:solidFill>
                    <a:latin typeface="+mn-lt"/>
                    <a:ea typeface="+mn-ea"/>
                    <a:cs typeface="+mn-cs"/>
                  </a:rPr>
                  <a:t>Every table represents (conditional) probabilities:</a:t>
                </a:r>
                <a:br>
                  <a:rPr lang="en-US" sz="1440" kern="1200" dirty="0">
                    <a:solidFill>
                      <a:schemeClr val="tx1"/>
                    </a:solidFill>
                    <a:latin typeface="+mn-lt"/>
                    <a:ea typeface="+mn-ea"/>
                    <a:cs typeface="+mn-cs"/>
                  </a:rPr>
                </a:br>
                <a:endParaRPr lang="en-US" sz="1440" kern="1200" dirty="0">
                  <a:solidFill>
                    <a:schemeClr val="tx1"/>
                  </a:solidFill>
                  <a:latin typeface="+mn-lt"/>
                  <a:ea typeface="+mn-ea"/>
                  <a:cs typeface="+mn-cs"/>
                </a:endParaRP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For Difficulty and Intelligence random variables (RV) have two possible outcomes each. Note the two numbers sum up to one.</a:t>
                </a:r>
              </a:p>
              <a:p>
                <a:pPr marL="742950" lvl="1" indent="-285750" defTabSz="731520">
                  <a:spcAft>
                    <a:spcPts val="600"/>
                  </a:spcAft>
                  <a:buFont typeface="Arial" panose="020B0604020202020204" pitchFamily="34" charset="0"/>
                  <a:buChar char="•"/>
                </a:pPr>
                <a:endParaRPr lang="en-US" sz="1440" kern="1200" dirty="0">
                  <a:solidFill>
                    <a:schemeClr val="tx1"/>
                  </a:solidFill>
                  <a:latin typeface="+mn-lt"/>
                  <a:ea typeface="+mn-ea"/>
                  <a:cs typeface="+mn-cs"/>
                </a:endParaRP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Grade </a:t>
                </a:r>
                <a:r>
                  <a:rPr lang="en-US" sz="1440" dirty="0"/>
                  <a:t>RV </a:t>
                </a:r>
                <a:r>
                  <a:rPr lang="en-US" sz="1440" kern="1200" dirty="0">
                    <a:solidFill>
                      <a:schemeClr val="tx1"/>
                    </a:solidFill>
                    <a:latin typeface="+mn-lt"/>
                    <a:ea typeface="+mn-ea"/>
                    <a:cs typeface="+mn-cs"/>
                  </a:rPr>
                  <a:t>depends on difficulty and Intelligence and has 3 levels the table represents items like </a:t>
                </a:r>
                <a14:m>
                  <m:oMath xmlns:m="http://schemas.openxmlformats.org/officeDocument/2006/math">
                    <m:r>
                      <a:rPr lang="en-US" sz="1440" b="0" i="1" kern="1200" smtClean="0">
                        <a:solidFill>
                          <a:schemeClr val="tx1"/>
                        </a:solidFill>
                        <a:latin typeface="Cambria Math" panose="02040503050406030204" pitchFamily="18" charset="0"/>
                        <a:ea typeface="+mn-ea"/>
                        <a:cs typeface="+mn-cs"/>
                      </a:rPr>
                      <m:t>𝑃</m:t>
                    </m:r>
                    <m:d>
                      <m:dPr>
                        <m:endChr m:val="|"/>
                        <m:ctrlPr>
                          <a:rPr lang="en-US" sz="1440" b="0" i="1" kern="1200" smtClean="0">
                            <a:solidFill>
                              <a:schemeClr val="tx1"/>
                            </a:solidFill>
                            <a:latin typeface="Cambria Math" panose="02040503050406030204" pitchFamily="18" charset="0"/>
                            <a:ea typeface="+mn-ea"/>
                            <a:cs typeface="+mn-cs"/>
                          </a:rPr>
                        </m:ctrlPr>
                      </m:dPr>
                      <m:e>
                        <m:sSup>
                          <m:sSupPr>
                            <m:ctrlPr>
                              <a:rPr lang="en-US" sz="1440" b="0" i="1" kern="1200" smtClean="0">
                                <a:solidFill>
                                  <a:schemeClr val="tx1"/>
                                </a:solidFill>
                                <a:latin typeface="Cambria Math" panose="02040503050406030204" pitchFamily="18" charset="0"/>
                                <a:ea typeface="+mn-ea"/>
                                <a:cs typeface="+mn-cs"/>
                              </a:rPr>
                            </m:ctrlPr>
                          </m:sSupPr>
                          <m:e>
                            <m:r>
                              <a:rPr lang="en-US" sz="1440" b="0" i="1" kern="1200" smtClean="0">
                                <a:solidFill>
                                  <a:schemeClr val="tx1"/>
                                </a:solidFill>
                                <a:latin typeface="Cambria Math" panose="02040503050406030204" pitchFamily="18" charset="0"/>
                                <a:ea typeface="+mn-ea"/>
                                <a:cs typeface="+mn-cs"/>
                              </a:rPr>
                              <m:t>𝑔</m:t>
                            </m:r>
                          </m:e>
                          <m:sup>
                            <m:r>
                              <a:rPr lang="en-US" sz="1440" b="0" i="1" kern="1200" smtClean="0">
                                <a:solidFill>
                                  <a:schemeClr val="tx1"/>
                                </a:solidFill>
                                <a:latin typeface="Cambria Math" panose="02040503050406030204" pitchFamily="18" charset="0"/>
                                <a:ea typeface="+mn-ea"/>
                                <a:cs typeface="+mn-cs"/>
                              </a:rPr>
                              <m:t>1</m:t>
                            </m:r>
                          </m:sup>
                        </m:sSup>
                      </m:e>
                    </m:d>
                    <m:sSup>
                      <m:sSupPr>
                        <m:ctrlPr>
                          <a:rPr lang="en-US" sz="1440" b="0" i="1" kern="1200" smtClean="0">
                            <a:solidFill>
                              <a:schemeClr val="tx1"/>
                            </a:solidFill>
                            <a:latin typeface="Cambria Math" panose="02040503050406030204" pitchFamily="18" charset="0"/>
                            <a:ea typeface="+mn-ea"/>
                            <a:cs typeface="+mn-cs"/>
                          </a:rPr>
                        </m:ctrlPr>
                      </m:sSupPr>
                      <m:e>
                        <m:r>
                          <a:rPr lang="en-US" sz="1440" b="0" i="1" kern="1200" smtClean="0">
                            <a:solidFill>
                              <a:schemeClr val="tx1"/>
                            </a:solidFill>
                            <a:latin typeface="Cambria Math" panose="02040503050406030204" pitchFamily="18" charset="0"/>
                            <a:ea typeface="+mn-ea"/>
                            <a:cs typeface="+mn-cs"/>
                          </a:rPr>
                          <m:t>𝑖</m:t>
                        </m:r>
                      </m:e>
                      <m:sup>
                        <m:r>
                          <a:rPr lang="en-US" sz="1440" b="0" i="1" kern="1200" smtClean="0">
                            <a:solidFill>
                              <a:schemeClr val="tx1"/>
                            </a:solidFill>
                            <a:latin typeface="Cambria Math" panose="02040503050406030204" pitchFamily="18" charset="0"/>
                            <a:ea typeface="+mn-ea"/>
                            <a:cs typeface="+mn-cs"/>
                          </a:rPr>
                          <m:t>0</m:t>
                        </m:r>
                      </m:sup>
                    </m:sSup>
                    <m:r>
                      <a:rPr lang="en-US" sz="1440" b="0" i="1" kern="1200" smtClean="0">
                        <a:solidFill>
                          <a:schemeClr val="tx1"/>
                        </a:solidFill>
                        <a:latin typeface="Cambria Math" panose="02040503050406030204" pitchFamily="18" charset="0"/>
                        <a:ea typeface="+mn-ea"/>
                        <a:cs typeface="+mn-cs"/>
                      </a:rPr>
                      <m:t>,</m:t>
                    </m:r>
                    <m:sSup>
                      <m:sSupPr>
                        <m:ctrlPr>
                          <a:rPr lang="en-US" sz="1440" b="0" i="1" kern="1200" smtClean="0">
                            <a:solidFill>
                              <a:schemeClr val="tx1"/>
                            </a:solidFill>
                            <a:latin typeface="Cambria Math" panose="02040503050406030204" pitchFamily="18" charset="0"/>
                            <a:ea typeface="+mn-ea"/>
                            <a:cs typeface="+mn-cs"/>
                          </a:rPr>
                        </m:ctrlPr>
                      </m:sSupPr>
                      <m:e>
                        <m:r>
                          <a:rPr lang="en-US" sz="1440" b="0" i="1" kern="1200" smtClean="0">
                            <a:solidFill>
                              <a:schemeClr val="tx1"/>
                            </a:solidFill>
                            <a:latin typeface="Cambria Math" panose="02040503050406030204" pitchFamily="18" charset="0"/>
                            <a:ea typeface="+mn-ea"/>
                            <a:cs typeface="+mn-cs"/>
                          </a:rPr>
                          <m:t>𝑑</m:t>
                        </m:r>
                      </m:e>
                      <m:sup>
                        <m:r>
                          <a:rPr lang="en-US" sz="1440" b="0" i="1" kern="1200" smtClean="0">
                            <a:solidFill>
                              <a:schemeClr val="tx1"/>
                            </a:solidFill>
                            <a:latin typeface="Cambria Math" panose="02040503050406030204" pitchFamily="18" charset="0"/>
                            <a:ea typeface="+mn-ea"/>
                            <a:cs typeface="+mn-cs"/>
                          </a:rPr>
                          <m:t>0</m:t>
                        </m:r>
                      </m:sup>
                    </m:sSup>
                    <m:r>
                      <a:rPr lang="en-US" sz="1440" b="0" i="1" kern="1200" smtClean="0">
                        <a:solidFill>
                          <a:schemeClr val="tx1"/>
                        </a:solidFill>
                        <a:latin typeface="Cambria Math" panose="02040503050406030204" pitchFamily="18" charset="0"/>
                        <a:ea typeface="+mn-ea"/>
                        <a:cs typeface="+mn-cs"/>
                      </a:rPr>
                      <m:t>)=0.3</m:t>
                    </m:r>
                  </m:oMath>
                </a14:m>
                <a:endParaRPr lang="en-US" sz="1440" kern="1200" dirty="0">
                  <a:solidFill>
                    <a:schemeClr val="tx1"/>
                  </a:solidFill>
                  <a:latin typeface="+mn-lt"/>
                  <a:ea typeface="+mn-ea"/>
                  <a:cs typeface="+mn-cs"/>
                </a:endParaRPr>
              </a:p>
              <a:p>
                <a:pPr marL="742950" lvl="1" indent="-285750" defTabSz="731520">
                  <a:spcAft>
                    <a:spcPts val="600"/>
                  </a:spcAft>
                  <a:buFont typeface="Arial" panose="020B0604020202020204" pitchFamily="34" charset="0"/>
                  <a:buChar char="•"/>
                </a:pPr>
                <a:endParaRPr lang="en-US" sz="1440" kern="1200" dirty="0">
                  <a:solidFill>
                    <a:schemeClr val="tx1"/>
                  </a:solidFill>
                  <a:latin typeface="+mn-lt"/>
                  <a:ea typeface="+mn-ea"/>
                  <a:cs typeface="+mn-cs"/>
                </a:endParaRP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SAT exam results depend on intelligence</a:t>
                </a:r>
              </a:p>
              <a:p>
                <a:pPr marL="742950" lvl="1" indent="-285750" defTabSz="731520">
                  <a:spcAft>
                    <a:spcPts val="600"/>
                  </a:spcAft>
                  <a:buFont typeface="Arial" panose="020B0604020202020204" pitchFamily="34" charset="0"/>
                  <a:buChar char="•"/>
                </a:pPr>
                <a:r>
                  <a:rPr lang="en-US" sz="1440" kern="1200" dirty="0">
                    <a:solidFill>
                      <a:schemeClr val="tx1"/>
                    </a:solidFill>
                    <a:latin typeface="+mn-lt"/>
                    <a:ea typeface="+mn-ea"/>
                    <a:cs typeface="+mn-cs"/>
                  </a:rPr>
                  <a:t>Getting a recommendation letter depends on the grade.</a:t>
                </a:r>
                <a:endParaRPr lang="en-US" sz="1440" dirty="0"/>
              </a:p>
              <a:p>
                <a:pPr marL="742950" lvl="1" indent="-285750" defTabSz="731520">
                  <a:spcAft>
                    <a:spcPts val="600"/>
                  </a:spcAft>
                  <a:buFont typeface="Arial" panose="020B0604020202020204" pitchFamily="34" charset="0"/>
                  <a:buChar char="•"/>
                </a:pPr>
                <a:endParaRPr lang="en-US" sz="1440" kern="1200" dirty="0">
                  <a:solidFill>
                    <a:schemeClr val="tx1"/>
                  </a:solidFill>
                  <a:latin typeface="+mn-lt"/>
                  <a:ea typeface="+mn-ea"/>
                  <a:cs typeface="+mn-cs"/>
                </a:endParaRPr>
              </a:p>
              <a:p>
                <a:pPr lvl="1" defTabSz="731520">
                  <a:spcAft>
                    <a:spcPts val="600"/>
                  </a:spcAft>
                </a:pPr>
                <a:endParaRPr lang="en-US" sz="1440" kern="1200" dirty="0">
                  <a:solidFill>
                    <a:schemeClr val="tx1"/>
                  </a:solidFill>
                  <a:latin typeface="+mn-lt"/>
                  <a:ea typeface="+mn-ea"/>
                  <a:cs typeface="+mn-cs"/>
                </a:endParaRPr>
              </a:p>
              <a:p>
                <a:pPr defTabSz="731520">
                  <a:spcAft>
                    <a:spcPts val="600"/>
                  </a:spcAft>
                </a:pPr>
                <a:r>
                  <a:rPr lang="en-US" sz="1440" kern="1200" dirty="0">
                    <a:solidFill>
                      <a:schemeClr val="tx1"/>
                    </a:solidFill>
                    <a:latin typeface="+mn-lt"/>
                    <a:ea typeface="+mn-ea"/>
                    <a:cs typeface="+mn-cs"/>
                  </a:rPr>
                  <a:t>See more explanations next slide</a:t>
                </a:r>
                <a:endParaRPr lang="en-US" dirty="0"/>
              </a:p>
            </p:txBody>
          </p:sp>
        </mc:Choice>
        <mc:Fallback xmlns="">
          <p:sp>
            <p:nvSpPr>
              <p:cNvPr id="5" name="Content Placeholder 4">
                <a:extLst>
                  <a:ext uri="{FF2B5EF4-FFF2-40B4-BE49-F238E27FC236}">
                    <a16:creationId xmlns:a16="http://schemas.microsoft.com/office/drawing/2014/main" id="{414AEF2D-CA62-36BF-B239-6C0BFF28E20F}"/>
                  </a:ext>
                </a:extLst>
              </p:cNvPr>
              <p:cNvSpPr>
                <a:spLocks noRot="1" noChangeAspect="1" noMove="1" noResize="1" noEditPoints="1" noAdjustHandles="1" noChangeArrowheads="1" noChangeShapeType="1" noTextEdit="1"/>
              </p:cNvSpPr>
              <p:nvPr/>
            </p:nvSpPr>
            <p:spPr>
              <a:xfrm>
                <a:off x="838199" y="2181171"/>
                <a:ext cx="5672015" cy="4150541"/>
              </a:xfrm>
              <a:prstGeom prst="rect">
                <a:avLst/>
              </a:prstGeom>
              <a:blipFill>
                <a:blip r:embed="rId2"/>
                <a:stretch>
                  <a:fillRect l="-322" t="-294" r="-752"/>
                </a:stretch>
              </a:blipFill>
            </p:spPr>
            <p:txBody>
              <a:bodyPr/>
              <a:lstStyle/>
              <a:p>
                <a:r>
                  <a:rPr lang="en-NL">
                    <a:noFill/>
                  </a:rPr>
                  <a:t> </a:t>
                </a:r>
              </a:p>
            </p:txBody>
          </p:sp>
        </mc:Fallback>
      </mc:AlternateContent>
      <p:pic>
        <p:nvPicPr>
          <p:cNvPr id="1026" name="Picture 2">
            <a:extLst>
              <a:ext uri="{FF2B5EF4-FFF2-40B4-BE49-F238E27FC236}">
                <a16:creationId xmlns:a16="http://schemas.microsoft.com/office/drawing/2014/main" id="{4C6117D5-A788-4828-2D17-BC20D3C2D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7994" y="2181171"/>
            <a:ext cx="4697876" cy="371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88E61E-91C5-7B53-4A30-0FCD2C1635EE}"/>
              </a:ext>
            </a:extLst>
          </p:cNvPr>
          <p:cNvSpPr txBox="1"/>
          <p:nvPr/>
        </p:nvSpPr>
        <p:spPr>
          <a:xfrm>
            <a:off x="8700210" y="6109220"/>
            <a:ext cx="4888790" cy="313932"/>
          </a:xfrm>
          <a:prstGeom prst="rect">
            <a:avLst/>
          </a:prstGeom>
          <a:noFill/>
        </p:spPr>
        <p:txBody>
          <a:bodyPr wrap="square">
            <a:spAutoFit/>
          </a:bodyPr>
          <a:lstStyle/>
          <a:p>
            <a:pPr defTabSz="731520">
              <a:spcAft>
                <a:spcPts val="600"/>
              </a:spcAft>
            </a:pPr>
            <a:r>
              <a:rPr lang="en-US" sz="1440" kern="1200" dirty="0">
                <a:solidFill>
                  <a:schemeClr val="tx1"/>
                </a:solidFill>
                <a:latin typeface="+mn-lt"/>
                <a:ea typeface="+mn-ea"/>
                <a:cs typeface="+mn-cs"/>
                <a:hlinkClick r:id="rId4"/>
              </a:rPr>
              <a:t>Bayesian networks (ermongroup.github.io)</a:t>
            </a:r>
            <a:endParaRPr lang="en-NL" dirty="0"/>
          </a:p>
        </p:txBody>
      </p:sp>
    </p:spTree>
    <p:extLst>
      <p:ext uri="{BB962C8B-B14F-4D97-AF65-F5344CB8AC3E}">
        <p14:creationId xmlns:p14="http://schemas.microsoft.com/office/powerpoint/2010/main" val="30335743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36487-B266-12B4-7664-A1B038FE0DCE}"/>
              </a:ext>
            </a:extLst>
          </p:cNvPr>
          <p:cNvSpPr>
            <a:spLocks noGrp="1"/>
          </p:cNvSpPr>
          <p:nvPr>
            <p:ph type="title"/>
          </p:nvPr>
        </p:nvSpPr>
        <p:spPr>
          <a:xfrm>
            <a:off x="841248" y="256032"/>
            <a:ext cx="10506456" cy="1014984"/>
          </a:xfrm>
        </p:spPr>
        <p:txBody>
          <a:bodyPr anchor="b">
            <a:normAutofit fontScale="90000"/>
          </a:bodyPr>
          <a:lstStyle/>
          <a:p>
            <a:r>
              <a:rPr lang="en-US" dirty="0"/>
              <a:t>Efficient representation of joint probabilities (3/5)</a:t>
            </a:r>
            <a:endParaRPr lang="en-NL"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14AEF2D-CA62-36BF-B239-6C0BFF28E20F}"/>
                  </a:ext>
                </a:extLst>
              </p:cNvPr>
              <p:cNvSpPr>
                <a:spLocks/>
              </p:cNvSpPr>
              <p:nvPr/>
            </p:nvSpPr>
            <p:spPr>
              <a:xfrm>
                <a:off x="838199" y="2181171"/>
                <a:ext cx="5672015" cy="4150541"/>
              </a:xfrm>
              <a:prstGeom prst="rect">
                <a:avLst/>
              </a:prstGeom>
            </p:spPr>
            <p:txBody>
              <a:bodyPr>
                <a:normAutofit lnSpcReduction="10000"/>
              </a:bodyPr>
              <a:lstStyle/>
              <a:p>
                <a:pPr defTabSz="731520">
                  <a:spcAft>
                    <a:spcPts val="600"/>
                  </a:spcAft>
                </a:pPr>
                <a:r>
                  <a:rPr lang="en-US" sz="1440" kern="1200" dirty="0">
                    <a:solidFill>
                      <a:schemeClr val="tx1"/>
                    </a:solidFill>
                    <a:latin typeface="+mn-lt"/>
                    <a:ea typeface="+mn-ea"/>
                    <a:cs typeface="+mn-cs"/>
                  </a:rPr>
                  <a:t>These tables are everything you need to know to build the joint probability. The joint probability contains all the information you need for your probabilistic computations. </a:t>
                </a:r>
              </a:p>
              <a:p>
                <a:pPr defTabSz="731520">
                  <a:spcAft>
                    <a:spcPts val="600"/>
                  </a:spcAft>
                </a:pPr>
                <a:endParaRPr lang="en-US" sz="1440" dirty="0"/>
              </a:p>
              <a:p>
                <a:pPr defTabSz="731520">
                  <a:spcAft>
                    <a:spcPts val="600"/>
                  </a:spcAft>
                </a:pPr>
                <a:r>
                  <a:rPr lang="en-US" sz="1440" dirty="0"/>
                  <a:t>Example: we want to compute the joint probability</a:t>
                </a:r>
              </a:p>
              <a:p>
                <a:pPr defTabSz="731520">
                  <a:spcAft>
                    <a:spcPts val="600"/>
                  </a:spcAft>
                </a:pPr>
                <a14:m>
                  <m:oMathPara xmlns:m="http://schemas.openxmlformats.org/officeDocument/2006/math">
                    <m:oMath>
                      <m:r>
                        <a:rPr lang="en-US" sz="1440" b="0" i="1" smtClean="0">
                          <a:latin typeface="Cambria Math" panose="02040503050406030204" pitchFamily="18" charset="0"/>
                        </a:rPr>
                        <m:t>𝑃</m:t>
                      </m:r>
                      <m:r>
                        <a:rPr lang="en-US" sz="1440" b="0" i="1" smtClean="0">
                          <a:latin typeface="Cambria Math" panose="02040503050406030204" pitchFamily="18" charset="0"/>
                        </a:rPr>
                        <m:t>(</m:t>
                      </m:r>
                      <m:r>
                        <a:rPr lang="en-US" sz="1440" b="0" i="1" smtClean="0">
                          <a:latin typeface="Cambria Math" panose="02040503050406030204" pitchFamily="18" charset="0"/>
                        </a:rPr>
                        <m:t>𝐷</m:t>
                      </m:r>
                      <m:r>
                        <a:rPr lang="en-US" sz="1440" b="0" i="1" smtClean="0">
                          <a:latin typeface="Cambria Math" panose="02040503050406030204" pitchFamily="18" charset="0"/>
                        </a:rPr>
                        <m:t>=</m:t>
                      </m:r>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𝑑</m:t>
                          </m:r>
                        </m:e>
                        <m:sup>
                          <m:r>
                            <a:rPr lang="en-US" sz="1440" b="0" i="1" smtClean="0">
                              <a:latin typeface="Cambria Math" panose="02040503050406030204" pitchFamily="18" charset="0"/>
                            </a:rPr>
                            <m:t>0</m:t>
                          </m:r>
                        </m:sup>
                      </m:sSup>
                      <m:r>
                        <a:rPr lang="en-US" sz="1440" b="0" i="1" smtClean="0">
                          <a:latin typeface="Cambria Math" panose="02040503050406030204" pitchFamily="18" charset="0"/>
                        </a:rPr>
                        <m:t>,</m:t>
                      </m:r>
                      <m:r>
                        <a:rPr lang="en-US" sz="1440" b="0" i="1" smtClean="0">
                          <a:latin typeface="Cambria Math" panose="02040503050406030204" pitchFamily="18" charset="0"/>
                        </a:rPr>
                        <m:t>𝐼</m:t>
                      </m:r>
                      <m:r>
                        <a:rPr lang="en-US" sz="1440" b="0" i="1" smtClean="0">
                          <a:latin typeface="Cambria Math" panose="02040503050406030204" pitchFamily="18" charset="0"/>
                        </a:rPr>
                        <m:t>=</m:t>
                      </m:r>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𝑖</m:t>
                          </m:r>
                        </m:e>
                        <m:sup>
                          <m:r>
                            <a:rPr lang="en-US" sz="1440" b="0" i="1" smtClean="0">
                              <a:latin typeface="Cambria Math" panose="02040503050406030204" pitchFamily="18" charset="0"/>
                            </a:rPr>
                            <m:t>1</m:t>
                          </m:r>
                        </m:sup>
                      </m:sSup>
                      <m:r>
                        <a:rPr lang="en-US" sz="1440" b="0" i="1" smtClean="0">
                          <a:latin typeface="Cambria Math" panose="02040503050406030204" pitchFamily="18" charset="0"/>
                        </a:rPr>
                        <m:t>,</m:t>
                      </m:r>
                      <m:r>
                        <a:rPr lang="en-US" sz="1440" b="0" i="1" smtClean="0">
                          <a:latin typeface="Cambria Math" panose="02040503050406030204" pitchFamily="18" charset="0"/>
                        </a:rPr>
                        <m:t>𝐺</m:t>
                      </m:r>
                      <m:r>
                        <a:rPr lang="en-US" sz="1440" b="0" i="1" smtClean="0">
                          <a:latin typeface="Cambria Math" panose="02040503050406030204" pitchFamily="18" charset="0"/>
                        </a:rPr>
                        <m:t>=</m:t>
                      </m:r>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𝑔</m:t>
                          </m:r>
                        </m:e>
                        <m:sup>
                          <m:r>
                            <a:rPr lang="en-US" sz="1440" b="0" i="1" smtClean="0">
                              <a:latin typeface="Cambria Math" panose="02040503050406030204" pitchFamily="18" charset="0"/>
                            </a:rPr>
                            <m:t>2</m:t>
                          </m:r>
                        </m:sup>
                      </m:sSup>
                      <m:r>
                        <a:rPr lang="en-US" sz="1440" b="0" i="1" smtClean="0">
                          <a:latin typeface="Cambria Math" panose="02040503050406030204" pitchFamily="18" charset="0"/>
                        </a:rPr>
                        <m:t>,</m:t>
                      </m:r>
                      <m:r>
                        <a:rPr lang="en-US" sz="1440" b="0" i="1" smtClean="0">
                          <a:latin typeface="Cambria Math" panose="02040503050406030204" pitchFamily="18" charset="0"/>
                        </a:rPr>
                        <m:t>𝑆</m:t>
                      </m:r>
                      <m:r>
                        <a:rPr lang="en-US" sz="1440" b="0" i="1" smtClean="0">
                          <a:latin typeface="Cambria Math" panose="02040503050406030204" pitchFamily="18" charset="0"/>
                        </a:rPr>
                        <m:t>=</m:t>
                      </m:r>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𝑠</m:t>
                          </m:r>
                        </m:e>
                        <m:sup>
                          <m:r>
                            <a:rPr lang="en-US" sz="1440" b="0" i="1" smtClean="0">
                              <a:latin typeface="Cambria Math" panose="02040503050406030204" pitchFamily="18" charset="0"/>
                            </a:rPr>
                            <m:t>0</m:t>
                          </m:r>
                        </m:sup>
                      </m:sSup>
                      <m:r>
                        <a:rPr lang="en-US" sz="1440" b="0" i="1" smtClean="0">
                          <a:latin typeface="Cambria Math" panose="02040503050406030204" pitchFamily="18" charset="0"/>
                        </a:rPr>
                        <m:t>,</m:t>
                      </m:r>
                      <m:r>
                        <a:rPr lang="en-US" sz="1440" b="0" i="1" smtClean="0">
                          <a:latin typeface="Cambria Math" panose="02040503050406030204" pitchFamily="18" charset="0"/>
                        </a:rPr>
                        <m:t>𝐿</m:t>
                      </m:r>
                      <m:r>
                        <a:rPr lang="en-US" sz="1440" b="0" i="1" smtClean="0">
                          <a:latin typeface="Cambria Math" panose="02040503050406030204" pitchFamily="18" charset="0"/>
                        </a:rPr>
                        <m:t>=</m:t>
                      </m:r>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𝑙</m:t>
                          </m:r>
                        </m:e>
                        <m:sup>
                          <m:r>
                            <a:rPr lang="en-US" sz="1440" b="0" i="1" smtClean="0">
                              <a:latin typeface="Cambria Math" panose="02040503050406030204" pitchFamily="18" charset="0"/>
                            </a:rPr>
                            <m:t>0</m:t>
                          </m:r>
                        </m:sup>
                      </m:sSup>
                      <m:r>
                        <a:rPr lang="en-US" sz="1440" b="0" i="1" smtClean="0">
                          <a:latin typeface="Cambria Math" panose="02040503050406030204" pitchFamily="18" charset="0"/>
                        </a:rPr>
                        <m:t>)</m:t>
                      </m:r>
                    </m:oMath>
                  </m:oMathPara>
                </a14:m>
                <a:endParaRPr lang="en-US" sz="1440" dirty="0"/>
              </a:p>
              <a:p>
                <a:pPr defTabSz="731520">
                  <a:spcAft>
                    <a:spcPts val="600"/>
                  </a:spcAft>
                </a:pPr>
                <a:endParaRPr lang="en-US" sz="1440" dirty="0"/>
              </a:p>
              <a:p>
                <a:pPr defTabSz="731520">
                  <a:spcAft>
                    <a:spcPts val="600"/>
                  </a:spcAft>
                </a:pPr>
                <a:r>
                  <a:rPr lang="en-US" sz="1440" dirty="0"/>
                  <a:t>which is the probability for a following data point: a student with a higher level of intelligence </a:t>
                </a:r>
                <a14:m>
                  <m:oMath xmlns:m="http://schemas.openxmlformats.org/officeDocument/2006/math">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𝑖</m:t>
                        </m:r>
                      </m:e>
                      <m:sup>
                        <m:r>
                          <a:rPr lang="en-US" sz="1440" b="0" i="1" smtClean="0">
                            <a:latin typeface="Cambria Math" panose="02040503050406030204" pitchFamily="18" charset="0"/>
                          </a:rPr>
                          <m:t>1</m:t>
                        </m:r>
                      </m:sup>
                    </m:sSup>
                  </m:oMath>
                </a14:m>
                <a:r>
                  <a:rPr lang="en-US" sz="1440" dirty="0"/>
                  <a:t>, a exam with lower level of difficulty </a:t>
                </a:r>
                <a14:m>
                  <m:oMath xmlns:m="http://schemas.openxmlformats.org/officeDocument/2006/math">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𝑑</m:t>
                        </m:r>
                      </m:e>
                      <m:sup>
                        <m:r>
                          <a:rPr lang="en-US" sz="1440" b="0" i="1" smtClean="0">
                            <a:latin typeface="Cambria Math" panose="02040503050406030204" pitchFamily="18" charset="0"/>
                          </a:rPr>
                          <m:t>0</m:t>
                        </m:r>
                      </m:sup>
                    </m:sSup>
                  </m:oMath>
                </a14:m>
                <a:r>
                  <a:rPr lang="en-US" sz="1440" dirty="0"/>
                  <a:t>, got an average grade </a:t>
                </a:r>
                <a14:m>
                  <m:oMath xmlns:m="http://schemas.openxmlformats.org/officeDocument/2006/math">
                    <m:sSup>
                      <m:sSupPr>
                        <m:ctrlPr>
                          <a:rPr lang="en-US" sz="1440" i="1">
                            <a:latin typeface="Cambria Math" panose="02040503050406030204" pitchFamily="18" charset="0"/>
                          </a:rPr>
                        </m:ctrlPr>
                      </m:sSupPr>
                      <m:e>
                        <m:r>
                          <a:rPr lang="en-US" sz="1440" i="1">
                            <a:latin typeface="Cambria Math" panose="02040503050406030204" pitchFamily="18" charset="0"/>
                          </a:rPr>
                          <m:t>𝑔</m:t>
                        </m:r>
                      </m:e>
                      <m:sup>
                        <m:r>
                          <a:rPr lang="en-US" sz="1440" i="1">
                            <a:latin typeface="Cambria Math" panose="02040503050406030204" pitchFamily="18" charset="0"/>
                          </a:rPr>
                          <m:t>2</m:t>
                        </m:r>
                      </m:sup>
                    </m:sSup>
                  </m:oMath>
                </a14:m>
                <a:r>
                  <a:rPr lang="en-US" sz="1440" dirty="0"/>
                  <a:t> and a lower SAT grade </a:t>
                </a:r>
                <a14:m>
                  <m:oMath xmlns:m="http://schemas.openxmlformats.org/officeDocument/2006/math">
                    <m:sSup>
                      <m:sSupPr>
                        <m:ctrlPr>
                          <a:rPr lang="en-US" sz="1440" i="1">
                            <a:latin typeface="Cambria Math" panose="02040503050406030204" pitchFamily="18" charset="0"/>
                          </a:rPr>
                        </m:ctrlPr>
                      </m:sSupPr>
                      <m:e>
                        <m:r>
                          <a:rPr lang="en-US" sz="1440" i="1">
                            <a:latin typeface="Cambria Math" panose="02040503050406030204" pitchFamily="18" charset="0"/>
                          </a:rPr>
                          <m:t>𝑠</m:t>
                        </m:r>
                      </m:e>
                      <m:sup>
                        <m:r>
                          <a:rPr lang="en-US" sz="1440" i="1">
                            <a:latin typeface="Cambria Math" panose="02040503050406030204" pitchFamily="18" charset="0"/>
                          </a:rPr>
                          <m:t>0</m:t>
                        </m:r>
                      </m:sup>
                    </m:sSup>
                  </m:oMath>
                </a14:m>
                <a:r>
                  <a:rPr lang="en-US" sz="1440" dirty="0"/>
                  <a:t> and did not get a recommendation letter </a:t>
                </a:r>
                <a14:m>
                  <m:oMath xmlns:m="http://schemas.openxmlformats.org/officeDocument/2006/math">
                    <m:sSup>
                      <m:sSupPr>
                        <m:ctrlPr>
                          <a:rPr lang="en-US" sz="1440" i="1">
                            <a:latin typeface="Cambria Math" panose="02040503050406030204" pitchFamily="18" charset="0"/>
                          </a:rPr>
                        </m:ctrlPr>
                      </m:sSupPr>
                      <m:e>
                        <m:r>
                          <a:rPr lang="en-US" sz="1440" i="1">
                            <a:latin typeface="Cambria Math" panose="02040503050406030204" pitchFamily="18" charset="0"/>
                          </a:rPr>
                          <m:t>𝑙</m:t>
                        </m:r>
                      </m:e>
                      <m:sup>
                        <m:r>
                          <a:rPr lang="en-US" sz="1440" i="1">
                            <a:latin typeface="Cambria Math" panose="02040503050406030204" pitchFamily="18" charset="0"/>
                          </a:rPr>
                          <m:t>0</m:t>
                        </m:r>
                      </m:sup>
                    </m:sSup>
                  </m:oMath>
                </a14:m>
                <a:r>
                  <a:rPr lang="en-US" sz="1440" dirty="0"/>
                  <a:t>.</a:t>
                </a:r>
              </a:p>
              <a:p>
                <a:pPr defTabSz="731520">
                  <a:spcAft>
                    <a:spcPts val="600"/>
                  </a:spcAft>
                </a:pPr>
                <a:endParaRPr lang="en-US" sz="1440" dirty="0"/>
              </a:p>
              <a:p>
                <a:pPr defTabSz="731520">
                  <a:spcAft>
                    <a:spcPts val="600"/>
                  </a:spcAft>
                </a:pPr>
                <a14:m>
                  <m:oMathPara xmlns:m="http://schemas.openxmlformats.org/officeDocument/2006/math">
                    <m:oMath>
                      <m:r>
                        <a:rPr lang="en-US" sz="1200" b="0" i="1" smtClean="0">
                          <a:latin typeface="Cambria Math" panose="02040503050406030204" pitchFamily="18" charset="0"/>
                        </a:rPr>
                        <m:t>𝑃</m:t>
                      </m:r>
                      <m:r>
                        <a:rPr lang="en-US" sz="1200" b="0" i="1" smtClean="0">
                          <a:latin typeface="Cambria Math" panose="02040503050406030204" pitchFamily="18" charset="0"/>
                        </a:rPr>
                        <m:t>(</m:t>
                      </m:r>
                      <m:r>
                        <a:rPr lang="en-US" sz="1200" b="0" i="1" smtClean="0">
                          <a:latin typeface="Cambria Math" panose="02040503050406030204" pitchFamily="18" charset="0"/>
                        </a:rPr>
                        <m:t>𝐷</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𝑑</m:t>
                          </m:r>
                        </m:e>
                        <m:sup>
                          <m:r>
                            <a:rPr lang="en-US" sz="1200" b="0" i="1" smtClean="0">
                              <a:latin typeface="Cambria Math" panose="02040503050406030204" pitchFamily="18" charset="0"/>
                            </a:rPr>
                            <m:t>0</m:t>
                          </m:r>
                        </m:sup>
                      </m:sSup>
                      <m:r>
                        <a:rPr lang="en-US" sz="1200" b="0" i="1" smtClean="0">
                          <a:latin typeface="Cambria Math" panose="02040503050406030204" pitchFamily="18" charset="0"/>
                        </a:rPr>
                        <m:t>)</m:t>
                      </m:r>
                      <m:r>
                        <a:rPr lang="en-US" sz="1200" i="1">
                          <a:latin typeface="Cambria Math" panose="02040503050406030204" pitchFamily="18" charset="0"/>
                        </a:rPr>
                        <m:t>𝑃</m:t>
                      </m:r>
                      <m:r>
                        <a:rPr lang="en-US" sz="1200" i="1">
                          <a:latin typeface="Cambria Math" panose="02040503050406030204" pitchFamily="18" charset="0"/>
                        </a:rPr>
                        <m:t>(</m:t>
                      </m:r>
                      <m:r>
                        <a:rPr lang="en-US" sz="1200" i="1">
                          <a:latin typeface="Cambria Math" panose="02040503050406030204" pitchFamily="18" charset="0"/>
                        </a:rPr>
                        <m:t>𝐼</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𝑖</m:t>
                          </m:r>
                        </m:e>
                        <m:sup>
                          <m:r>
                            <a:rPr lang="en-US" sz="1200" i="1">
                              <a:latin typeface="Cambria Math" panose="02040503050406030204" pitchFamily="18" charset="0"/>
                            </a:rPr>
                            <m:t>1</m:t>
                          </m:r>
                        </m:sup>
                      </m:sSup>
                      <m:r>
                        <a:rPr lang="en-US" sz="1200" i="1">
                          <a:latin typeface="Cambria Math" panose="02040503050406030204" pitchFamily="18" charset="0"/>
                        </a:rPr>
                        <m:t>)</m:t>
                      </m:r>
                      <m:r>
                        <a:rPr lang="en-US" sz="1200" i="1">
                          <a:latin typeface="Cambria Math" panose="02040503050406030204" pitchFamily="18" charset="0"/>
                        </a:rPr>
                        <m:t>𝑃</m:t>
                      </m:r>
                      <m:r>
                        <a:rPr lang="en-US" sz="1200" i="1">
                          <a:latin typeface="Cambria Math" panose="02040503050406030204" pitchFamily="18" charset="0"/>
                        </a:rPr>
                        <m:t>(</m:t>
                      </m:r>
                      <m:r>
                        <a:rPr lang="en-US" sz="1200" i="1">
                          <a:latin typeface="Cambria Math" panose="02040503050406030204" pitchFamily="18" charset="0"/>
                        </a:rPr>
                        <m:t>𝐺</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𝑔</m:t>
                          </m:r>
                        </m:e>
                        <m:sup>
                          <m:r>
                            <a:rPr lang="en-US" sz="1200" i="1">
                              <a:latin typeface="Cambria Math" panose="02040503050406030204" pitchFamily="18" charset="0"/>
                            </a:rPr>
                            <m:t>2</m:t>
                          </m:r>
                        </m:sup>
                      </m:sSup>
                      <m:r>
                        <a:rPr lang="en-US" sz="1200" b="0" i="1" smtClean="0">
                          <a:latin typeface="Cambria Math" panose="02040503050406030204" pitchFamily="18" charset="0"/>
                        </a:rPr>
                        <m:t>|</m:t>
                      </m:r>
                      <m:r>
                        <a:rPr lang="en-US" sz="1200" i="1">
                          <a:latin typeface="Cambria Math" panose="02040503050406030204" pitchFamily="18" charset="0"/>
                        </a:rPr>
                        <m:t>𝐷</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𝑑</m:t>
                          </m:r>
                        </m:e>
                        <m:sup>
                          <m:r>
                            <a:rPr lang="en-US" sz="1200" i="1">
                              <a:latin typeface="Cambria Math" panose="02040503050406030204" pitchFamily="18" charset="0"/>
                            </a:rPr>
                            <m:t>0</m:t>
                          </m:r>
                        </m:sup>
                      </m:sSup>
                      <m:r>
                        <a:rPr lang="en-US" sz="1200" i="1">
                          <a:latin typeface="Cambria Math" panose="02040503050406030204" pitchFamily="18" charset="0"/>
                        </a:rPr>
                        <m:t>,</m:t>
                      </m:r>
                      <m:r>
                        <a:rPr lang="en-US" sz="1200" i="1">
                          <a:latin typeface="Cambria Math" panose="02040503050406030204" pitchFamily="18" charset="0"/>
                        </a:rPr>
                        <m:t>𝐼</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𝑖</m:t>
                          </m:r>
                        </m:e>
                        <m:sup>
                          <m:r>
                            <a:rPr lang="en-US" sz="1200" i="1">
                              <a:latin typeface="Cambria Math" panose="02040503050406030204" pitchFamily="18" charset="0"/>
                            </a:rPr>
                            <m:t>1</m:t>
                          </m:r>
                        </m:sup>
                      </m:sSup>
                      <m:r>
                        <a:rPr lang="en-US" sz="1200" i="1">
                          <a:latin typeface="Cambria Math" panose="02040503050406030204" pitchFamily="18" charset="0"/>
                        </a:rPr>
                        <m:t>)</m:t>
                      </m:r>
                      <m:r>
                        <a:rPr lang="en-US" sz="1200" i="1">
                          <a:latin typeface="Cambria Math" panose="02040503050406030204" pitchFamily="18" charset="0"/>
                        </a:rPr>
                        <m:t>𝑃</m:t>
                      </m:r>
                      <m:r>
                        <a:rPr lang="en-US" sz="1200" i="1">
                          <a:latin typeface="Cambria Math" panose="02040503050406030204" pitchFamily="18" charset="0"/>
                        </a:rPr>
                        <m:t>(</m:t>
                      </m:r>
                      <m:r>
                        <a:rPr lang="en-US" sz="1200" b="0" i="1" smtClean="0">
                          <a:latin typeface="Cambria Math" panose="02040503050406030204" pitchFamily="18" charset="0"/>
                        </a:rPr>
                        <m:t>𝑆</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0</m:t>
                          </m:r>
                        </m:sup>
                      </m:sSup>
                      <m:r>
                        <a:rPr lang="en-US" sz="1200" i="1">
                          <a:latin typeface="Cambria Math" panose="02040503050406030204" pitchFamily="18" charset="0"/>
                        </a:rPr>
                        <m:t>|</m:t>
                      </m:r>
                      <m:r>
                        <a:rPr lang="en-US" sz="1200" i="1">
                          <a:latin typeface="Cambria Math" panose="02040503050406030204" pitchFamily="18" charset="0"/>
                        </a:rPr>
                        <m:t>𝐼</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𝑖</m:t>
                          </m:r>
                        </m:e>
                        <m:sup>
                          <m:r>
                            <a:rPr lang="en-US" sz="1200" i="1">
                              <a:latin typeface="Cambria Math" panose="02040503050406030204" pitchFamily="18" charset="0"/>
                            </a:rPr>
                            <m:t>1</m:t>
                          </m:r>
                        </m:sup>
                      </m:sSup>
                      <m:r>
                        <a:rPr lang="en-US" sz="1200" i="1">
                          <a:latin typeface="Cambria Math" panose="02040503050406030204" pitchFamily="18" charset="0"/>
                        </a:rPr>
                        <m:t>)</m:t>
                      </m:r>
                      <m:r>
                        <a:rPr lang="en-US" sz="1200" i="1">
                          <a:latin typeface="Cambria Math" panose="02040503050406030204" pitchFamily="18" charset="0"/>
                        </a:rPr>
                        <m:t>𝑃</m:t>
                      </m:r>
                      <m:r>
                        <a:rPr lang="en-US" sz="1200" i="1">
                          <a:latin typeface="Cambria Math" panose="02040503050406030204" pitchFamily="18" charset="0"/>
                        </a:rPr>
                        <m:t>(</m:t>
                      </m:r>
                      <m:r>
                        <a:rPr lang="en-US" sz="1200" i="1">
                          <a:latin typeface="Cambria Math" panose="02040503050406030204" pitchFamily="18" charset="0"/>
                        </a:rPr>
                        <m:t>𝐿</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𝑙</m:t>
                          </m:r>
                        </m:e>
                        <m:sup>
                          <m:r>
                            <a:rPr lang="en-US" sz="1200" i="1">
                              <a:latin typeface="Cambria Math" panose="02040503050406030204" pitchFamily="18" charset="0"/>
                            </a:rPr>
                            <m:t>0</m:t>
                          </m:r>
                        </m:sup>
                      </m:sSup>
                      <m:r>
                        <a:rPr lang="en-US" sz="1200" b="0" i="1" smtClean="0">
                          <a:latin typeface="Cambria Math" panose="02040503050406030204" pitchFamily="18" charset="0"/>
                        </a:rPr>
                        <m:t>|</m:t>
                      </m:r>
                      <m:r>
                        <a:rPr lang="en-US" sz="1200" b="0" i="1" smtClean="0">
                          <a:latin typeface="Cambria Math" panose="02040503050406030204" pitchFamily="18" charset="0"/>
                        </a:rPr>
                        <m:t>𝐺</m:t>
                      </m:r>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𝑔</m:t>
                          </m:r>
                        </m:e>
                        <m:sup>
                          <m:r>
                            <a:rPr lang="en-US" sz="1200" b="0" i="1" smtClean="0">
                              <a:latin typeface="Cambria Math" panose="02040503050406030204" pitchFamily="18" charset="0"/>
                            </a:rPr>
                            <m:t>2</m:t>
                          </m:r>
                        </m:sup>
                      </m:sSup>
                      <m:r>
                        <a:rPr lang="en-US" sz="1200" i="1">
                          <a:latin typeface="Cambria Math" panose="02040503050406030204" pitchFamily="18" charset="0"/>
                        </a:rPr>
                        <m:t>)</m:t>
                      </m:r>
                    </m:oMath>
                  </m:oMathPara>
                </a14:m>
                <a:endParaRPr lang="en-US" sz="1200" dirty="0"/>
              </a:p>
              <a:p>
                <a:pPr defTabSz="731520">
                  <a:spcAft>
                    <a:spcPts val="600"/>
                  </a:spcAft>
                </a:pPr>
                <a:endParaRPr lang="en-US" sz="1200" dirty="0"/>
              </a:p>
              <a:p>
                <a:pPr defTabSz="731520">
                  <a:spcAft>
                    <a:spcPts val="600"/>
                  </a:spcAft>
                </a:pPr>
                <a:r>
                  <a:rPr lang="en-US" sz="1200" dirty="0"/>
                  <a:t>Looking at the table the result is </a:t>
                </a:r>
              </a:p>
              <a:p>
                <a:pPr defTabSz="731520">
                  <a:spcAft>
                    <a:spcPts val="600"/>
                  </a:spcAft>
                </a:pPr>
                <a14:m>
                  <m:oMathPara xmlns:m="http://schemas.openxmlformats.org/officeDocument/2006/math">
                    <m:oMath>
                      <m:r>
                        <a:rPr lang="en-US" sz="1200" i="1">
                          <a:latin typeface="Cambria Math" panose="02040503050406030204" pitchFamily="18" charset="0"/>
                        </a:rPr>
                        <m:t>𝑃</m:t>
                      </m:r>
                      <m:d>
                        <m:dPr>
                          <m:ctrlPr>
                            <a:rPr lang="en-US" sz="1200" i="1">
                              <a:latin typeface="Cambria Math" panose="02040503050406030204" pitchFamily="18" charset="0"/>
                            </a:rPr>
                          </m:ctrlPr>
                        </m:dPr>
                        <m:e>
                          <m:r>
                            <a:rPr lang="en-US" sz="1200" i="1">
                              <a:latin typeface="Cambria Math" panose="02040503050406030204" pitchFamily="18" charset="0"/>
                            </a:rPr>
                            <m:t>𝐷</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𝑑</m:t>
                              </m:r>
                            </m:e>
                            <m:sup>
                              <m:r>
                                <a:rPr lang="en-US" sz="1200" i="1">
                                  <a:latin typeface="Cambria Math" panose="02040503050406030204" pitchFamily="18" charset="0"/>
                                </a:rPr>
                                <m:t>0</m:t>
                              </m:r>
                            </m:sup>
                          </m:sSup>
                          <m:r>
                            <a:rPr lang="en-US" sz="1200" i="1">
                              <a:latin typeface="Cambria Math" panose="02040503050406030204" pitchFamily="18" charset="0"/>
                            </a:rPr>
                            <m:t>,</m:t>
                          </m:r>
                          <m:r>
                            <a:rPr lang="en-US" sz="1200" i="1">
                              <a:latin typeface="Cambria Math" panose="02040503050406030204" pitchFamily="18" charset="0"/>
                            </a:rPr>
                            <m:t>𝐼</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𝑖</m:t>
                              </m:r>
                            </m:e>
                            <m:sup>
                              <m:r>
                                <a:rPr lang="en-US" sz="1200" i="1">
                                  <a:latin typeface="Cambria Math" panose="02040503050406030204" pitchFamily="18" charset="0"/>
                                </a:rPr>
                                <m:t>1</m:t>
                              </m:r>
                            </m:sup>
                          </m:sSup>
                          <m:r>
                            <a:rPr lang="en-US" sz="1200" i="1">
                              <a:latin typeface="Cambria Math" panose="02040503050406030204" pitchFamily="18" charset="0"/>
                            </a:rPr>
                            <m:t>,</m:t>
                          </m:r>
                          <m:r>
                            <a:rPr lang="en-US" sz="1200" i="1">
                              <a:latin typeface="Cambria Math" panose="02040503050406030204" pitchFamily="18" charset="0"/>
                            </a:rPr>
                            <m:t>𝐺</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𝑔</m:t>
                              </m:r>
                            </m:e>
                            <m:sup>
                              <m:r>
                                <a:rPr lang="en-US" sz="1200" i="1">
                                  <a:latin typeface="Cambria Math" panose="02040503050406030204" pitchFamily="18" charset="0"/>
                                </a:rPr>
                                <m:t>2</m:t>
                              </m:r>
                            </m:sup>
                          </m:sSup>
                          <m:r>
                            <a:rPr lang="en-US" sz="1200" i="1">
                              <a:latin typeface="Cambria Math" panose="02040503050406030204" pitchFamily="18" charset="0"/>
                            </a:rPr>
                            <m:t>,</m:t>
                          </m:r>
                          <m:r>
                            <a:rPr lang="en-US" sz="1200" i="1">
                              <a:latin typeface="Cambria Math" panose="02040503050406030204" pitchFamily="18" charset="0"/>
                            </a:rPr>
                            <m:t>𝑆</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𝑠</m:t>
                              </m:r>
                            </m:e>
                            <m:sup>
                              <m:r>
                                <a:rPr lang="en-US" sz="1200" i="1">
                                  <a:latin typeface="Cambria Math" panose="02040503050406030204" pitchFamily="18" charset="0"/>
                                </a:rPr>
                                <m:t>0</m:t>
                              </m:r>
                            </m:sup>
                          </m:sSup>
                          <m:r>
                            <a:rPr lang="en-US" sz="1200" i="1">
                              <a:latin typeface="Cambria Math" panose="02040503050406030204" pitchFamily="18" charset="0"/>
                            </a:rPr>
                            <m:t>,</m:t>
                          </m:r>
                          <m:r>
                            <a:rPr lang="en-US" sz="1200" i="1">
                              <a:latin typeface="Cambria Math" panose="02040503050406030204" pitchFamily="18" charset="0"/>
                            </a:rPr>
                            <m:t>𝐿</m:t>
                          </m:r>
                          <m:r>
                            <a:rPr lang="en-US" sz="1200" i="1">
                              <a:latin typeface="Cambria Math" panose="02040503050406030204" pitchFamily="18" charset="0"/>
                            </a:rPr>
                            <m:t>=</m:t>
                          </m:r>
                          <m:sSup>
                            <m:sSupPr>
                              <m:ctrlPr>
                                <a:rPr lang="en-US" sz="1200" i="1">
                                  <a:latin typeface="Cambria Math" panose="02040503050406030204" pitchFamily="18" charset="0"/>
                                </a:rPr>
                              </m:ctrlPr>
                            </m:sSupPr>
                            <m:e>
                              <m:r>
                                <a:rPr lang="en-US" sz="1200" i="1">
                                  <a:latin typeface="Cambria Math" panose="02040503050406030204" pitchFamily="18" charset="0"/>
                                </a:rPr>
                                <m:t>𝑙</m:t>
                              </m:r>
                            </m:e>
                            <m:sup>
                              <m:r>
                                <a:rPr lang="en-US" sz="1200" i="1">
                                  <a:latin typeface="Cambria Math" panose="02040503050406030204" pitchFamily="18" charset="0"/>
                                </a:rPr>
                                <m:t>0</m:t>
                              </m:r>
                            </m:sup>
                          </m:sSup>
                        </m:e>
                      </m:d>
                      <m:r>
                        <a:rPr lang="en-US" sz="1200" b="0" i="1" smtClean="0">
                          <a:latin typeface="Cambria Math" panose="02040503050406030204" pitchFamily="18" charset="0"/>
                        </a:rPr>
                        <m:t>=0.6×0.3×0.08×0.2×0.4</m:t>
                      </m:r>
                    </m:oMath>
                  </m:oMathPara>
                </a14:m>
                <a:endParaRPr lang="en-US" sz="1200" dirty="0"/>
              </a:p>
              <a:p>
                <a:pPr defTabSz="731520">
                  <a:spcAft>
                    <a:spcPts val="600"/>
                  </a:spcAft>
                </a:pPr>
                <a:endParaRPr lang="en-US" sz="1440" dirty="0"/>
              </a:p>
            </p:txBody>
          </p:sp>
        </mc:Choice>
        <mc:Fallback xmlns="">
          <p:sp>
            <p:nvSpPr>
              <p:cNvPr id="5" name="Content Placeholder 4">
                <a:extLst>
                  <a:ext uri="{FF2B5EF4-FFF2-40B4-BE49-F238E27FC236}">
                    <a16:creationId xmlns:a16="http://schemas.microsoft.com/office/drawing/2014/main" id="{414AEF2D-CA62-36BF-B239-6C0BFF28E20F}"/>
                  </a:ext>
                </a:extLst>
              </p:cNvPr>
              <p:cNvSpPr>
                <a:spLocks noRot="1" noChangeAspect="1" noMove="1" noResize="1" noEditPoints="1" noAdjustHandles="1" noChangeArrowheads="1" noChangeShapeType="1" noTextEdit="1"/>
              </p:cNvSpPr>
              <p:nvPr/>
            </p:nvSpPr>
            <p:spPr>
              <a:xfrm>
                <a:off x="838199" y="2181171"/>
                <a:ext cx="5672015" cy="4150541"/>
              </a:xfrm>
              <a:prstGeom prst="rect">
                <a:avLst/>
              </a:prstGeom>
              <a:blipFill>
                <a:blip r:embed="rId2"/>
                <a:stretch>
                  <a:fillRect l="-322" t="-881" r="-430"/>
                </a:stretch>
              </a:blipFill>
            </p:spPr>
            <p:txBody>
              <a:bodyPr/>
              <a:lstStyle/>
              <a:p>
                <a:r>
                  <a:rPr lang="en-NL">
                    <a:noFill/>
                  </a:rPr>
                  <a:t> </a:t>
                </a:r>
              </a:p>
            </p:txBody>
          </p:sp>
        </mc:Fallback>
      </mc:AlternateContent>
      <p:pic>
        <p:nvPicPr>
          <p:cNvPr id="1026" name="Picture 2">
            <a:extLst>
              <a:ext uri="{FF2B5EF4-FFF2-40B4-BE49-F238E27FC236}">
                <a16:creationId xmlns:a16="http://schemas.microsoft.com/office/drawing/2014/main" id="{4C6117D5-A788-4828-2D17-BC20D3C2D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7994" y="2181171"/>
            <a:ext cx="4697876" cy="371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88E61E-91C5-7B53-4A30-0FCD2C1635EE}"/>
              </a:ext>
            </a:extLst>
          </p:cNvPr>
          <p:cNvSpPr txBox="1"/>
          <p:nvPr/>
        </p:nvSpPr>
        <p:spPr>
          <a:xfrm>
            <a:off x="8700210" y="6109220"/>
            <a:ext cx="4888790" cy="313932"/>
          </a:xfrm>
          <a:prstGeom prst="rect">
            <a:avLst/>
          </a:prstGeom>
          <a:noFill/>
        </p:spPr>
        <p:txBody>
          <a:bodyPr wrap="square">
            <a:spAutoFit/>
          </a:bodyPr>
          <a:lstStyle/>
          <a:p>
            <a:pPr defTabSz="731520">
              <a:spcAft>
                <a:spcPts val="600"/>
              </a:spcAft>
            </a:pPr>
            <a:r>
              <a:rPr lang="en-US" sz="1440" kern="1200" dirty="0">
                <a:solidFill>
                  <a:schemeClr val="tx1"/>
                </a:solidFill>
                <a:latin typeface="+mn-lt"/>
                <a:ea typeface="+mn-ea"/>
                <a:cs typeface="+mn-cs"/>
                <a:hlinkClick r:id="rId4"/>
              </a:rPr>
              <a:t>Bayesian networks (ermongroup.github.io)</a:t>
            </a:r>
            <a:endParaRPr lang="en-NL" dirty="0"/>
          </a:p>
        </p:txBody>
      </p:sp>
      <p:sp>
        <p:nvSpPr>
          <p:cNvPr id="3" name="Rectangle 2">
            <a:extLst>
              <a:ext uri="{FF2B5EF4-FFF2-40B4-BE49-F238E27FC236}">
                <a16:creationId xmlns:a16="http://schemas.microsoft.com/office/drawing/2014/main" id="{1F9D4460-E544-C87F-4697-62326985C89D}"/>
              </a:ext>
            </a:extLst>
          </p:cNvPr>
          <p:cNvSpPr/>
          <p:nvPr/>
        </p:nvSpPr>
        <p:spPr>
          <a:xfrm>
            <a:off x="7182338" y="2524369"/>
            <a:ext cx="429847" cy="2969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54A0A921-1806-86EC-29BD-254739CCB0C6}"/>
              </a:ext>
            </a:extLst>
          </p:cNvPr>
          <p:cNvSpPr/>
          <p:nvPr/>
        </p:nvSpPr>
        <p:spPr>
          <a:xfrm>
            <a:off x="11009131" y="2518556"/>
            <a:ext cx="429847" cy="2969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Rectangle 6">
            <a:extLst>
              <a:ext uri="{FF2B5EF4-FFF2-40B4-BE49-F238E27FC236}">
                <a16:creationId xmlns:a16="http://schemas.microsoft.com/office/drawing/2014/main" id="{F3A68183-E1BC-4F94-F6CB-A21659473B37}"/>
              </a:ext>
            </a:extLst>
          </p:cNvPr>
          <p:cNvSpPr/>
          <p:nvPr/>
        </p:nvSpPr>
        <p:spPr>
          <a:xfrm>
            <a:off x="7793100" y="4163695"/>
            <a:ext cx="429847" cy="2969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8" name="Rectangle 7">
            <a:extLst>
              <a:ext uri="{FF2B5EF4-FFF2-40B4-BE49-F238E27FC236}">
                <a16:creationId xmlns:a16="http://schemas.microsoft.com/office/drawing/2014/main" id="{6C704929-8004-90E2-7309-51AB84850471}"/>
              </a:ext>
            </a:extLst>
          </p:cNvPr>
          <p:cNvSpPr/>
          <p:nvPr/>
        </p:nvSpPr>
        <p:spPr>
          <a:xfrm>
            <a:off x="10549185" y="4613079"/>
            <a:ext cx="429847" cy="2969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8">
            <a:extLst>
              <a:ext uri="{FF2B5EF4-FFF2-40B4-BE49-F238E27FC236}">
                <a16:creationId xmlns:a16="http://schemas.microsoft.com/office/drawing/2014/main" id="{0C729EBE-F6A3-0FFD-C837-673081A91033}"/>
              </a:ext>
            </a:extLst>
          </p:cNvPr>
          <p:cNvSpPr/>
          <p:nvPr/>
        </p:nvSpPr>
        <p:spPr>
          <a:xfrm>
            <a:off x="9121882" y="5316464"/>
            <a:ext cx="429847" cy="296984"/>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0020489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36487-B266-12B4-7664-A1B038FE0DCE}"/>
              </a:ext>
            </a:extLst>
          </p:cNvPr>
          <p:cNvSpPr>
            <a:spLocks noGrp="1"/>
          </p:cNvSpPr>
          <p:nvPr>
            <p:ph type="title"/>
          </p:nvPr>
        </p:nvSpPr>
        <p:spPr>
          <a:xfrm>
            <a:off x="841248" y="256032"/>
            <a:ext cx="10506456" cy="1014984"/>
          </a:xfrm>
        </p:spPr>
        <p:txBody>
          <a:bodyPr anchor="b">
            <a:normAutofit fontScale="90000"/>
          </a:bodyPr>
          <a:lstStyle/>
          <a:p>
            <a:r>
              <a:rPr lang="en-US" dirty="0"/>
              <a:t>Efficient representation of joint probabilities (4/5)</a:t>
            </a:r>
            <a:endParaRPr lang="en-NL"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14AEF2D-CA62-36BF-B239-6C0BFF28E20F}"/>
                  </a:ext>
                </a:extLst>
              </p:cNvPr>
              <p:cNvSpPr>
                <a:spLocks/>
              </p:cNvSpPr>
              <p:nvPr/>
            </p:nvSpPr>
            <p:spPr>
              <a:xfrm>
                <a:off x="838199" y="2181171"/>
                <a:ext cx="5672015" cy="4150541"/>
              </a:xfrm>
              <a:prstGeom prst="rect">
                <a:avLst/>
              </a:prstGeom>
            </p:spPr>
            <p:txBody>
              <a:bodyPr>
                <a:normAutofit/>
              </a:bodyPr>
              <a:lstStyle/>
              <a:p>
                <a:pPr defTabSz="731520">
                  <a:spcAft>
                    <a:spcPts val="600"/>
                  </a:spcAft>
                </a:pPr>
                <a:r>
                  <a:rPr lang="en-US" sz="1440" dirty="0"/>
                  <a:t>For all the variables in this example, and all the levels they can take, how many joint probabilities we need to specify:</a:t>
                </a:r>
              </a:p>
              <a:p>
                <a:pPr defTabSz="731520">
                  <a:spcAft>
                    <a:spcPts val="600"/>
                  </a:spcAft>
                </a:pPr>
                <a14:m>
                  <m:oMathPara xmlns:m="http://schemas.openxmlformats.org/officeDocument/2006/math">
                    <m:oMath>
                      <m:r>
                        <a:rPr lang="en-US" sz="1440" b="0" i="1" smtClean="0">
                          <a:latin typeface="Cambria Math" panose="02040503050406030204" pitchFamily="18" charset="0"/>
                        </a:rPr>
                        <m:t>𝑃</m:t>
                      </m:r>
                      <m:r>
                        <a:rPr lang="en-US" sz="1440" b="0" i="1" smtClean="0">
                          <a:latin typeface="Cambria Math" panose="02040503050406030204" pitchFamily="18" charset="0"/>
                        </a:rPr>
                        <m:t>(</m:t>
                      </m:r>
                      <m:r>
                        <a:rPr lang="en-US" sz="1440" b="0" i="1" smtClean="0">
                          <a:latin typeface="Cambria Math" panose="02040503050406030204" pitchFamily="18" charset="0"/>
                        </a:rPr>
                        <m:t>𝐷</m:t>
                      </m:r>
                      <m:r>
                        <a:rPr lang="en-US" sz="1440" b="0" i="1" smtClean="0">
                          <a:latin typeface="Cambria Math" panose="02040503050406030204" pitchFamily="18" charset="0"/>
                        </a:rPr>
                        <m:t>,</m:t>
                      </m:r>
                      <m:r>
                        <a:rPr lang="en-US" sz="1440" b="0" i="1" smtClean="0">
                          <a:latin typeface="Cambria Math" panose="02040503050406030204" pitchFamily="18" charset="0"/>
                        </a:rPr>
                        <m:t>𝐼</m:t>
                      </m:r>
                      <m:r>
                        <a:rPr lang="en-US" sz="1440" b="0" i="1" smtClean="0">
                          <a:latin typeface="Cambria Math" panose="02040503050406030204" pitchFamily="18" charset="0"/>
                        </a:rPr>
                        <m:t>,</m:t>
                      </m:r>
                      <m:r>
                        <a:rPr lang="en-US" sz="1440" b="0" i="1" smtClean="0">
                          <a:latin typeface="Cambria Math" panose="02040503050406030204" pitchFamily="18" charset="0"/>
                        </a:rPr>
                        <m:t>𝐺</m:t>
                      </m:r>
                      <m:r>
                        <a:rPr lang="en-US" sz="1440" b="0" i="1" smtClean="0">
                          <a:latin typeface="Cambria Math" panose="02040503050406030204" pitchFamily="18" charset="0"/>
                        </a:rPr>
                        <m:t>,</m:t>
                      </m:r>
                      <m:r>
                        <a:rPr lang="en-US" sz="1440" b="0" i="1" smtClean="0">
                          <a:latin typeface="Cambria Math" panose="02040503050406030204" pitchFamily="18" charset="0"/>
                        </a:rPr>
                        <m:t>𝑆</m:t>
                      </m:r>
                      <m:r>
                        <a:rPr lang="en-US" sz="1440" b="0" i="1" smtClean="0">
                          <a:latin typeface="Cambria Math" panose="02040503050406030204" pitchFamily="18" charset="0"/>
                        </a:rPr>
                        <m:t>,</m:t>
                      </m:r>
                      <m:r>
                        <a:rPr lang="en-US" sz="1440" b="0" i="1" smtClean="0">
                          <a:latin typeface="Cambria Math" panose="02040503050406030204" pitchFamily="18" charset="0"/>
                        </a:rPr>
                        <m:t>𝐿</m:t>
                      </m:r>
                      <m:r>
                        <a:rPr lang="en-US" sz="1440" b="0" i="1" smtClean="0">
                          <a:latin typeface="Cambria Math" panose="02040503050406030204" pitchFamily="18" charset="0"/>
                        </a:rPr>
                        <m:t>)</m:t>
                      </m:r>
                    </m:oMath>
                  </m:oMathPara>
                </a14:m>
                <a:endParaRPr lang="en-US" sz="1440" dirty="0"/>
              </a:p>
              <a:p>
                <a:pPr defTabSz="731520">
                  <a:spcAft>
                    <a:spcPts val="600"/>
                  </a:spcAft>
                </a:pPr>
                <a:r>
                  <a:rPr lang="en-US" sz="1440" b="1" dirty="0"/>
                  <a:t>Without considering the graph, we need to make a giant table </a:t>
                </a:r>
                <a:r>
                  <a:rPr lang="en-US" sz="1440" dirty="0"/>
                  <a:t>to consider all combinations of the outcome and for each specify a probability. (probabilities sum up to one, so that removes one equation):</a:t>
                </a:r>
              </a:p>
              <a:p>
                <a:pPr defTabSz="731520">
                  <a:spcAft>
                    <a:spcPts val="600"/>
                  </a:spcAft>
                </a:pPr>
                <a14:m>
                  <m:oMathPara xmlns:m="http://schemas.openxmlformats.org/officeDocument/2006/math">
                    <m:oMath>
                      <m:r>
                        <a:rPr lang="en-US" sz="1440" b="0" i="1" smtClean="0">
                          <a:latin typeface="Cambria Math" panose="02040503050406030204" pitchFamily="18" charset="0"/>
                        </a:rPr>
                        <m:t>2×2×3×2×2−1</m:t>
                      </m:r>
                    </m:oMath>
                  </m:oMathPara>
                </a14:m>
                <a:endParaRPr lang="en-US" sz="1440" dirty="0"/>
              </a:p>
              <a:p>
                <a:pPr defTabSz="731520">
                  <a:spcAft>
                    <a:spcPts val="600"/>
                  </a:spcAft>
                </a:pPr>
                <a:r>
                  <a:rPr lang="en-US" sz="1440" dirty="0"/>
                  <a:t>Which is </a:t>
                </a:r>
                <a14:m>
                  <m:oMath xmlns:m="http://schemas.openxmlformats.org/officeDocument/2006/math">
                    <m:r>
                      <a:rPr lang="en-US" sz="1440" i="1" dirty="0" smtClean="0">
                        <a:latin typeface="Cambria Math" panose="02040503050406030204" pitchFamily="18" charset="0"/>
                      </a:rPr>
                      <m:t>47</m:t>
                    </m:r>
                  </m:oMath>
                </a14:m>
                <a:r>
                  <a:rPr lang="en-US" sz="1440" dirty="0"/>
                  <a:t> variables. </a:t>
                </a:r>
              </a:p>
              <a:p>
                <a:pPr defTabSz="731520">
                  <a:spcAft>
                    <a:spcPts val="600"/>
                  </a:spcAft>
                </a:pPr>
                <a:endParaRPr lang="en-US" sz="1440" dirty="0"/>
              </a:p>
              <a:p>
                <a:pPr defTabSz="731520">
                  <a:spcAft>
                    <a:spcPts val="600"/>
                  </a:spcAft>
                </a:pPr>
                <a:r>
                  <a:rPr lang="en-US" sz="1440" b="1" dirty="0"/>
                  <a:t>If we consider the graph structure</a:t>
                </a:r>
                <a:r>
                  <a:rPr lang="en-US" sz="1440" dirty="0"/>
                  <a:t>, we need only to know the tables. We</a:t>
                </a:r>
              </a:p>
              <a:p>
                <a:pPr defTabSz="731520">
                  <a:spcAft>
                    <a:spcPts val="600"/>
                  </a:spcAft>
                </a:pPr>
                <a:r>
                  <a:rPr lang="en-US" sz="1440" dirty="0"/>
                  <a:t>But if you look into our tables, the number of independent values are:</a:t>
                </a:r>
              </a:p>
              <a:p>
                <a:pPr defTabSz="731520">
                  <a:spcAft>
                    <a:spcPts val="600"/>
                  </a:spcAft>
                </a:pPr>
                <a:endParaRPr lang="en-US" sz="1440" b="0" i="1" dirty="0">
                  <a:latin typeface="Cambria Math" panose="02040503050406030204" pitchFamily="18" charset="0"/>
                </a:endParaRPr>
              </a:p>
              <a:p>
                <a:pPr defTabSz="731520">
                  <a:spcAft>
                    <a:spcPts val="600"/>
                  </a:spcAft>
                </a:pPr>
                <a14:m>
                  <m:oMathPara xmlns:m="http://schemas.openxmlformats.org/officeDocument/2006/math">
                    <m:oMath>
                      <m:r>
                        <a:rPr lang="en-US" sz="1440" b="0" i="1" smtClean="0">
                          <a:latin typeface="Cambria Math" panose="02040503050406030204" pitchFamily="18" charset="0"/>
                        </a:rPr>
                        <m:t>1+1+8+2+3</m:t>
                      </m:r>
                    </m:oMath>
                  </m:oMathPara>
                </a14:m>
                <a:endParaRPr lang="en-US" sz="1440" dirty="0"/>
              </a:p>
              <a:p>
                <a:pPr defTabSz="731520">
                  <a:spcAft>
                    <a:spcPts val="600"/>
                  </a:spcAft>
                </a:pPr>
                <a:r>
                  <a:rPr lang="en-US" sz="1440" dirty="0"/>
                  <a:t>which is </a:t>
                </a:r>
                <a14:m>
                  <m:oMath xmlns:m="http://schemas.openxmlformats.org/officeDocument/2006/math">
                    <m:r>
                      <a:rPr lang="en-US" sz="1440" i="1" dirty="0" smtClean="0">
                        <a:latin typeface="Cambria Math" panose="02040503050406030204" pitchFamily="18" charset="0"/>
                      </a:rPr>
                      <m:t>15</m:t>
                    </m:r>
                  </m:oMath>
                </a14:m>
                <a:r>
                  <a:rPr lang="en-US" sz="1440" dirty="0"/>
                  <a:t> variables.  The gap between these two numbers gets larger with more parameters and more outcome possibilities. </a:t>
                </a:r>
              </a:p>
            </p:txBody>
          </p:sp>
        </mc:Choice>
        <mc:Fallback xmlns="">
          <p:sp>
            <p:nvSpPr>
              <p:cNvPr id="5" name="Content Placeholder 4">
                <a:extLst>
                  <a:ext uri="{FF2B5EF4-FFF2-40B4-BE49-F238E27FC236}">
                    <a16:creationId xmlns:a16="http://schemas.microsoft.com/office/drawing/2014/main" id="{414AEF2D-CA62-36BF-B239-6C0BFF28E20F}"/>
                  </a:ext>
                </a:extLst>
              </p:cNvPr>
              <p:cNvSpPr>
                <a:spLocks noRot="1" noChangeAspect="1" noMove="1" noResize="1" noEditPoints="1" noAdjustHandles="1" noChangeArrowheads="1" noChangeShapeType="1" noTextEdit="1"/>
              </p:cNvSpPr>
              <p:nvPr/>
            </p:nvSpPr>
            <p:spPr>
              <a:xfrm>
                <a:off x="838199" y="2181171"/>
                <a:ext cx="5672015" cy="4150541"/>
              </a:xfrm>
              <a:prstGeom prst="rect">
                <a:avLst/>
              </a:prstGeom>
              <a:blipFill>
                <a:blip r:embed="rId2"/>
                <a:stretch>
                  <a:fillRect l="-322" t="-294" b="-1468"/>
                </a:stretch>
              </a:blipFill>
            </p:spPr>
            <p:txBody>
              <a:bodyPr/>
              <a:lstStyle/>
              <a:p>
                <a:r>
                  <a:rPr lang="en-NL">
                    <a:noFill/>
                  </a:rPr>
                  <a:t> </a:t>
                </a:r>
              </a:p>
            </p:txBody>
          </p:sp>
        </mc:Fallback>
      </mc:AlternateContent>
      <p:pic>
        <p:nvPicPr>
          <p:cNvPr id="1026" name="Picture 2">
            <a:extLst>
              <a:ext uri="{FF2B5EF4-FFF2-40B4-BE49-F238E27FC236}">
                <a16:creationId xmlns:a16="http://schemas.microsoft.com/office/drawing/2014/main" id="{4C6117D5-A788-4828-2D17-BC20D3C2D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7994" y="2181171"/>
            <a:ext cx="4697876" cy="371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88E61E-91C5-7B53-4A30-0FCD2C1635EE}"/>
              </a:ext>
            </a:extLst>
          </p:cNvPr>
          <p:cNvSpPr txBox="1"/>
          <p:nvPr/>
        </p:nvSpPr>
        <p:spPr>
          <a:xfrm>
            <a:off x="8700210" y="6109220"/>
            <a:ext cx="4888790" cy="313932"/>
          </a:xfrm>
          <a:prstGeom prst="rect">
            <a:avLst/>
          </a:prstGeom>
          <a:noFill/>
        </p:spPr>
        <p:txBody>
          <a:bodyPr wrap="square">
            <a:spAutoFit/>
          </a:bodyPr>
          <a:lstStyle/>
          <a:p>
            <a:pPr defTabSz="731520">
              <a:spcAft>
                <a:spcPts val="600"/>
              </a:spcAft>
            </a:pPr>
            <a:r>
              <a:rPr lang="en-US" sz="1440" kern="1200" dirty="0">
                <a:solidFill>
                  <a:schemeClr val="tx1"/>
                </a:solidFill>
                <a:latin typeface="+mn-lt"/>
                <a:ea typeface="+mn-ea"/>
                <a:cs typeface="+mn-cs"/>
                <a:hlinkClick r:id="rId4"/>
              </a:rPr>
              <a:t>Bayesian networks (ermongroup.github.io)</a:t>
            </a:r>
            <a:endParaRPr lang="en-NL" dirty="0"/>
          </a:p>
        </p:txBody>
      </p:sp>
    </p:spTree>
    <p:extLst>
      <p:ext uri="{BB962C8B-B14F-4D97-AF65-F5344CB8AC3E}">
        <p14:creationId xmlns:p14="http://schemas.microsoft.com/office/powerpoint/2010/main" val="11831320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36487-B266-12B4-7664-A1B038FE0DCE}"/>
              </a:ext>
            </a:extLst>
          </p:cNvPr>
          <p:cNvSpPr>
            <a:spLocks noGrp="1"/>
          </p:cNvSpPr>
          <p:nvPr>
            <p:ph type="title"/>
          </p:nvPr>
        </p:nvSpPr>
        <p:spPr>
          <a:xfrm>
            <a:off x="841248" y="256032"/>
            <a:ext cx="10506456" cy="1014984"/>
          </a:xfrm>
        </p:spPr>
        <p:txBody>
          <a:bodyPr anchor="b">
            <a:normAutofit fontScale="90000"/>
          </a:bodyPr>
          <a:lstStyle/>
          <a:p>
            <a:r>
              <a:rPr lang="en-US" dirty="0"/>
              <a:t>Efficient representation of joint probabilities (5/5)</a:t>
            </a:r>
            <a:endParaRPr lang="en-NL" dirty="0"/>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414AEF2D-CA62-36BF-B239-6C0BFF28E20F}"/>
                  </a:ext>
                </a:extLst>
              </p:cNvPr>
              <p:cNvSpPr>
                <a:spLocks/>
              </p:cNvSpPr>
              <p:nvPr/>
            </p:nvSpPr>
            <p:spPr>
              <a:xfrm>
                <a:off x="838199" y="2181171"/>
                <a:ext cx="5672015" cy="4150541"/>
              </a:xfrm>
              <a:prstGeom prst="rect">
                <a:avLst/>
              </a:prstGeom>
            </p:spPr>
            <p:txBody>
              <a:bodyPr>
                <a:normAutofit/>
              </a:bodyPr>
              <a:lstStyle/>
              <a:p>
                <a:pPr defTabSz="731520">
                  <a:spcAft>
                    <a:spcPts val="600"/>
                  </a:spcAft>
                </a:pPr>
                <a:r>
                  <a:rPr lang="en-US" sz="1440" dirty="0"/>
                  <a:t>Having the joint probabilities </a:t>
                </a:r>
                <a14:m>
                  <m:oMath xmlns:m="http://schemas.openxmlformats.org/officeDocument/2006/math">
                    <m:r>
                      <a:rPr lang="en-US" sz="1440" b="0" i="1" smtClean="0">
                        <a:latin typeface="Cambria Math" panose="02040503050406030204" pitchFamily="18" charset="0"/>
                      </a:rPr>
                      <m:t>𝑃</m:t>
                    </m:r>
                    <m:r>
                      <a:rPr lang="en-US" sz="1440" b="0" i="1" smtClean="0">
                        <a:latin typeface="Cambria Math" panose="02040503050406030204" pitchFamily="18" charset="0"/>
                      </a:rPr>
                      <m:t>(</m:t>
                    </m:r>
                    <m:r>
                      <a:rPr lang="en-US" sz="1440" b="0" i="1" smtClean="0">
                        <a:latin typeface="Cambria Math" panose="02040503050406030204" pitchFamily="18" charset="0"/>
                      </a:rPr>
                      <m:t>𝐷</m:t>
                    </m:r>
                    <m:r>
                      <a:rPr lang="en-US" sz="1440" b="0" i="1" smtClean="0">
                        <a:latin typeface="Cambria Math" panose="02040503050406030204" pitchFamily="18" charset="0"/>
                      </a:rPr>
                      <m:t>,</m:t>
                    </m:r>
                    <m:r>
                      <a:rPr lang="en-US" sz="1440" b="0" i="1" smtClean="0">
                        <a:latin typeface="Cambria Math" panose="02040503050406030204" pitchFamily="18" charset="0"/>
                      </a:rPr>
                      <m:t>𝐼</m:t>
                    </m:r>
                    <m:r>
                      <a:rPr lang="en-US" sz="1440" b="0" i="1" smtClean="0">
                        <a:latin typeface="Cambria Math" panose="02040503050406030204" pitchFamily="18" charset="0"/>
                      </a:rPr>
                      <m:t>,</m:t>
                    </m:r>
                    <m:r>
                      <a:rPr lang="en-US" sz="1440" b="0" i="1" smtClean="0">
                        <a:latin typeface="Cambria Math" panose="02040503050406030204" pitchFamily="18" charset="0"/>
                      </a:rPr>
                      <m:t>𝐺</m:t>
                    </m:r>
                    <m:r>
                      <a:rPr lang="en-US" sz="1440" b="0" i="1" smtClean="0">
                        <a:latin typeface="Cambria Math" panose="02040503050406030204" pitchFamily="18" charset="0"/>
                      </a:rPr>
                      <m:t>,</m:t>
                    </m:r>
                    <m:r>
                      <a:rPr lang="en-US" sz="1440" b="0" i="1" smtClean="0">
                        <a:latin typeface="Cambria Math" panose="02040503050406030204" pitchFamily="18" charset="0"/>
                      </a:rPr>
                      <m:t>𝑆</m:t>
                    </m:r>
                    <m:r>
                      <a:rPr lang="en-US" sz="1440" b="0" i="1" smtClean="0">
                        <a:latin typeface="Cambria Math" panose="02040503050406030204" pitchFamily="18" charset="0"/>
                      </a:rPr>
                      <m:t>,</m:t>
                    </m:r>
                    <m:r>
                      <a:rPr lang="en-US" sz="1440" b="0" i="1" smtClean="0">
                        <a:latin typeface="Cambria Math" panose="02040503050406030204" pitchFamily="18" charset="0"/>
                      </a:rPr>
                      <m:t>𝐿</m:t>
                    </m:r>
                    <m:r>
                      <a:rPr lang="en-US" sz="1440" b="0" i="1" smtClean="0">
                        <a:latin typeface="Cambria Math" panose="02040503050406030204" pitchFamily="18" charset="0"/>
                      </a:rPr>
                      <m:t>)</m:t>
                    </m:r>
                  </m:oMath>
                </a14:m>
                <a:endParaRPr lang="en-US" sz="1440" dirty="0"/>
              </a:p>
              <a:p>
                <a:pPr defTabSz="731520">
                  <a:spcAft>
                    <a:spcPts val="600"/>
                  </a:spcAft>
                </a:pPr>
                <a:r>
                  <a:rPr lang="en-US" sz="1440" dirty="0"/>
                  <a:t>, we answer questions like, the student got a recommendation letter, what is the probability that they have a low SAT score</a:t>
                </a:r>
              </a:p>
              <a:p>
                <a:pPr defTabSz="731520">
                  <a:spcAft>
                    <a:spcPts val="600"/>
                  </a:spcAft>
                </a:pPr>
                <a:endParaRPr lang="en-US" sz="1440" dirty="0"/>
              </a:p>
              <a:p>
                <a:pPr defTabSz="731520">
                  <a:spcAft>
                    <a:spcPts val="600"/>
                  </a:spcAft>
                </a:pPr>
                <a14:m>
                  <m:oMathPara xmlns:m="http://schemas.openxmlformats.org/officeDocument/2006/math">
                    <m:oMath>
                      <m:r>
                        <a:rPr lang="en-US" sz="1440" b="0" i="1" smtClean="0">
                          <a:latin typeface="Cambria Math" panose="02040503050406030204" pitchFamily="18" charset="0"/>
                        </a:rPr>
                        <m:t>𝑃</m:t>
                      </m:r>
                      <m:r>
                        <a:rPr lang="en-US" sz="1440" b="0" i="1" smtClean="0">
                          <a:latin typeface="Cambria Math" panose="02040503050406030204" pitchFamily="18" charset="0"/>
                        </a:rPr>
                        <m:t>(</m:t>
                      </m:r>
                      <m:r>
                        <a:rPr lang="en-US" sz="1440" b="0" i="1" smtClean="0">
                          <a:latin typeface="Cambria Math" panose="02040503050406030204" pitchFamily="18" charset="0"/>
                        </a:rPr>
                        <m:t>𝑆</m:t>
                      </m:r>
                      <m:r>
                        <a:rPr lang="en-US" sz="1440" b="0" i="1" smtClean="0">
                          <a:latin typeface="Cambria Math" panose="02040503050406030204" pitchFamily="18" charset="0"/>
                        </a:rPr>
                        <m:t>=</m:t>
                      </m:r>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𝑠</m:t>
                          </m:r>
                        </m:e>
                        <m:sup>
                          <m:r>
                            <a:rPr lang="en-US" sz="1440" b="0" i="1" smtClean="0">
                              <a:latin typeface="Cambria Math" panose="02040503050406030204" pitchFamily="18" charset="0"/>
                            </a:rPr>
                            <m:t>0</m:t>
                          </m:r>
                        </m:sup>
                      </m:sSup>
                      <m:r>
                        <a:rPr lang="en-US" sz="1440" b="0" i="1" smtClean="0">
                          <a:latin typeface="Cambria Math" panose="02040503050406030204" pitchFamily="18" charset="0"/>
                        </a:rPr>
                        <m:t>|</m:t>
                      </m:r>
                      <m:r>
                        <a:rPr lang="en-US" sz="1440" b="0" i="1" smtClean="0">
                          <a:latin typeface="Cambria Math" panose="02040503050406030204" pitchFamily="18" charset="0"/>
                        </a:rPr>
                        <m:t>𝐿</m:t>
                      </m:r>
                      <m:r>
                        <a:rPr lang="en-US" sz="1440" b="0" i="1" smtClean="0">
                          <a:latin typeface="Cambria Math" panose="02040503050406030204" pitchFamily="18" charset="0"/>
                        </a:rPr>
                        <m:t>=</m:t>
                      </m:r>
                      <m:sSup>
                        <m:sSupPr>
                          <m:ctrlPr>
                            <a:rPr lang="en-US" sz="1440" b="0" i="1" smtClean="0">
                              <a:latin typeface="Cambria Math" panose="02040503050406030204" pitchFamily="18" charset="0"/>
                            </a:rPr>
                          </m:ctrlPr>
                        </m:sSupPr>
                        <m:e>
                          <m:r>
                            <a:rPr lang="en-US" sz="1440" b="0" i="1" smtClean="0">
                              <a:latin typeface="Cambria Math" panose="02040503050406030204" pitchFamily="18" charset="0"/>
                            </a:rPr>
                            <m:t>𝑙</m:t>
                          </m:r>
                        </m:e>
                        <m:sup>
                          <m:r>
                            <a:rPr lang="en-US" sz="1440" b="0" i="1" smtClean="0">
                              <a:latin typeface="Cambria Math" panose="02040503050406030204" pitchFamily="18" charset="0"/>
                            </a:rPr>
                            <m:t>1</m:t>
                          </m:r>
                        </m:sup>
                      </m:sSup>
                      <m:r>
                        <a:rPr lang="en-US" sz="1440" b="0" i="1" smtClean="0">
                          <a:latin typeface="Cambria Math" panose="02040503050406030204" pitchFamily="18" charset="0"/>
                        </a:rPr>
                        <m:t>)</m:t>
                      </m:r>
                    </m:oMath>
                  </m:oMathPara>
                </a14:m>
                <a:endParaRPr lang="en-US" sz="1440" dirty="0"/>
              </a:p>
              <a:p>
                <a:pPr defTabSz="731520">
                  <a:spcAft>
                    <a:spcPts val="600"/>
                  </a:spcAft>
                </a:pPr>
                <a:r>
                  <a:rPr lang="en-US" sz="1440" dirty="0"/>
                  <a:t>One naïve way is to enumerate all possible combinations of the rest of the parameters, i.e. </a:t>
                </a:r>
                <a14:m>
                  <m:oMath xmlns:m="http://schemas.openxmlformats.org/officeDocument/2006/math">
                    <m:r>
                      <a:rPr lang="en-US" sz="1440" b="0" i="1" smtClean="0">
                        <a:latin typeface="Cambria Math" panose="02040503050406030204" pitchFamily="18" charset="0"/>
                      </a:rPr>
                      <m:t>𝐷</m:t>
                    </m:r>
                    <m:r>
                      <a:rPr lang="en-US" sz="1440" b="0" i="1" smtClean="0">
                        <a:latin typeface="Cambria Math" panose="02040503050406030204" pitchFamily="18" charset="0"/>
                      </a:rPr>
                      <m:t>,</m:t>
                    </m:r>
                    <m:r>
                      <a:rPr lang="en-US" sz="1440" b="0" i="1" smtClean="0">
                        <a:latin typeface="Cambria Math" panose="02040503050406030204" pitchFamily="18" charset="0"/>
                      </a:rPr>
                      <m:t>𝐼</m:t>
                    </m:r>
                  </m:oMath>
                </a14:m>
                <a:r>
                  <a:rPr lang="en-US" sz="1440" dirty="0"/>
                  <a:t> and </a:t>
                </a:r>
                <a14:m>
                  <m:oMath xmlns:m="http://schemas.openxmlformats.org/officeDocument/2006/math">
                    <m:r>
                      <a:rPr lang="en-US" sz="1440" b="0" i="1" smtClean="0">
                        <a:latin typeface="Cambria Math" panose="02040503050406030204" pitchFamily="18" charset="0"/>
                      </a:rPr>
                      <m:t>𝐺</m:t>
                    </m:r>
                  </m:oMath>
                </a14:m>
                <a:r>
                  <a:rPr lang="en-US" sz="1440" dirty="0"/>
                  <a:t> and use the marginalization (sum all the probabilities), to get </a:t>
                </a:r>
                <a14:m>
                  <m:oMath xmlns:m="http://schemas.openxmlformats.org/officeDocument/2006/math">
                    <m:r>
                      <a:rPr lang="en-US" sz="1440" i="1">
                        <a:latin typeface="Cambria Math" panose="02040503050406030204" pitchFamily="18" charset="0"/>
                      </a:rPr>
                      <m:t>𝑃</m:t>
                    </m:r>
                    <m:r>
                      <a:rPr lang="en-US" sz="1440" i="1">
                        <a:latin typeface="Cambria Math" panose="02040503050406030204" pitchFamily="18" charset="0"/>
                      </a:rPr>
                      <m:t>(</m:t>
                    </m:r>
                    <m:r>
                      <a:rPr lang="en-US" sz="1440" i="1">
                        <a:latin typeface="Cambria Math" panose="02040503050406030204" pitchFamily="18" charset="0"/>
                      </a:rPr>
                      <m:t>𝑆</m:t>
                    </m:r>
                    <m:r>
                      <a:rPr lang="en-US" sz="1440" b="0" i="1" smtClean="0">
                        <a:latin typeface="Cambria Math" panose="02040503050406030204" pitchFamily="18" charset="0"/>
                      </a:rPr>
                      <m:t>,</m:t>
                    </m:r>
                    <m:r>
                      <a:rPr lang="en-US" sz="1440" i="1">
                        <a:latin typeface="Cambria Math" panose="02040503050406030204" pitchFamily="18" charset="0"/>
                      </a:rPr>
                      <m:t>𝐿</m:t>
                    </m:r>
                    <m:r>
                      <a:rPr lang="en-US" sz="1440" i="1">
                        <a:latin typeface="Cambria Math" panose="02040503050406030204" pitchFamily="18" charset="0"/>
                      </a:rPr>
                      <m:t>)</m:t>
                    </m:r>
                  </m:oMath>
                </a14:m>
                <a:r>
                  <a:rPr lang="en-US" sz="1440" dirty="0"/>
                  <a:t> for all 4 outcomes. </a:t>
                </a:r>
              </a:p>
              <a:p>
                <a:pPr defTabSz="731520">
                  <a:spcAft>
                    <a:spcPts val="600"/>
                  </a:spcAft>
                </a:pPr>
                <a:endParaRPr lang="en-US" sz="1440" dirty="0"/>
              </a:p>
              <a:p>
                <a:pPr defTabSz="731520">
                  <a:spcAft>
                    <a:spcPts val="600"/>
                  </a:spcAft>
                </a:pPr>
                <a:r>
                  <a:rPr lang="en-US" sz="1440" dirty="0"/>
                  <a:t>But graphs give us better algorithms, however they fall outside the scope of this course.   </a:t>
                </a:r>
              </a:p>
              <a:p>
                <a:pPr defTabSz="731520">
                  <a:spcAft>
                    <a:spcPts val="600"/>
                  </a:spcAft>
                </a:pPr>
                <a:endParaRPr lang="en-US" sz="1440" dirty="0"/>
              </a:p>
            </p:txBody>
          </p:sp>
        </mc:Choice>
        <mc:Fallback xmlns="">
          <p:sp>
            <p:nvSpPr>
              <p:cNvPr id="5" name="Content Placeholder 4">
                <a:extLst>
                  <a:ext uri="{FF2B5EF4-FFF2-40B4-BE49-F238E27FC236}">
                    <a16:creationId xmlns:a16="http://schemas.microsoft.com/office/drawing/2014/main" id="{414AEF2D-CA62-36BF-B239-6C0BFF28E20F}"/>
                  </a:ext>
                </a:extLst>
              </p:cNvPr>
              <p:cNvSpPr>
                <a:spLocks noRot="1" noChangeAspect="1" noMove="1" noResize="1" noEditPoints="1" noAdjustHandles="1" noChangeArrowheads="1" noChangeShapeType="1" noTextEdit="1"/>
              </p:cNvSpPr>
              <p:nvPr/>
            </p:nvSpPr>
            <p:spPr>
              <a:xfrm>
                <a:off x="838199" y="2181171"/>
                <a:ext cx="5672015" cy="4150541"/>
              </a:xfrm>
              <a:prstGeom prst="rect">
                <a:avLst/>
              </a:prstGeom>
              <a:blipFill>
                <a:blip r:embed="rId2"/>
                <a:stretch>
                  <a:fillRect l="-322" t="-294"/>
                </a:stretch>
              </a:blipFill>
            </p:spPr>
            <p:txBody>
              <a:bodyPr/>
              <a:lstStyle/>
              <a:p>
                <a:r>
                  <a:rPr lang="en-NL">
                    <a:noFill/>
                  </a:rPr>
                  <a:t> </a:t>
                </a:r>
              </a:p>
            </p:txBody>
          </p:sp>
        </mc:Fallback>
      </mc:AlternateContent>
      <p:pic>
        <p:nvPicPr>
          <p:cNvPr id="1026" name="Picture 2">
            <a:extLst>
              <a:ext uri="{FF2B5EF4-FFF2-40B4-BE49-F238E27FC236}">
                <a16:creationId xmlns:a16="http://schemas.microsoft.com/office/drawing/2014/main" id="{4C6117D5-A788-4828-2D17-BC20D3C2D0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7994" y="2181171"/>
            <a:ext cx="4697876" cy="371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788E61E-91C5-7B53-4A30-0FCD2C1635EE}"/>
              </a:ext>
            </a:extLst>
          </p:cNvPr>
          <p:cNvSpPr txBox="1"/>
          <p:nvPr/>
        </p:nvSpPr>
        <p:spPr>
          <a:xfrm>
            <a:off x="8700210" y="6109220"/>
            <a:ext cx="4888790" cy="313932"/>
          </a:xfrm>
          <a:prstGeom prst="rect">
            <a:avLst/>
          </a:prstGeom>
          <a:noFill/>
        </p:spPr>
        <p:txBody>
          <a:bodyPr wrap="square">
            <a:spAutoFit/>
          </a:bodyPr>
          <a:lstStyle/>
          <a:p>
            <a:pPr defTabSz="731520">
              <a:spcAft>
                <a:spcPts val="600"/>
              </a:spcAft>
            </a:pPr>
            <a:r>
              <a:rPr lang="en-US" sz="1440" kern="1200" dirty="0">
                <a:solidFill>
                  <a:schemeClr val="tx1"/>
                </a:solidFill>
                <a:latin typeface="+mn-lt"/>
                <a:ea typeface="+mn-ea"/>
                <a:cs typeface="+mn-cs"/>
                <a:hlinkClick r:id="rId4"/>
              </a:rPr>
              <a:t>Bayesian networks (ermongroup.github.io)</a:t>
            </a:r>
            <a:endParaRPr lang="en-NL" dirty="0"/>
          </a:p>
        </p:txBody>
      </p:sp>
    </p:spTree>
    <p:extLst>
      <p:ext uri="{BB962C8B-B14F-4D97-AF65-F5344CB8AC3E}">
        <p14:creationId xmlns:p14="http://schemas.microsoft.com/office/powerpoint/2010/main" val="39218186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FEB46-472A-8137-F9DB-CA7E9E5EB49F}"/>
              </a:ext>
            </a:extLst>
          </p:cNvPr>
          <p:cNvSpPr>
            <a:spLocks noGrp="1"/>
          </p:cNvSpPr>
          <p:nvPr>
            <p:ph type="title"/>
          </p:nvPr>
        </p:nvSpPr>
        <p:spPr/>
        <p:txBody>
          <a:bodyPr/>
          <a:lstStyle/>
          <a:p>
            <a:r>
              <a:rPr lang="en-US" dirty="0"/>
              <a:t>Example: Frozen Lake </a:t>
            </a:r>
            <a:endParaRPr lang="en-NL" dirty="0"/>
          </a:p>
        </p:txBody>
      </p:sp>
      <p:pic>
        <p:nvPicPr>
          <p:cNvPr id="1028" name="Picture 4" descr="Introduction to Reinforcement Learning: the Frozen Lake Example ...">
            <a:extLst>
              <a:ext uri="{FF2B5EF4-FFF2-40B4-BE49-F238E27FC236}">
                <a16:creationId xmlns:a16="http://schemas.microsoft.com/office/drawing/2014/main" id="{0307CB48-7E83-AF7A-6AD1-9E22A1586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795399"/>
            <a:ext cx="5057775" cy="1914525"/>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62192476-77E3-7559-52F6-03C6F302DD14}"/>
              </a:ext>
            </a:extLst>
          </p:cNvPr>
          <p:cNvGrpSpPr/>
          <p:nvPr/>
        </p:nvGrpSpPr>
        <p:grpSpPr>
          <a:xfrm>
            <a:off x="362686" y="4806638"/>
            <a:ext cx="11466627" cy="890956"/>
            <a:chOff x="551472" y="2496951"/>
            <a:chExt cx="11466627" cy="890956"/>
          </a:xfrm>
        </p:grpSpPr>
        <p:sp>
          <p:nvSpPr>
            <p:cNvPr id="3" name="Oval 2">
              <a:extLst>
                <a:ext uri="{FF2B5EF4-FFF2-40B4-BE49-F238E27FC236}">
                  <a16:creationId xmlns:a16="http://schemas.microsoft.com/office/drawing/2014/main" id="{4912E7F9-D435-24A3-9C09-81E94D29E456}"/>
                </a:ext>
              </a:extLst>
            </p:cNvPr>
            <p:cNvSpPr/>
            <p:nvPr/>
          </p:nvSpPr>
          <p:spPr>
            <a:xfrm>
              <a:off x="3241431" y="2496953"/>
              <a:ext cx="1774093" cy="890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Prev. position</a:t>
              </a:r>
              <a:endParaRPr lang="en-NL" dirty="0"/>
            </a:p>
          </p:txBody>
        </p:sp>
        <p:sp>
          <p:nvSpPr>
            <p:cNvPr id="4" name="Oval 3">
              <a:extLst>
                <a:ext uri="{FF2B5EF4-FFF2-40B4-BE49-F238E27FC236}">
                  <a16:creationId xmlns:a16="http://schemas.microsoft.com/office/drawing/2014/main" id="{AEC000E6-25E9-5C92-1255-AE710CAC908B}"/>
                </a:ext>
              </a:extLst>
            </p:cNvPr>
            <p:cNvSpPr/>
            <p:nvPr/>
          </p:nvSpPr>
          <p:spPr>
            <a:xfrm>
              <a:off x="5435598" y="2496954"/>
              <a:ext cx="1774093" cy="890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Current position</a:t>
              </a:r>
              <a:endParaRPr lang="en-NL" dirty="0"/>
            </a:p>
          </p:txBody>
        </p:sp>
        <p:sp>
          <p:nvSpPr>
            <p:cNvPr id="5" name="Oval 4">
              <a:extLst>
                <a:ext uri="{FF2B5EF4-FFF2-40B4-BE49-F238E27FC236}">
                  <a16:creationId xmlns:a16="http://schemas.microsoft.com/office/drawing/2014/main" id="{5CC26277-5245-8E3E-0697-83F7DC285998}"/>
                </a:ext>
              </a:extLst>
            </p:cNvPr>
            <p:cNvSpPr/>
            <p:nvPr/>
          </p:nvSpPr>
          <p:spPr>
            <a:xfrm>
              <a:off x="7629765" y="2496952"/>
              <a:ext cx="1774093" cy="890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Next position</a:t>
              </a:r>
              <a:endParaRPr lang="en-NL" dirty="0"/>
            </a:p>
          </p:txBody>
        </p:sp>
        <p:cxnSp>
          <p:nvCxnSpPr>
            <p:cNvPr id="7" name="Straight Arrow Connector 6">
              <a:extLst>
                <a:ext uri="{FF2B5EF4-FFF2-40B4-BE49-F238E27FC236}">
                  <a16:creationId xmlns:a16="http://schemas.microsoft.com/office/drawing/2014/main" id="{B3056880-1DD2-CD24-9748-2BFAA5C27D67}"/>
                </a:ext>
              </a:extLst>
            </p:cNvPr>
            <p:cNvCxnSpPr>
              <a:cxnSpLocks/>
              <a:stCxn id="3" idx="6"/>
              <a:endCxn id="4" idx="2"/>
            </p:cNvCxnSpPr>
            <p:nvPr/>
          </p:nvCxnSpPr>
          <p:spPr>
            <a:xfrm>
              <a:off x="5015524" y="2942430"/>
              <a:ext cx="42007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6C65362-968D-C426-0B35-C77A4D15677C}"/>
                </a:ext>
              </a:extLst>
            </p:cNvPr>
            <p:cNvCxnSpPr>
              <a:cxnSpLocks/>
              <a:stCxn id="4" idx="6"/>
              <a:endCxn id="5" idx="2"/>
            </p:cNvCxnSpPr>
            <p:nvPr/>
          </p:nvCxnSpPr>
          <p:spPr>
            <a:xfrm flipV="1">
              <a:off x="7209691" y="2942429"/>
              <a:ext cx="420074" cy="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D3744027-0D9F-0A3F-F907-B262E03465B7}"/>
                </a:ext>
              </a:extLst>
            </p:cNvPr>
            <p:cNvSpPr/>
            <p:nvPr/>
          </p:nvSpPr>
          <p:spPr>
            <a:xfrm>
              <a:off x="551472" y="2496952"/>
              <a:ext cx="1774093" cy="890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Initial Position</a:t>
              </a:r>
              <a:endParaRPr lang="en-NL" dirty="0"/>
            </a:p>
          </p:txBody>
        </p:sp>
        <p:sp>
          <p:nvSpPr>
            <p:cNvPr id="16" name="Oval 15">
              <a:extLst>
                <a:ext uri="{FF2B5EF4-FFF2-40B4-BE49-F238E27FC236}">
                  <a16:creationId xmlns:a16="http://schemas.microsoft.com/office/drawing/2014/main" id="{6472647A-690E-F023-A0D3-3F8EC65273D8}"/>
                </a:ext>
              </a:extLst>
            </p:cNvPr>
            <p:cNvSpPr/>
            <p:nvPr/>
          </p:nvSpPr>
          <p:spPr>
            <a:xfrm>
              <a:off x="10244006" y="2496951"/>
              <a:ext cx="1774093" cy="89095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Final Position</a:t>
              </a:r>
              <a:endParaRPr lang="en-NL" dirty="0"/>
            </a:p>
          </p:txBody>
        </p: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7EA0DD2-5B54-0CCE-FF23-182FA397B3B4}"/>
                  </a:ext>
                </a:extLst>
              </p:cNvPr>
              <p:cNvSpPr txBox="1"/>
              <p:nvPr/>
            </p:nvSpPr>
            <p:spPr>
              <a:xfrm>
                <a:off x="1249732" y="5958367"/>
                <a:ext cx="10863384" cy="369397"/>
              </a:xfrm>
              <a:prstGeom prst="rect">
                <a:avLst/>
              </a:prstGeom>
              <a:noFill/>
            </p:spPr>
            <p:txBody>
              <a:bodyPr wrap="square">
                <a:spAutoFit/>
              </a:bodyPr>
              <a:lstStyle/>
              <a:p>
                <a:pPr marL="0" indent="0">
                  <a:spcAft>
                    <a:spcPts val="600"/>
                  </a:spcAft>
                  <a:buNone/>
                </a:pPr>
                <a14:m>
                  <m:oMathPara xmlns:m="http://schemas.openxmlformats.org/officeDocument/2006/math">
                    <m:oMathParaPr>
                      <m:jc m:val="center"/>
                    </m:oMathParaPr>
                    <m:oMath>
                      <m:r>
                        <a:rPr lang="en-US" sz="1800" i="1" smtClean="0">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b="0" i="1" smtClean="0">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b="0" i="1" smtClean="0">
                                  <a:latin typeface="Cambria Math" panose="02040503050406030204" pitchFamily="18" charset="0"/>
                                </a:rPr>
                                <m:t>1</m:t>
                              </m:r>
                            </m:sub>
                          </m:sSub>
                        </m:e>
                      </m:d>
                      <m:r>
                        <a:rPr lang="en-US" sz="1800" i="1">
                          <a:latin typeface="Cambria Math" panose="02040503050406030204" pitchFamily="18"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r>
                            <a:rPr lang="en-US" sz="1800" i="1">
                              <a:latin typeface="Cambria Math" panose="02040503050406030204" pitchFamily="18" charset="0"/>
                            </a:rPr>
                            <m:t> </m:t>
                          </m:r>
                        </m:e>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e>
                      </m:d>
                      <m:r>
                        <a:rPr lang="en-US" sz="1800" i="1">
                          <a:latin typeface="Cambria Math" panose="02040503050406030204" pitchFamily="18"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sub>
                          </m:sSub>
                          <m:r>
                            <a:rPr lang="en-US" sz="1800" i="1">
                              <a:latin typeface="Cambria Math" panose="02040503050406030204" pitchFamily="18" charset="0"/>
                            </a:rPr>
                            <m:t> </m:t>
                          </m:r>
                        </m:e>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e>
                      </m:d>
                      <m:r>
                        <a:rPr lang="en-US" sz="1800" i="1">
                          <a:latin typeface="Cambria Math" panose="02040503050406030204" pitchFamily="18" charset="0"/>
                        </a:rPr>
                        <m:t>×⋯</m:t>
                      </m:r>
                      <m:r>
                        <a:rPr lang="en-US" sz="1800" b="0" i="1" smtClean="0">
                          <a:latin typeface="Cambria Math" panose="02040503050406030204" pitchFamily="18" charset="0"/>
                        </a:rPr>
                        <m:t>×</m:t>
                      </m:r>
                      <m:r>
                        <a:rPr lang="en-US" sz="1800" i="1">
                          <a:latin typeface="Cambria Math" panose="02040503050406030204" pitchFamily="18" charset="0"/>
                        </a:rPr>
                        <m:t>𝑃</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𝑁</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𝑁</m:t>
                              </m:r>
                            </m:sub>
                          </m:sSub>
                          <m:r>
                            <a:rPr lang="en-US" sz="1800" i="1">
                              <a:latin typeface="Cambria Math" panose="02040503050406030204" pitchFamily="18" charset="0"/>
                            </a:rPr>
                            <m:t> </m:t>
                          </m:r>
                        </m:e>
                        <m:e>
                          <m:sSub>
                            <m:sSubPr>
                              <m:ctrlPr>
                                <a:rPr lang="en-US" sz="1800" i="1">
                                  <a:latin typeface="Cambria Math" panose="02040503050406030204" pitchFamily="18" charset="0"/>
                                </a:rPr>
                              </m:ctrlPr>
                            </m:sSubPr>
                            <m:e>
                              <m:r>
                                <a:rPr lang="en-US" sz="1800" i="1">
                                  <a:latin typeface="Cambria Math" panose="02040503050406030204" pitchFamily="18" charset="0"/>
                                </a:rPr>
                                <m:t>𝑋</m:t>
                              </m:r>
                            </m:e>
                            <m:sub>
                              <m:r>
                                <a:rPr lang="en-US" sz="1800" i="1">
                                  <a:latin typeface="Cambria Math" panose="02040503050406030204" pitchFamily="18" charset="0"/>
                                </a:rPr>
                                <m:t>𝑁</m:t>
                              </m:r>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𝑁</m:t>
                              </m:r>
                              <m:r>
                                <a:rPr lang="en-US" sz="1800" i="1">
                                  <a:latin typeface="Cambria Math" panose="02040503050406030204" pitchFamily="18" charset="0"/>
                                </a:rPr>
                                <m:t>−1</m:t>
                              </m:r>
                            </m:sub>
                          </m:sSub>
                        </m:e>
                      </m:d>
                    </m:oMath>
                  </m:oMathPara>
                </a14:m>
                <a:br>
                  <a:rPr lang="en-US" sz="1800" i="1" dirty="0">
                    <a:latin typeface="Cambria Math" panose="02040503050406030204" pitchFamily="18" charset="0"/>
                  </a:rPr>
                </a:br>
                <a:endParaRPr lang="en-US" sz="1800" dirty="0"/>
              </a:p>
            </p:txBody>
          </p:sp>
        </mc:Choice>
        <mc:Fallback xmlns="">
          <p:sp>
            <p:nvSpPr>
              <p:cNvPr id="26" name="TextBox 25">
                <a:extLst>
                  <a:ext uri="{FF2B5EF4-FFF2-40B4-BE49-F238E27FC236}">
                    <a16:creationId xmlns:a16="http://schemas.microsoft.com/office/drawing/2014/main" id="{87EA0DD2-5B54-0CCE-FF23-182FA397B3B4}"/>
                  </a:ext>
                </a:extLst>
              </p:cNvPr>
              <p:cNvSpPr txBox="1">
                <a:spLocks noRot="1" noChangeAspect="1" noMove="1" noResize="1" noEditPoints="1" noAdjustHandles="1" noChangeArrowheads="1" noChangeShapeType="1" noTextEdit="1"/>
              </p:cNvSpPr>
              <p:nvPr/>
            </p:nvSpPr>
            <p:spPr>
              <a:xfrm>
                <a:off x="1249732" y="5958367"/>
                <a:ext cx="10863384" cy="369397"/>
              </a:xfrm>
              <a:prstGeom prst="rect">
                <a:avLst/>
              </a:prstGeom>
              <a:blipFill>
                <a:blip r:embed="rId3"/>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06CE6CA-6D27-B4D9-DE9C-D566C08A75B4}"/>
                  </a:ext>
                </a:extLst>
              </p:cNvPr>
              <p:cNvSpPr txBox="1"/>
              <p:nvPr/>
            </p:nvSpPr>
            <p:spPr>
              <a:xfrm>
                <a:off x="2258654" y="5067415"/>
                <a:ext cx="515815" cy="369397"/>
              </a:xfrm>
              <a:prstGeom prst="rect">
                <a:avLst/>
              </a:prstGeom>
              <a:noFill/>
            </p:spPr>
            <p:txBody>
              <a:bodyPr wrap="square">
                <a:spAutoFit/>
              </a:bodyPr>
              <a:lstStyle/>
              <a:p>
                <a:pPr/>
                <a14:m>
                  <m:oMathPara xmlns:m="http://schemas.openxmlformats.org/officeDocument/2006/math">
                    <m:oMath>
                      <m:r>
                        <a:rPr lang="en-US" sz="1800" i="1" smtClean="0">
                          <a:latin typeface="Cambria Math" panose="02040503050406030204" pitchFamily="18" charset="0"/>
                        </a:rPr>
                        <m:t>⋯</m:t>
                      </m:r>
                    </m:oMath>
                  </m:oMathPara>
                </a14:m>
                <a:endParaRPr lang="en-NL" dirty="0"/>
              </a:p>
            </p:txBody>
          </p:sp>
        </mc:Choice>
        <mc:Fallback xmlns="">
          <p:sp>
            <p:nvSpPr>
              <p:cNvPr id="29" name="TextBox 28">
                <a:extLst>
                  <a:ext uri="{FF2B5EF4-FFF2-40B4-BE49-F238E27FC236}">
                    <a16:creationId xmlns:a16="http://schemas.microsoft.com/office/drawing/2014/main" id="{B06CE6CA-6D27-B4D9-DE9C-D566C08A75B4}"/>
                  </a:ext>
                </a:extLst>
              </p:cNvPr>
              <p:cNvSpPr txBox="1">
                <a:spLocks noRot="1" noChangeAspect="1" noMove="1" noResize="1" noEditPoints="1" noAdjustHandles="1" noChangeArrowheads="1" noChangeShapeType="1" noTextEdit="1"/>
              </p:cNvSpPr>
              <p:nvPr/>
            </p:nvSpPr>
            <p:spPr>
              <a:xfrm>
                <a:off x="2258654" y="5067415"/>
                <a:ext cx="515815" cy="369397"/>
              </a:xfrm>
              <a:prstGeom prst="rect">
                <a:avLst/>
              </a:prstGeom>
              <a:blipFill>
                <a:blip r:embed="rId4"/>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6BB1C57-8F7F-B9B5-CADB-AD0E71EDE653}"/>
                  </a:ext>
                </a:extLst>
              </p:cNvPr>
              <p:cNvSpPr txBox="1"/>
              <p:nvPr/>
            </p:nvSpPr>
            <p:spPr>
              <a:xfrm>
                <a:off x="9377238" y="5072866"/>
                <a:ext cx="515815" cy="369397"/>
              </a:xfrm>
              <a:prstGeom prst="rect">
                <a:avLst/>
              </a:prstGeom>
              <a:noFill/>
            </p:spPr>
            <p:txBody>
              <a:bodyPr wrap="square">
                <a:spAutoFit/>
              </a:bodyPr>
              <a:lstStyle/>
              <a:p>
                <a:pPr/>
                <a14:m>
                  <m:oMathPara xmlns:m="http://schemas.openxmlformats.org/officeDocument/2006/math">
                    <m:oMath>
                      <m:r>
                        <a:rPr lang="en-US" sz="1800" i="1" smtClean="0">
                          <a:latin typeface="Cambria Math" panose="02040503050406030204" pitchFamily="18" charset="0"/>
                        </a:rPr>
                        <m:t>⋯</m:t>
                      </m:r>
                    </m:oMath>
                  </m:oMathPara>
                </a14:m>
                <a:endParaRPr lang="en-NL" dirty="0"/>
              </a:p>
            </p:txBody>
          </p:sp>
        </mc:Choice>
        <mc:Fallback xmlns="">
          <p:sp>
            <p:nvSpPr>
              <p:cNvPr id="30" name="TextBox 29">
                <a:extLst>
                  <a:ext uri="{FF2B5EF4-FFF2-40B4-BE49-F238E27FC236}">
                    <a16:creationId xmlns:a16="http://schemas.microsoft.com/office/drawing/2014/main" id="{C6BB1C57-8F7F-B9B5-CADB-AD0E71EDE653}"/>
                  </a:ext>
                </a:extLst>
              </p:cNvPr>
              <p:cNvSpPr txBox="1">
                <a:spLocks noRot="1" noChangeAspect="1" noMove="1" noResize="1" noEditPoints="1" noAdjustHandles="1" noChangeArrowheads="1" noChangeShapeType="1" noTextEdit="1"/>
              </p:cNvSpPr>
              <p:nvPr/>
            </p:nvSpPr>
            <p:spPr>
              <a:xfrm>
                <a:off x="9377238" y="5072866"/>
                <a:ext cx="515815" cy="369397"/>
              </a:xfrm>
              <a:prstGeom prst="rect">
                <a:avLst/>
              </a:prstGeom>
              <a:blipFill>
                <a:blip r:embed="rId5"/>
                <a:stretch>
                  <a:fillRect/>
                </a:stretch>
              </a:blipFill>
            </p:spPr>
            <p:txBody>
              <a:bodyPr/>
              <a:lstStyle/>
              <a:p>
                <a:r>
                  <a:rPr lang="en-NL">
                    <a:noFill/>
                  </a:rPr>
                  <a:t> </a:t>
                </a:r>
              </a:p>
            </p:txBody>
          </p:sp>
        </mc:Fallback>
      </mc:AlternateContent>
      <p:sp>
        <p:nvSpPr>
          <p:cNvPr id="31" name="Rectangle 30">
            <a:extLst>
              <a:ext uri="{FF2B5EF4-FFF2-40B4-BE49-F238E27FC236}">
                <a16:creationId xmlns:a16="http://schemas.microsoft.com/office/drawing/2014/main" id="{BB5FBF6F-A584-872B-92A2-3B634D2DAECD}"/>
              </a:ext>
            </a:extLst>
          </p:cNvPr>
          <p:cNvSpPr/>
          <p:nvPr/>
        </p:nvSpPr>
        <p:spPr>
          <a:xfrm>
            <a:off x="6416430" y="2005868"/>
            <a:ext cx="4790831" cy="11719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solidFill>
                  <a:schemeClr val="tx1"/>
                </a:solidFill>
              </a:rPr>
              <a:t>When you make a move, you may slip, so there is uncertainty in your next position given your actions. There is also uncertainty in your actions. </a:t>
            </a:r>
            <a:endParaRPr lang="en-NL" sz="1200" dirty="0">
              <a:solidFill>
                <a:schemeClr val="tx1"/>
              </a:solidFill>
            </a:endParaRPr>
          </a:p>
        </p:txBody>
      </p:sp>
      <p:sp>
        <p:nvSpPr>
          <p:cNvPr id="32" name="Rectangle: Rounded Corners 31">
            <a:extLst>
              <a:ext uri="{FF2B5EF4-FFF2-40B4-BE49-F238E27FC236}">
                <a16:creationId xmlns:a16="http://schemas.microsoft.com/office/drawing/2014/main" id="{BA5476A6-C995-44C3-EC89-54A793F9C7E0}"/>
              </a:ext>
            </a:extLst>
          </p:cNvPr>
          <p:cNvSpPr/>
          <p:nvPr/>
        </p:nvSpPr>
        <p:spPr>
          <a:xfrm>
            <a:off x="242277" y="4329723"/>
            <a:ext cx="11809046" cy="234461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3" name="Rectangle: Rounded Corners 32">
            <a:extLst>
              <a:ext uri="{FF2B5EF4-FFF2-40B4-BE49-F238E27FC236}">
                <a16:creationId xmlns:a16="http://schemas.microsoft.com/office/drawing/2014/main" id="{11DE2A2C-7177-79A2-CCB7-FFC1A7B5A05C}"/>
              </a:ext>
            </a:extLst>
          </p:cNvPr>
          <p:cNvSpPr/>
          <p:nvPr/>
        </p:nvSpPr>
        <p:spPr>
          <a:xfrm>
            <a:off x="242277" y="1512455"/>
            <a:ext cx="11809046" cy="234461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018348775"/>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B8FCA1-4183-2E8F-BC14-E699F1BA2862}"/>
              </a:ext>
            </a:extLst>
          </p:cNvPr>
          <p:cNvPicPr>
            <a:picLocks noChangeAspect="1"/>
          </p:cNvPicPr>
          <p:nvPr/>
        </p:nvPicPr>
        <p:blipFill>
          <a:blip r:embed="rId2"/>
          <a:stretch>
            <a:fillRect/>
          </a:stretch>
        </p:blipFill>
        <p:spPr>
          <a:xfrm>
            <a:off x="2166389" y="671127"/>
            <a:ext cx="7859222" cy="5515745"/>
          </a:xfrm>
          <a:prstGeom prst="rect">
            <a:avLst/>
          </a:prstGeom>
        </p:spPr>
      </p:pic>
      <p:sp>
        <p:nvSpPr>
          <p:cNvPr id="3" name="TextBox 2">
            <a:extLst>
              <a:ext uri="{FF2B5EF4-FFF2-40B4-BE49-F238E27FC236}">
                <a16:creationId xmlns:a16="http://schemas.microsoft.com/office/drawing/2014/main" id="{026BBA72-CA25-2014-0FA3-69F9FE2AA73D}"/>
              </a:ext>
            </a:extLst>
          </p:cNvPr>
          <p:cNvSpPr txBox="1"/>
          <p:nvPr/>
        </p:nvSpPr>
        <p:spPr>
          <a:xfrm>
            <a:off x="703384" y="6002206"/>
            <a:ext cx="8487508" cy="369332"/>
          </a:xfrm>
          <a:prstGeom prst="rect">
            <a:avLst/>
          </a:prstGeom>
          <a:noFill/>
        </p:spPr>
        <p:txBody>
          <a:bodyPr wrap="square">
            <a:spAutoFit/>
          </a:bodyPr>
          <a:lstStyle/>
          <a:p>
            <a:r>
              <a:rPr lang="en-US" dirty="0">
                <a:hlinkClick r:id="rId3"/>
              </a:rPr>
              <a:t>See Chapter 8 of Pattern Recognition and Machine Learning (microsoft.com)</a:t>
            </a:r>
            <a:endParaRPr lang="en-NL" dirty="0"/>
          </a:p>
        </p:txBody>
      </p:sp>
    </p:spTree>
    <p:extLst>
      <p:ext uri="{BB962C8B-B14F-4D97-AF65-F5344CB8AC3E}">
        <p14:creationId xmlns:p14="http://schemas.microsoft.com/office/powerpoint/2010/main" val="375698900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ABF9E6-EDB3-0267-D99C-50E3BE54D15C}"/>
              </a:ext>
            </a:extLst>
          </p:cNvPr>
          <p:cNvPicPr>
            <a:picLocks noChangeAspect="1"/>
          </p:cNvPicPr>
          <p:nvPr/>
        </p:nvPicPr>
        <p:blipFill>
          <a:blip r:embed="rId2"/>
          <a:stretch>
            <a:fillRect/>
          </a:stretch>
        </p:blipFill>
        <p:spPr>
          <a:xfrm>
            <a:off x="1828204" y="904522"/>
            <a:ext cx="8535591" cy="5048955"/>
          </a:xfrm>
          <a:prstGeom prst="rect">
            <a:avLst/>
          </a:prstGeom>
        </p:spPr>
      </p:pic>
    </p:spTree>
    <p:extLst>
      <p:ext uri="{BB962C8B-B14F-4D97-AF65-F5344CB8AC3E}">
        <p14:creationId xmlns:p14="http://schemas.microsoft.com/office/powerpoint/2010/main" val="16251995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76F671-4037-5E08-D04D-C60ABADB7F6D}"/>
              </a:ext>
            </a:extLst>
          </p:cNvPr>
          <p:cNvPicPr>
            <a:picLocks noChangeAspect="1"/>
          </p:cNvPicPr>
          <p:nvPr/>
        </p:nvPicPr>
        <p:blipFill>
          <a:blip r:embed="rId2"/>
          <a:stretch>
            <a:fillRect/>
          </a:stretch>
        </p:blipFill>
        <p:spPr>
          <a:xfrm>
            <a:off x="1823441" y="694943"/>
            <a:ext cx="8545118" cy="5468113"/>
          </a:xfrm>
          <a:prstGeom prst="rect">
            <a:avLst/>
          </a:prstGeom>
        </p:spPr>
      </p:pic>
    </p:spTree>
    <p:extLst>
      <p:ext uri="{BB962C8B-B14F-4D97-AF65-F5344CB8AC3E}">
        <p14:creationId xmlns:p14="http://schemas.microsoft.com/office/powerpoint/2010/main" val="18251776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2E3851A-E2BA-4A02-6EF5-8BF09146159F}"/>
              </a:ext>
            </a:extLst>
          </p:cNvPr>
          <p:cNvPicPr>
            <a:picLocks noChangeAspect="1"/>
          </p:cNvPicPr>
          <p:nvPr/>
        </p:nvPicPr>
        <p:blipFill>
          <a:blip r:embed="rId3"/>
          <a:stretch>
            <a:fillRect/>
          </a:stretch>
        </p:blipFill>
        <p:spPr>
          <a:xfrm>
            <a:off x="1828204" y="709233"/>
            <a:ext cx="8535591" cy="5439534"/>
          </a:xfrm>
          <a:prstGeom prst="rect">
            <a:avLst/>
          </a:prstGeom>
        </p:spPr>
      </p:pic>
    </p:spTree>
    <p:extLst>
      <p:ext uri="{BB962C8B-B14F-4D97-AF65-F5344CB8AC3E}">
        <p14:creationId xmlns:p14="http://schemas.microsoft.com/office/powerpoint/2010/main" val="354071215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1834ED-EBCF-F11D-2A83-77928DC1EF09}"/>
              </a:ext>
            </a:extLst>
          </p:cNvPr>
          <p:cNvPicPr>
            <a:picLocks noChangeAspect="1"/>
          </p:cNvPicPr>
          <p:nvPr/>
        </p:nvPicPr>
        <p:blipFill>
          <a:blip r:embed="rId2"/>
          <a:stretch>
            <a:fillRect/>
          </a:stretch>
        </p:blipFill>
        <p:spPr>
          <a:xfrm>
            <a:off x="1761520" y="775917"/>
            <a:ext cx="8668960" cy="5306165"/>
          </a:xfrm>
          <a:prstGeom prst="rect">
            <a:avLst/>
          </a:prstGeom>
        </p:spPr>
      </p:pic>
    </p:spTree>
    <p:extLst>
      <p:ext uri="{BB962C8B-B14F-4D97-AF65-F5344CB8AC3E}">
        <p14:creationId xmlns:p14="http://schemas.microsoft.com/office/powerpoint/2010/main" val="33017155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B6D889-65E6-D41B-2931-15D384811225}"/>
              </a:ext>
            </a:extLst>
          </p:cNvPr>
          <p:cNvPicPr>
            <a:picLocks noChangeAspect="1"/>
          </p:cNvPicPr>
          <p:nvPr/>
        </p:nvPicPr>
        <p:blipFill>
          <a:blip r:embed="rId2"/>
          <a:stretch>
            <a:fillRect/>
          </a:stretch>
        </p:blipFill>
        <p:spPr>
          <a:xfrm>
            <a:off x="1594809" y="1037891"/>
            <a:ext cx="9002381" cy="4782217"/>
          </a:xfrm>
          <a:prstGeom prst="rect">
            <a:avLst/>
          </a:prstGeom>
        </p:spPr>
      </p:pic>
      <p:sp>
        <p:nvSpPr>
          <p:cNvPr id="2" name="TextBox 1">
            <a:extLst>
              <a:ext uri="{FF2B5EF4-FFF2-40B4-BE49-F238E27FC236}">
                <a16:creationId xmlns:a16="http://schemas.microsoft.com/office/drawing/2014/main" id="{287EE040-F8EB-FACD-0448-36E2D3025985}"/>
              </a:ext>
            </a:extLst>
          </p:cNvPr>
          <p:cNvSpPr txBox="1"/>
          <p:nvPr/>
        </p:nvSpPr>
        <p:spPr>
          <a:xfrm>
            <a:off x="1140903" y="5914239"/>
            <a:ext cx="5449249" cy="369332"/>
          </a:xfrm>
          <a:prstGeom prst="rect">
            <a:avLst/>
          </a:prstGeom>
          <a:noFill/>
        </p:spPr>
        <p:txBody>
          <a:bodyPr wrap="none" rtlCol="0">
            <a:spAutoFit/>
          </a:bodyPr>
          <a:lstStyle/>
          <a:p>
            <a:r>
              <a:rPr lang="en-US" dirty="0"/>
              <a:t>Prove how the third line is derived from the second line.</a:t>
            </a:r>
            <a:endParaRPr lang="en-NL" dirty="0"/>
          </a:p>
        </p:txBody>
      </p:sp>
    </p:spTree>
    <p:extLst>
      <p:ext uri="{BB962C8B-B14F-4D97-AF65-F5344CB8AC3E}">
        <p14:creationId xmlns:p14="http://schemas.microsoft.com/office/powerpoint/2010/main" val="3935784821"/>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8A51-820E-A260-4C25-9A2F7F5D8304}"/>
              </a:ext>
            </a:extLst>
          </p:cNvPr>
          <p:cNvSpPr>
            <a:spLocks noGrp="1"/>
          </p:cNvSpPr>
          <p:nvPr>
            <p:ph type="title"/>
          </p:nvPr>
        </p:nvSpPr>
        <p:spPr/>
        <p:txBody>
          <a:bodyPr/>
          <a:lstStyle/>
          <a:p>
            <a:r>
              <a:rPr lang="en-US" dirty="0"/>
              <a:t>It is your turn</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1CABF6-EEF9-1575-4474-BAEC6C4188EF}"/>
                  </a:ext>
                </a:extLst>
              </p:cNvPr>
              <p:cNvSpPr>
                <a:spLocks noGrp="1"/>
              </p:cNvSpPr>
              <p:nvPr>
                <p:ph idx="1"/>
              </p:nvPr>
            </p:nvSpPr>
            <p:spPr>
              <a:xfrm>
                <a:off x="838199" y="1825625"/>
                <a:ext cx="11143593" cy="4922016"/>
              </a:xfrm>
            </p:spPr>
            <p:txBody>
              <a:bodyPr>
                <a:noAutofit/>
              </a:bodyPr>
              <a:lstStyle/>
              <a:p>
                <a:r>
                  <a:rPr lang="en-US" dirty="0"/>
                  <a:t>Simulate the effect of a broken Markov chain.</a:t>
                </a:r>
              </a:p>
              <a:p>
                <a:pPr lvl="1"/>
                <a:r>
                  <a:rPr lang="en-US" dirty="0"/>
                  <a:t>Create a chain by choosing a rule to create 3 </a:t>
                </a:r>
                <a:r>
                  <a:rPr lang="en-US" b="1" dirty="0"/>
                  <a:t>consecutive</a:t>
                </a:r>
                <a:r>
                  <a:rPr lang="en-US" dirty="0"/>
                  <a:t> numbers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a14:m>
                <a:r>
                  <a:rPr lang="en-US" dirty="0"/>
                  <a:t> randomly such that each number depend on the previous one.</a:t>
                </a:r>
              </a:p>
              <a:p>
                <a:pPr lvl="1"/>
                <a:endParaRPr lang="en-US" dirty="0"/>
              </a:p>
              <a:p>
                <a:pPr lvl="1"/>
                <a:r>
                  <a:rPr lang="en-US" dirty="0"/>
                  <a:t>Sample several chains. To sample random variables, use  </a:t>
                </a:r>
                <a:r>
                  <a:rPr lang="en-US" dirty="0" err="1">
                    <a:hlinkClick r:id="rId2"/>
                  </a:rPr>
                  <a:t>numpy.random.choice</a:t>
                </a:r>
                <a:r>
                  <a:rPr lang="en-US" dirty="0">
                    <a:hlinkClick r:id="rId2"/>
                  </a:rPr>
                  <a:t> </a:t>
                </a:r>
                <a:endParaRPr lang="en-US" dirty="0"/>
              </a:p>
              <a:p>
                <a:pPr lvl="1"/>
                <a:endParaRPr lang="en-US" dirty="0"/>
              </a:p>
              <a:p>
                <a:pPr lvl="1"/>
                <a:r>
                  <a:rPr lang="en-US" dirty="0"/>
                  <a:t>Create an empirical probability table for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0</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2</m:t>
                        </m:r>
                      </m:sub>
                    </m:sSub>
                  </m:oMath>
                </a14:m>
                <a:r>
                  <a:rPr lang="en-US" dirty="0"/>
                  <a:t>  and marginals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e>
                    </m:d>
                    <m:r>
                      <a:rPr lang="en-US" i="1">
                        <a:latin typeface="Cambria Math" panose="02040503050406030204" pitchFamily="18" charset="0"/>
                      </a:rPr>
                      <m:t> </m:t>
                    </m:r>
                  </m:oMath>
                </a14:m>
                <a:r>
                  <a:rPr lang="en-US" dirty="0"/>
                  <a:t>and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2</m:t>
                            </m:r>
                          </m:sub>
                        </m:sSub>
                      </m:e>
                    </m:d>
                    <m:r>
                      <a:rPr lang="en-US" i="1">
                        <a:latin typeface="Cambria Math" panose="02040503050406030204" pitchFamily="18" charset="0"/>
                      </a:rPr>
                      <m:t> </m:t>
                    </m:r>
                  </m:oMath>
                </a14:m>
                <a:r>
                  <a:rPr lang="en-US" dirty="0"/>
                  <a:t>based on the samples above, show that </a:t>
                </a:r>
                <a14:m>
                  <m:oMath xmlns:m="http://schemas.openxmlformats.org/officeDocument/2006/math">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e>
                    </m:d>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e>
                    </m:d>
                  </m:oMath>
                </a14:m>
                <a:endParaRPr lang="en-US" dirty="0"/>
              </a:p>
              <a:p>
                <a:pPr lvl="1"/>
                <a:endParaRPr lang="en-US" dirty="0"/>
              </a:p>
              <a:p>
                <a:pPr lvl="1"/>
                <a:r>
                  <a:rPr lang="en-US" dirty="0"/>
                  <a:t>Now condition you chains based on the value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oMath>
                </a14:m>
                <a:r>
                  <a:rPr lang="en-US" dirty="0"/>
                  <a:t> say pick all chains where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1</m:t>
                        </m:r>
                      </m:sub>
                    </m:sSub>
                    <m:r>
                      <a:rPr lang="en-US" b="0" i="1" smtClean="0">
                        <a:latin typeface="Cambria Math" panose="02040503050406030204" pitchFamily="18" charset="0"/>
                      </a:rPr>
                      <m:t>=0</m:t>
                    </m:r>
                  </m:oMath>
                </a14:m>
                <a:r>
                  <a:rPr lang="en-US" dirty="0"/>
                  <a:t> , and again crate the empirical probability table 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oMath>
                </a14:m>
                <a:endParaRPr lang="en-US" dirty="0"/>
              </a:p>
              <a:p>
                <a:pPr marL="457200" lvl="1" indent="0">
                  <a:buNone/>
                </a:pPr>
                <a14:m>
                  <m:oMathPara xmlns:m="http://schemas.openxmlformats.org/officeDocument/2006/math">
                    <m:oMath>
                      <m:r>
                        <a:rPr lang="en-US" i="1" smtClean="0">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e>
                      </m:d>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0</m:t>
                              </m:r>
                            </m:sub>
                          </m:sSub>
                        </m:e>
                      </m:d>
                      <m:r>
                        <a:rPr lang="en-US" i="1">
                          <a:latin typeface="Cambria Math" panose="02040503050406030204" pitchFamily="18" charset="0"/>
                        </a:rPr>
                        <m:t>𝑃</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2</m:t>
                              </m:r>
                            </m:sub>
                          </m:sSub>
                        </m:e>
                      </m:d>
                    </m:oMath>
                  </m:oMathPara>
                </a14:m>
                <a:endParaRPr lang="en-US" dirty="0"/>
              </a:p>
              <a:p>
                <a:pPr lvl="1"/>
                <a:endParaRPr lang="en-NL" dirty="0"/>
              </a:p>
            </p:txBody>
          </p:sp>
        </mc:Choice>
        <mc:Fallback xmlns="">
          <p:sp>
            <p:nvSpPr>
              <p:cNvPr id="3" name="Content Placeholder 2">
                <a:extLst>
                  <a:ext uri="{FF2B5EF4-FFF2-40B4-BE49-F238E27FC236}">
                    <a16:creationId xmlns:a16="http://schemas.microsoft.com/office/drawing/2014/main" id="{8C1CABF6-EEF9-1575-4474-BAEC6C4188EF}"/>
                  </a:ext>
                </a:extLst>
              </p:cNvPr>
              <p:cNvSpPr>
                <a:spLocks noGrp="1" noRot="1" noChangeAspect="1" noMove="1" noResize="1" noEditPoints="1" noAdjustHandles="1" noChangeArrowheads="1" noChangeShapeType="1" noTextEdit="1"/>
              </p:cNvSpPr>
              <p:nvPr>
                <p:ph idx="1"/>
              </p:nvPr>
            </p:nvSpPr>
            <p:spPr>
              <a:xfrm>
                <a:off x="838199" y="1825625"/>
                <a:ext cx="11143593" cy="4922016"/>
              </a:xfrm>
              <a:blipFill>
                <a:blip r:embed="rId3"/>
                <a:stretch>
                  <a:fillRect l="-929" t="-1980"/>
                </a:stretch>
              </a:blipFill>
            </p:spPr>
            <p:txBody>
              <a:bodyPr/>
              <a:lstStyle/>
              <a:p>
                <a:r>
                  <a:rPr lang="en-NL">
                    <a:noFill/>
                  </a:rPr>
                  <a:t> </a:t>
                </a:r>
              </a:p>
            </p:txBody>
          </p:sp>
        </mc:Fallback>
      </mc:AlternateContent>
    </p:spTree>
    <p:extLst>
      <p:ext uri="{BB962C8B-B14F-4D97-AF65-F5344CB8AC3E}">
        <p14:creationId xmlns:p14="http://schemas.microsoft.com/office/powerpoint/2010/main" val="38818843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FC550C-F6DE-758E-3B2A-8DD4406D3D30}"/>
              </a:ext>
            </a:extLst>
          </p:cNvPr>
          <p:cNvPicPr>
            <a:picLocks noChangeAspect="1"/>
          </p:cNvPicPr>
          <p:nvPr/>
        </p:nvPicPr>
        <p:blipFill>
          <a:blip r:embed="rId2"/>
          <a:stretch>
            <a:fillRect/>
          </a:stretch>
        </p:blipFill>
        <p:spPr>
          <a:xfrm>
            <a:off x="1728178" y="447259"/>
            <a:ext cx="8735644" cy="5963482"/>
          </a:xfrm>
          <a:prstGeom prst="rect">
            <a:avLst/>
          </a:prstGeom>
        </p:spPr>
      </p:pic>
    </p:spTree>
    <p:extLst>
      <p:ext uri="{BB962C8B-B14F-4D97-AF65-F5344CB8AC3E}">
        <p14:creationId xmlns:p14="http://schemas.microsoft.com/office/powerpoint/2010/main" val="1667443842"/>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F2EA85-82E3-08CF-FFD9-62B131A26AEB}"/>
              </a:ext>
            </a:extLst>
          </p:cNvPr>
          <p:cNvPicPr>
            <a:picLocks noChangeAspect="1"/>
          </p:cNvPicPr>
          <p:nvPr/>
        </p:nvPicPr>
        <p:blipFill>
          <a:blip r:embed="rId2"/>
          <a:stretch>
            <a:fillRect/>
          </a:stretch>
        </p:blipFill>
        <p:spPr>
          <a:xfrm>
            <a:off x="1728178" y="942628"/>
            <a:ext cx="8735644" cy="4972744"/>
          </a:xfrm>
          <a:prstGeom prst="rect">
            <a:avLst/>
          </a:prstGeom>
        </p:spPr>
      </p:pic>
    </p:spTree>
    <p:extLst>
      <p:ext uri="{BB962C8B-B14F-4D97-AF65-F5344CB8AC3E}">
        <p14:creationId xmlns:p14="http://schemas.microsoft.com/office/powerpoint/2010/main" val="2864063322"/>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7407B8-FA05-EEB9-42BC-CA5318D27619}"/>
              </a:ext>
            </a:extLst>
          </p:cNvPr>
          <p:cNvPicPr>
            <a:picLocks noChangeAspect="1"/>
          </p:cNvPicPr>
          <p:nvPr/>
        </p:nvPicPr>
        <p:blipFill>
          <a:blip r:embed="rId2"/>
          <a:stretch>
            <a:fillRect/>
          </a:stretch>
        </p:blipFill>
        <p:spPr>
          <a:xfrm>
            <a:off x="1718651" y="780680"/>
            <a:ext cx="8754697" cy="5296639"/>
          </a:xfrm>
          <a:prstGeom prst="rect">
            <a:avLst/>
          </a:prstGeom>
        </p:spPr>
      </p:pic>
      <p:sp>
        <p:nvSpPr>
          <p:cNvPr id="2" name="Rectangle 1">
            <a:extLst>
              <a:ext uri="{FF2B5EF4-FFF2-40B4-BE49-F238E27FC236}">
                <a16:creationId xmlns:a16="http://schemas.microsoft.com/office/drawing/2014/main" id="{05BE60C3-11FE-CA0A-A9F6-C198008D3C2E}"/>
              </a:ext>
            </a:extLst>
          </p:cNvPr>
          <p:cNvSpPr/>
          <p:nvPr/>
        </p:nvSpPr>
        <p:spPr>
          <a:xfrm>
            <a:off x="1796716" y="585537"/>
            <a:ext cx="8676632" cy="9384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The Sprinkler and Rain are Causally independent. But observing that the grass is wet makes them statistically dependent.</a:t>
            </a:r>
            <a:endParaRPr lang="en-NL" dirty="0">
              <a:solidFill>
                <a:schemeClr val="tx1"/>
              </a:solidFill>
            </a:endParaRPr>
          </a:p>
        </p:txBody>
      </p:sp>
    </p:spTree>
    <p:extLst>
      <p:ext uri="{BB962C8B-B14F-4D97-AF65-F5344CB8AC3E}">
        <p14:creationId xmlns:p14="http://schemas.microsoft.com/office/powerpoint/2010/main" val="3007822482"/>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8A51-820E-A260-4C25-9A2F7F5D8304}"/>
              </a:ext>
            </a:extLst>
          </p:cNvPr>
          <p:cNvSpPr>
            <a:spLocks noGrp="1"/>
          </p:cNvSpPr>
          <p:nvPr>
            <p:ph type="title"/>
          </p:nvPr>
        </p:nvSpPr>
        <p:spPr/>
        <p:txBody>
          <a:bodyPr/>
          <a:lstStyle/>
          <a:p>
            <a:r>
              <a:rPr lang="en-US" dirty="0"/>
              <a:t>It is your turn</a:t>
            </a:r>
            <a:endParaRPr lang="en-NL" dirty="0"/>
          </a:p>
        </p:txBody>
      </p:sp>
      <p:sp>
        <p:nvSpPr>
          <p:cNvPr id="3" name="Content Placeholder 2">
            <a:extLst>
              <a:ext uri="{FF2B5EF4-FFF2-40B4-BE49-F238E27FC236}">
                <a16:creationId xmlns:a16="http://schemas.microsoft.com/office/drawing/2014/main" id="{8C1CABF6-EEF9-1575-4474-BAEC6C4188EF}"/>
              </a:ext>
            </a:extLst>
          </p:cNvPr>
          <p:cNvSpPr>
            <a:spLocks noGrp="1"/>
          </p:cNvSpPr>
          <p:nvPr>
            <p:ph idx="1"/>
          </p:nvPr>
        </p:nvSpPr>
        <p:spPr/>
        <p:txBody>
          <a:bodyPr/>
          <a:lstStyle/>
          <a:p>
            <a:r>
              <a:rPr lang="en-US" dirty="0"/>
              <a:t>Simulate the effect of dependent parent nodes after their child is observed. </a:t>
            </a:r>
          </a:p>
          <a:p>
            <a:r>
              <a:rPr lang="en-US" dirty="0"/>
              <a:t>Work in groups of two </a:t>
            </a:r>
          </a:p>
          <a:p>
            <a:endParaRPr lang="en-US" dirty="0"/>
          </a:p>
          <a:p>
            <a:r>
              <a:rPr lang="en-US" dirty="0"/>
              <a:t>To sample random variables use  </a:t>
            </a:r>
            <a:r>
              <a:rPr lang="en-US" dirty="0" err="1">
                <a:hlinkClick r:id="rId2"/>
              </a:rPr>
              <a:t>numpy.random.choice</a:t>
            </a:r>
            <a:r>
              <a:rPr lang="en-US" dirty="0">
                <a:hlinkClick r:id="rId2"/>
              </a:rPr>
              <a:t> </a:t>
            </a:r>
            <a:endParaRPr lang="en-US" dirty="0"/>
          </a:p>
          <a:p>
            <a:pPr marL="0" indent="0">
              <a:buNone/>
            </a:pPr>
            <a:endParaRPr lang="en-US" dirty="0"/>
          </a:p>
          <a:p>
            <a:pPr marL="0" indent="0">
              <a:buNone/>
            </a:pPr>
            <a:r>
              <a:rPr lang="en-US" dirty="0"/>
              <a:t>https://numpy.org/doc/stable/reference/random/generated/numpy.random.choice.html</a:t>
            </a:r>
            <a:endParaRPr lang="en-NL" dirty="0"/>
          </a:p>
        </p:txBody>
      </p:sp>
    </p:spTree>
    <p:extLst>
      <p:ext uri="{BB962C8B-B14F-4D97-AF65-F5344CB8AC3E}">
        <p14:creationId xmlns:p14="http://schemas.microsoft.com/office/powerpoint/2010/main" val="40589893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B7E19-C22A-15F6-B06B-B64A7E46D7B3}"/>
              </a:ext>
            </a:extLst>
          </p:cNvPr>
          <p:cNvSpPr>
            <a:spLocks noGrp="1"/>
          </p:cNvSpPr>
          <p:nvPr>
            <p:ph type="ctrTitle"/>
          </p:nvPr>
        </p:nvSpPr>
        <p:spPr/>
        <p:txBody>
          <a:bodyPr/>
          <a:lstStyle/>
          <a:p>
            <a:pPr marL="0" indent="0" algn="l">
              <a:buNone/>
            </a:pPr>
            <a:r>
              <a:rPr lang="en-US" b="0" i="0" dirty="0">
                <a:solidFill>
                  <a:srgbClr val="374151"/>
                </a:solidFill>
                <a:effectLst/>
                <a:latin typeface="Söhne"/>
              </a:rPr>
              <a:t>Simpson's Paradox</a:t>
            </a:r>
            <a:endParaRPr lang="en-NL" dirty="0"/>
          </a:p>
        </p:txBody>
      </p:sp>
      <p:sp>
        <p:nvSpPr>
          <p:cNvPr id="3" name="Subtitle 2">
            <a:extLst>
              <a:ext uri="{FF2B5EF4-FFF2-40B4-BE49-F238E27FC236}">
                <a16:creationId xmlns:a16="http://schemas.microsoft.com/office/drawing/2014/main" id="{10711011-4590-EA3A-B542-8F844D41BCE5}"/>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37078562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39026-63DD-CFF2-D266-BB97DCBD5C8B}"/>
              </a:ext>
            </a:extLst>
          </p:cNvPr>
          <p:cNvSpPr>
            <a:spLocks noGrp="1"/>
          </p:cNvSpPr>
          <p:nvPr>
            <p:ph type="title"/>
          </p:nvPr>
        </p:nvSpPr>
        <p:spPr>
          <a:xfrm>
            <a:off x="818984" y="4230093"/>
            <a:ext cx="4150581" cy="1800165"/>
          </a:xfrm>
        </p:spPr>
        <p:txBody>
          <a:bodyPr vert="horz" lIns="91440" tIns="45720" rIns="91440" bIns="45720" rtlCol="0" anchor="t">
            <a:normAutofit/>
          </a:bodyPr>
          <a:lstStyle/>
          <a:p>
            <a:pPr algn="r"/>
            <a:r>
              <a:rPr lang="en-US" sz="4000" b="0" i="0" kern="1200" dirty="0">
                <a:solidFill>
                  <a:schemeClr val="tx1"/>
                </a:solidFill>
                <a:effectLst/>
                <a:latin typeface="+mj-lt"/>
                <a:ea typeface="+mj-ea"/>
                <a:cs typeface="+mj-cs"/>
              </a:rPr>
              <a:t>Simpson's Paradox</a:t>
            </a:r>
            <a:endParaRPr lang="en-US" sz="4000" kern="1200" dirty="0">
              <a:solidFill>
                <a:schemeClr val="tx1"/>
              </a:solidFill>
              <a:latin typeface="+mj-lt"/>
              <a:ea typeface="+mj-ea"/>
              <a:cs typeface="+mj-cs"/>
            </a:endParaRPr>
          </a:p>
        </p:txBody>
      </p:sp>
      <p:pic>
        <p:nvPicPr>
          <p:cNvPr id="9" name="Picture 8">
            <a:extLst>
              <a:ext uri="{FF2B5EF4-FFF2-40B4-BE49-F238E27FC236}">
                <a16:creationId xmlns:a16="http://schemas.microsoft.com/office/drawing/2014/main" id="{89032E6F-C1A0-0560-6EE1-F3F2531E2604}"/>
              </a:ext>
            </a:extLst>
          </p:cNvPr>
          <p:cNvPicPr>
            <a:picLocks noChangeAspect="1"/>
          </p:cNvPicPr>
          <p:nvPr/>
        </p:nvPicPr>
        <p:blipFill>
          <a:blip r:embed="rId3"/>
          <a:stretch>
            <a:fillRect/>
          </a:stretch>
        </p:blipFill>
        <p:spPr>
          <a:xfrm>
            <a:off x="556592" y="513896"/>
            <a:ext cx="11139778" cy="3341932"/>
          </a:xfrm>
          <a:prstGeom prst="rect">
            <a:avLst/>
          </a:prstGeom>
        </p:spPr>
      </p:pic>
      <p:sp>
        <p:nvSpPr>
          <p:cNvPr id="11" name="TextBox 10">
            <a:extLst>
              <a:ext uri="{FF2B5EF4-FFF2-40B4-BE49-F238E27FC236}">
                <a16:creationId xmlns:a16="http://schemas.microsoft.com/office/drawing/2014/main" id="{53B8695C-18A9-C189-4818-EFCD105D9B74}"/>
              </a:ext>
            </a:extLst>
          </p:cNvPr>
          <p:cNvSpPr txBox="1"/>
          <p:nvPr/>
        </p:nvSpPr>
        <p:spPr>
          <a:xfrm>
            <a:off x="5246415" y="4230094"/>
            <a:ext cx="6235268" cy="1800164"/>
          </a:xfrm>
          <a:prstGeom prst="rect">
            <a:avLst/>
          </a:prstGeom>
        </p:spPr>
        <p:txBody>
          <a:bodyPr vert="horz" lIns="91440" tIns="45720" rIns="91440" bIns="45720" rtlCol="0" anchor="t">
            <a:normAutofit/>
          </a:bodyPr>
          <a:lstStyle/>
          <a:p>
            <a:pPr>
              <a:lnSpc>
                <a:spcPct val="90000"/>
              </a:lnSpc>
              <a:spcAft>
                <a:spcPts val="600"/>
              </a:spcAft>
            </a:pPr>
            <a:r>
              <a:rPr lang="en-US" sz="1600" dirty="0">
                <a:hlinkClick r:id="rId4"/>
              </a:rPr>
              <a:t>Chapter 2 Correlation and Simpson’s Paradox | Causal Inference and Its Applications in Online Industry (alexdeng.github.io)</a:t>
            </a:r>
            <a:endParaRPr lang="en-US" sz="1600" dirty="0"/>
          </a:p>
        </p:txBody>
      </p:sp>
      <p:sp>
        <p:nvSpPr>
          <p:cNvPr id="57" name="Rectangle 56">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DC7CE9-ED2D-5415-70EE-5FFD9CEBCCFB}"/>
              </a:ext>
            </a:extLst>
          </p:cNvPr>
          <p:cNvSpPr/>
          <p:nvPr/>
        </p:nvSpPr>
        <p:spPr>
          <a:xfrm>
            <a:off x="6593915" y="1890572"/>
            <a:ext cx="574140" cy="5885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&gt;</a:t>
            </a:r>
            <a:endParaRPr lang="en-NL" sz="4000" dirty="0">
              <a:solidFill>
                <a:schemeClr val="tx1"/>
              </a:solidFill>
            </a:endParaRPr>
          </a:p>
        </p:txBody>
      </p:sp>
      <p:sp>
        <p:nvSpPr>
          <p:cNvPr id="13" name="Rectangle 12">
            <a:extLst>
              <a:ext uri="{FF2B5EF4-FFF2-40B4-BE49-F238E27FC236}">
                <a16:creationId xmlns:a16="http://schemas.microsoft.com/office/drawing/2014/main" id="{6FCD73FF-C40E-92E8-7764-FE42BCB3C079}"/>
              </a:ext>
            </a:extLst>
          </p:cNvPr>
          <p:cNvSpPr/>
          <p:nvPr/>
        </p:nvSpPr>
        <p:spPr>
          <a:xfrm>
            <a:off x="6593915" y="2479151"/>
            <a:ext cx="574140" cy="5885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chemeClr val="tx1"/>
                </a:solidFill>
              </a:rPr>
              <a:t>&gt;</a:t>
            </a:r>
            <a:endParaRPr lang="en-NL" sz="4000" dirty="0">
              <a:solidFill>
                <a:schemeClr val="tx1"/>
              </a:solidFill>
            </a:endParaRPr>
          </a:p>
        </p:txBody>
      </p:sp>
      <p:sp>
        <p:nvSpPr>
          <p:cNvPr id="14" name="Rectangle 13">
            <a:extLst>
              <a:ext uri="{FF2B5EF4-FFF2-40B4-BE49-F238E27FC236}">
                <a16:creationId xmlns:a16="http://schemas.microsoft.com/office/drawing/2014/main" id="{0F0CF315-AC0B-67C6-E53F-B875800C14D8}"/>
              </a:ext>
            </a:extLst>
          </p:cNvPr>
          <p:cNvSpPr/>
          <p:nvPr/>
        </p:nvSpPr>
        <p:spPr>
          <a:xfrm>
            <a:off x="6593915" y="3005101"/>
            <a:ext cx="574140" cy="58857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solidFill>
                  <a:srgbClr val="FF0000"/>
                </a:solidFill>
              </a:rPr>
              <a:t>&lt;</a:t>
            </a:r>
            <a:endParaRPr lang="en-NL" sz="4000" dirty="0">
              <a:solidFill>
                <a:srgbClr val="FF0000"/>
              </a:solidFill>
            </a:endParaRPr>
          </a:p>
        </p:txBody>
      </p:sp>
    </p:spTree>
    <p:extLst>
      <p:ext uri="{BB962C8B-B14F-4D97-AF65-F5344CB8AC3E}">
        <p14:creationId xmlns:p14="http://schemas.microsoft.com/office/powerpoint/2010/main" val="15926392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596F992-698C-48C0-9D89-70DA4CE927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939026-63DD-CFF2-D266-BB97DCBD5C8B}"/>
              </a:ext>
            </a:extLst>
          </p:cNvPr>
          <p:cNvSpPr>
            <a:spLocks noGrp="1"/>
          </p:cNvSpPr>
          <p:nvPr>
            <p:ph type="title"/>
          </p:nvPr>
        </p:nvSpPr>
        <p:spPr>
          <a:xfrm>
            <a:off x="818984" y="4230093"/>
            <a:ext cx="4150581" cy="1800165"/>
          </a:xfrm>
        </p:spPr>
        <p:txBody>
          <a:bodyPr vert="horz" lIns="91440" tIns="45720" rIns="91440" bIns="45720" rtlCol="0" anchor="t">
            <a:normAutofit/>
          </a:bodyPr>
          <a:lstStyle/>
          <a:p>
            <a:pPr algn="r"/>
            <a:r>
              <a:rPr lang="en-US" sz="4000" b="0" i="0" kern="1200">
                <a:solidFill>
                  <a:schemeClr val="tx1"/>
                </a:solidFill>
                <a:effectLst/>
                <a:latin typeface="+mj-lt"/>
                <a:ea typeface="+mj-ea"/>
                <a:cs typeface="+mj-cs"/>
              </a:rPr>
              <a:t>Simpson's Paradox</a:t>
            </a:r>
            <a:endParaRPr lang="en-US" sz="4000" kern="1200">
              <a:solidFill>
                <a:schemeClr val="tx1"/>
              </a:solidFill>
              <a:latin typeface="+mj-lt"/>
              <a:ea typeface="+mj-ea"/>
              <a:cs typeface="+mj-cs"/>
            </a:endParaRPr>
          </a:p>
        </p:txBody>
      </p:sp>
      <p:pic>
        <p:nvPicPr>
          <p:cNvPr id="5" name="Picture 4">
            <a:extLst>
              <a:ext uri="{FF2B5EF4-FFF2-40B4-BE49-F238E27FC236}">
                <a16:creationId xmlns:a16="http://schemas.microsoft.com/office/drawing/2014/main" id="{D6C8B9DC-D673-85F2-491F-5009026DDCAC}"/>
              </a:ext>
            </a:extLst>
          </p:cNvPr>
          <p:cNvPicPr>
            <a:picLocks noChangeAspect="1"/>
          </p:cNvPicPr>
          <p:nvPr/>
        </p:nvPicPr>
        <p:blipFill>
          <a:blip r:embed="rId3"/>
          <a:stretch>
            <a:fillRect/>
          </a:stretch>
        </p:blipFill>
        <p:spPr>
          <a:xfrm>
            <a:off x="3904407" y="457200"/>
            <a:ext cx="4444148" cy="3455325"/>
          </a:xfrm>
          <a:prstGeom prst="rect">
            <a:avLst/>
          </a:prstGeom>
        </p:spPr>
      </p:pic>
      <p:sp>
        <p:nvSpPr>
          <p:cNvPr id="7" name="TextBox 6">
            <a:extLst>
              <a:ext uri="{FF2B5EF4-FFF2-40B4-BE49-F238E27FC236}">
                <a16:creationId xmlns:a16="http://schemas.microsoft.com/office/drawing/2014/main" id="{4D99D4EE-E00B-7C06-7AA4-2D9E5C739A41}"/>
              </a:ext>
            </a:extLst>
          </p:cNvPr>
          <p:cNvSpPr txBox="1"/>
          <p:nvPr/>
        </p:nvSpPr>
        <p:spPr>
          <a:xfrm>
            <a:off x="5246415" y="4230094"/>
            <a:ext cx="6235268" cy="1800164"/>
          </a:xfrm>
          <a:prstGeom prst="rect">
            <a:avLst/>
          </a:prstGeom>
        </p:spPr>
        <p:txBody>
          <a:bodyPr vert="horz" lIns="91440" tIns="45720" rIns="91440" bIns="45720" rtlCol="0" anchor="t">
            <a:normAutofit/>
          </a:bodyPr>
          <a:lstStyle/>
          <a:p>
            <a:pPr>
              <a:lnSpc>
                <a:spcPct val="90000"/>
              </a:lnSpc>
              <a:spcAft>
                <a:spcPts val="600"/>
              </a:spcAft>
            </a:pPr>
            <a:r>
              <a:rPr lang="en-US" sz="1400" dirty="0">
                <a:hlinkClick r:id="rId4"/>
              </a:rPr>
              <a:t>Solving Simpson’s Paradox. Understand a key toy example in causal… | by Aleix Ruiz de Villa | Towards Data Science</a:t>
            </a:r>
            <a:endParaRPr lang="en-US" sz="1400" dirty="0"/>
          </a:p>
        </p:txBody>
      </p:sp>
      <p:sp>
        <p:nvSpPr>
          <p:cNvPr id="14" name="Rectangle 13">
            <a:extLst>
              <a:ext uri="{FF2B5EF4-FFF2-40B4-BE49-F238E27FC236}">
                <a16:creationId xmlns:a16="http://schemas.microsoft.com/office/drawing/2014/main" id="{E7BFF8DC-0AE7-4AD2-9B28-2E5F26D62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0162AD-C6E5-4BF8-A453-76ADB36877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31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23498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F076-E1EB-3657-B198-A64B517AADC6}"/>
              </a:ext>
            </a:extLst>
          </p:cNvPr>
          <p:cNvSpPr>
            <a:spLocks noGrp="1"/>
          </p:cNvSpPr>
          <p:nvPr>
            <p:ph type="title"/>
          </p:nvPr>
        </p:nvSpPr>
        <p:spPr>
          <a:xfrm>
            <a:off x="804672" y="3121701"/>
            <a:ext cx="3658053" cy="1786515"/>
          </a:xfrm>
        </p:spPr>
        <p:txBody>
          <a:bodyPr vert="horz" lIns="91440" tIns="45720" rIns="91440" bIns="45720" rtlCol="0" anchor="t">
            <a:normAutofit/>
          </a:bodyPr>
          <a:lstStyle/>
          <a:p>
            <a:r>
              <a:rPr lang="en-US" sz="4000" kern="1200" dirty="0">
                <a:solidFill>
                  <a:schemeClr val="tx2"/>
                </a:solidFill>
                <a:latin typeface="+mj-lt"/>
                <a:ea typeface="+mj-ea"/>
                <a:cs typeface="+mj-cs"/>
              </a:rPr>
              <a:t>Correlation Vs. Causation</a:t>
            </a:r>
          </a:p>
        </p:txBody>
      </p:sp>
      <p:pic>
        <p:nvPicPr>
          <p:cNvPr id="5" name="Picture 4">
            <a:extLst>
              <a:ext uri="{FF2B5EF4-FFF2-40B4-BE49-F238E27FC236}">
                <a16:creationId xmlns:a16="http://schemas.microsoft.com/office/drawing/2014/main" id="{0A74B1F2-060D-3A53-29D3-AB2C0A44F1F4}"/>
              </a:ext>
            </a:extLst>
          </p:cNvPr>
          <p:cNvPicPr>
            <a:picLocks noChangeAspect="1"/>
          </p:cNvPicPr>
          <p:nvPr/>
        </p:nvPicPr>
        <p:blipFill>
          <a:blip r:embed="rId3"/>
          <a:stretch>
            <a:fillRect/>
          </a:stretch>
        </p:blipFill>
        <p:spPr>
          <a:xfrm>
            <a:off x="6379341" y="923091"/>
            <a:ext cx="5029200" cy="5004054"/>
          </a:xfrm>
          <a:prstGeom prst="rect">
            <a:avLst/>
          </a:prstGeom>
          <a:ln w="9525">
            <a:noFill/>
          </a:ln>
        </p:spPr>
      </p:pic>
      <p:sp>
        <p:nvSpPr>
          <p:cNvPr id="9" name="Rectangle 8">
            <a:extLst>
              <a:ext uri="{FF2B5EF4-FFF2-40B4-BE49-F238E27FC236}">
                <a16:creationId xmlns:a16="http://schemas.microsoft.com/office/drawing/2014/main" id="{22710C17-C135-2EAE-F7F2-F16E9A9C334F}"/>
              </a:ext>
            </a:extLst>
          </p:cNvPr>
          <p:cNvSpPr/>
          <p:nvPr/>
        </p:nvSpPr>
        <p:spPr>
          <a:xfrm>
            <a:off x="6674714" y="5888463"/>
            <a:ext cx="4654096"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Misinformation</a:t>
            </a:r>
          </a:p>
        </p:txBody>
      </p:sp>
    </p:spTree>
    <p:extLst>
      <p:ext uri="{BB962C8B-B14F-4D97-AF65-F5344CB8AC3E}">
        <p14:creationId xmlns:p14="http://schemas.microsoft.com/office/powerpoint/2010/main" val="8726638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ontent Placeholder 15">
            <a:extLst>
              <a:ext uri="{FF2B5EF4-FFF2-40B4-BE49-F238E27FC236}">
                <a16:creationId xmlns:a16="http://schemas.microsoft.com/office/drawing/2014/main" id="{3155CBD2-0480-8EB6-3DF5-0C83CEA2F596}"/>
              </a:ext>
            </a:extLst>
          </p:cNvPr>
          <p:cNvGraphicFramePr>
            <a:graphicFrameLocks noGrp="1"/>
          </p:cNvGraphicFramePr>
          <p:nvPr>
            <p:ph idx="1"/>
          </p:nvPr>
        </p:nvGraphicFramePr>
        <p:xfrm>
          <a:off x="643467" y="1782981"/>
          <a:ext cx="10905066" cy="43939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73402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Content Placeholder 2">
            <a:extLst>
              <a:ext uri="{FF2B5EF4-FFF2-40B4-BE49-F238E27FC236}">
                <a16:creationId xmlns:a16="http://schemas.microsoft.com/office/drawing/2014/main" id="{3ED33E59-4280-AC8C-E84E-2B5B1359C0A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699004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832E0E-68D4-1F5B-A517-6EC9AD1E8693}"/>
              </a:ext>
            </a:extLst>
          </p:cNvPr>
          <p:cNvSpPr txBox="1"/>
          <p:nvPr/>
        </p:nvSpPr>
        <p:spPr>
          <a:xfrm>
            <a:off x="1392667" y="2398957"/>
            <a:ext cx="9406666" cy="3526144"/>
          </a:xfrm>
          <a:prstGeom prst="rect">
            <a:avLst/>
          </a:prstGeo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r>
              <a:rPr lang="en-US" sz="2000" b="1" i="0" dirty="0">
                <a:solidFill>
                  <a:schemeClr val="bg1"/>
                </a:solidFill>
                <a:effectLst/>
              </a:rPr>
              <a:t>Confusing </a:t>
            </a:r>
            <a:r>
              <a:rPr lang="en-US" sz="2000" b="1" dirty="0">
                <a:solidFill>
                  <a:schemeClr val="bg1"/>
                </a:solidFill>
              </a:rPr>
              <a:t>correlation with causation </a:t>
            </a:r>
            <a:r>
              <a:rPr lang="en-US" sz="2000" b="0" i="0" dirty="0">
                <a:solidFill>
                  <a:schemeClr val="bg1"/>
                </a:solidFill>
                <a:effectLst/>
              </a:rPr>
              <a:t>leads to mistakes and avoidable disasters, whether it’s an individual, a company, or a government that’s making the </a:t>
            </a:r>
            <a:r>
              <a:rPr lang="en-US" sz="2000" b="1" i="0" dirty="0">
                <a:solidFill>
                  <a:schemeClr val="bg1"/>
                </a:solidFill>
                <a:effectLst/>
              </a:rPr>
              <a:t>decision</a:t>
            </a:r>
            <a:r>
              <a:rPr lang="en-US" sz="2000" b="0" i="0" dirty="0">
                <a:solidFill>
                  <a:schemeClr val="bg1"/>
                </a:solidFill>
                <a:effectLst/>
              </a:rPr>
              <a:t>. </a:t>
            </a:r>
          </a:p>
          <a:p>
            <a:pPr>
              <a:lnSpc>
                <a:spcPct val="90000"/>
              </a:lnSpc>
              <a:spcAft>
                <a:spcPts val="600"/>
              </a:spcAft>
            </a:pPr>
            <a:r>
              <a:rPr lang="en-US" sz="2000" dirty="0">
                <a:solidFill>
                  <a:schemeClr val="bg1"/>
                </a:solidFill>
                <a:hlinkClick r:id="rId2"/>
              </a:rPr>
              <a:t>Leaders: Stop Confusing Correlation with Causation (hbr.org)</a:t>
            </a:r>
            <a:endParaRPr lang="en-US" sz="2000" dirty="0">
              <a:solidFill>
                <a:schemeClr val="bg1"/>
              </a:solidFill>
            </a:endParaRPr>
          </a:p>
        </p:txBody>
      </p:sp>
    </p:spTree>
    <p:extLst>
      <p:ext uri="{BB962C8B-B14F-4D97-AF65-F5344CB8AC3E}">
        <p14:creationId xmlns:p14="http://schemas.microsoft.com/office/powerpoint/2010/main" val="25576689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BF18A-4DA1-F9C9-3F69-42625660A050}"/>
              </a:ext>
            </a:extLst>
          </p:cNvPr>
          <p:cNvSpPr>
            <a:spLocks noGrp="1"/>
          </p:cNvSpPr>
          <p:nvPr>
            <p:ph type="title"/>
          </p:nvPr>
        </p:nvSpPr>
        <p:spPr>
          <a:xfrm>
            <a:off x="2047793" y="4614902"/>
            <a:ext cx="8081960" cy="943954"/>
          </a:xfrm>
        </p:spPr>
        <p:txBody>
          <a:bodyPr vert="horz" lIns="91440" tIns="45720" rIns="91440" bIns="45720" rtlCol="0" anchor="b">
            <a:normAutofit/>
          </a:bodyPr>
          <a:lstStyle/>
          <a:p>
            <a:pPr algn="ctr"/>
            <a:r>
              <a:rPr lang="en-US" sz="4000" b="0" i="0" u="none" strike="noStrike" kern="1200" dirty="0">
                <a:solidFill>
                  <a:schemeClr val="tx1"/>
                </a:solidFill>
                <a:effectLst/>
                <a:latin typeface="+mj-lt"/>
                <a:ea typeface="+mj-ea"/>
                <a:cs typeface="+mj-cs"/>
                <a:hlinkClick r:id="rId2" tooltip="Simpson's Paradox"/>
              </a:rPr>
              <a:t>Simpson's Paradox</a:t>
            </a:r>
            <a:endParaRPr lang="en-US" sz="4000" kern="1200" dirty="0">
              <a:solidFill>
                <a:schemeClr val="tx1"/>
              </a:solidFill>
              <a:latin typeface="+mj-lt"/>
              <a:ea typeface="+mj-ea"/>
              <a:cs typeface="+mj-cs"/>
            </a:endParaRPr>
          </a:p>
        </p:txBody>
      </p:sp>
      <p:pic>
        <p:nvPicPr>
          <p:cNvPr id="6" name="Picture 5">
            <a:extLst>
              <a:ext uri="{FF2B5EF4-FFF2-40B4-BE49-F238E27FC236}">
                <a16:creationId xmlns:a16="http://schemas.microsoft.com/office/drawing/2014/main" id="{E91AEE95-51A6-CCB0-9129-185131751A15}"/>
              </a:ext>
            </a:extLst>
          </p:cNvPr>
          <p:cNvPicPr>
            <a:picLocks noChangeAspect="1"/>
          </p:cNvPicPr>
          <p:nvPr/>
        </p:nvPicPr>
        <p:blipFill>
          <a:blip r:embed="rId3"/>
          <a:stretch>
            <a:fillRect/>
          </a:stretch>
        </p:blipFill>
        <p:spPr>
          <a:xfrm>
            <a:off x="458261" y="5870233"/>
            <a:ext cx="1722269" cy="480102"/>
          </a:xfrm>
          <a:prstGeom prst="rect">
            <a:avLst/>
          </a:prstGeom>
        </p:spPr>
      </p:pic>
      <mc:AlternateContent xmlns:mc="http://schemas.openxmlformats.org/markup-compatibility/2006" xmlns:we="http://schemas.microsoft.com/office/webextensions/webextension/2010/11" xmlns:pca="http://schemas.microsoft.com/office/powerpoint/2013/contentapp">
        <mc:Choice Requires="we pca">
          <p:graphicFrame>
            <p:nvGraphicFramePr>
              <p:cNvPr id="10" name="Add-in 9" title="Web Video Player">
                <a:extLst>
                  <a:ext uri="{FF2B5EF4-FFF2-40B4-BE49-F238E27FC236}">
                    <a16:creationId xmlns:a16="http://schemas.microsoft.com/office/drawing/2014/main" id="{00C8BAF0-D693-2A12-ECBA-BA415AB2B6A8}"/>
                  </a:ext>
                </a:extLst>
              </p:cNvPr>
              <p:cNvGraphicFramePr>
                <a:graphicFrameLocks noGrp="1"/>
              </p:cNvGraphicFramePr>
              <p:nvPr/>
            </p:nvGraphicFramePr>
            <p:xfrm>
              <a:off x="3084902" y="1020075"/>
              <a:ext cx="5969137" cy="3337045"/>
            </p:xfrm>
            <a:graphic>
              <a:graphicData uri="http://schemas.microsoft.com/office/webextensions/webextension/2010/11">
                <we:webextensionref xmlns:we="http://schemas.microsoft.com/office/webextensions/webextension/2010/11" xmlns:r="http://schemas.openxmlformats.org/officeDocument/2006/relationships" r:id="rId4"/>
              </a:graphicData>
            </a:graphic>
          </p:graphicFrame>
        </mc:Choice>
        <mc:Fallback xmlns="">
          <p:pic>
            <p:nvPicPr>
              <p:cNvPr id="10" name="Add-in 9" title="Web Video Player">
                <a:extLst>
                  <a:ext uri="{FF2B5EF4-FFF2-40B4-BE49-F238E27FC236}">
                    <a16:creationId xmlns:a16="http://schemas.microsoft.com/office/drawing/2014/main" id="{00C8BAF0-D693-2A12-ECBA-BA415AB2B6A8}"/>
                  </a:ext>
                </a:extLst>
              </p:cNvPr>
              <p:cNvPicPr>
                <a:picLocks noGrp="1" noRot="1" noChangeAspect="1" noMove="1" noResize="1" noEditPoints="1" noAdjustHandles="1" noChangeArrowheads="1" noChangeShapeType="1"/>
              </p:cNvPicPr>
              <p:nvPr/>
            </p:nvPicPr>
            <p:blipFill>
              <a:blip r:embed="rId5"/>
              <a:stretch>
                <a:fillRect/>
              </a:stretch>
            </p:blipFill>
            <p:spPr>
              <a:xfrm>
                <a:off x="3084902" y="1020075"/>
                <a:ext cx="5969137" cy="3337045"/>
              </a:xfrm>
              <a:prstGeom prst="rect">
                <a:avLst/>
              </a:prstGeom>
            </p:spPr>
          </p:pic>
        </mc:Fallback>
      </mc:AlternateContent>
    </p:spTree>
    <p:extLst>
      <p:ext uri="{BB962C8B-B14F-4D97-AF65-F5344CB8AC3E}">
        <p14:creationId xmlns:p14="http://schemas.microsoft.com/office/powerpoint/2010/main" val="27471962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C18AFE-FD17-DF9F-07A2-15E590639FA4}"/>
              </a:ext>
            </a:extLst>
          </p:cNvPr>
          <p:cNvSpPr>
            <a:spLocks noGrp="1"/>
          </p:cNvSpPr>
          <p:nvPr>
            <p:ph idx="1"/>
          </p:nvPr>
        </p:nvSpPr>
        <p:spPr/>
        <p:txBody>
          <a:bodyPr/>
          <a:lstStyle/>
          <a:p>
            <a:pPr marL="457200" lvl="1" indent="0">
              <a:buNone/>
            </a:pPr>
            <a:r>
              <a:rPr lang="en-US" dirty="0"/>
              <a:t>Wisconsin (       ) vs. Texas (       )  education system </a:t>
            </a:r>
          </a:p>
          <a:p>
            <a:endParaRPr lang="en-NL" dirty="0"/>
          </a:p>
        </p:txBody>
      </p:sp>
      <p:pic>
        <p:nvPicPr>
          <p:cNvPr id="6" name="Picture 5" descr="Table&#10;&#10;Description automatically generated with medium confidence">
            <a:extLst>
              <a:ext uri="{FF2B5EF4-FFF2-40B4-BE49-F238E27FC236}">
                <a16:creationId xmlns:a16="http://schemas.microsoft.com/office/drawing/2014/main" id="{78B59237-50A6-7E59-6830-DF4EBE0696FE}"/>
              </a:ext>
            </a:extLst>
          </p:cNvPr>
          <p:cNvPicPr>
            <a:picLocks noChangeAspect="1"/>
          </p:cNvPicPr>
          <p:nvPr/>
        </p:nvPicPr>
        <p:blipFill>
          <a:blip r:embed="rId3"/>
          <a:stretch>
            <a:fillRect/>
          </a:stretch>
        </p:blipFill>
        <p:spPr>
          <a:xfrm>
            <a:off x="637761" y="2807194"/>
            <a:ext cx="10222655" cy="2180214"/>
          </a:xfrm>
          <a:prstGeom prst="rect">
            <a:avLst/>
          </a:prstGeom>
        </p:spPr>
      </p:pic>
      <p:pic>
        <p:nvPicPr>
          <p:cNvPr id="1030" name="Picture 4" descr="A picture containing text, fabric, picture frame&#10;&#10;Description automatically generated">
            <a:extLst>
              <a:ext uri="{FF2B5EF4-FFF2-40B4-BE49-F238E27FC236}">
                <a16:creationId xmlns:a16="http://schemas.microsoft.com/office/drawing/2014/main" id="{442E7A12-839F-26E4-5205-93455104CA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2957" y="1850987"/>
            <a:ext cx="463406" cy="360059"/>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0">
            <a:extLst>
              <a:ext uri="{FF2B5EF4-FFF2-40B4-BE49-F238E27FC236}">
                <a16:creationId xmlns:a16="http://schemas.microsoft.com/office/drawing/2014/main" id="{7FB01ED4-0273-8FAA-AFB3-6715A3AEE615}"/>
              </a:ext>
            </a:extLst>
          </p:cNvPr>
          <p:cNvSpPr>
            <a:spLocks noChangeArrowheads="1"/>
          </p:cNvSpPr>
          <p:nvPr/>
        </p:nvSpPr>
        <p:spPr bwMode="auto">
          <a:xfrm>
            <a:off x="2753591" y="1333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NL" sz="1100" b="0" i="0" u="none" strike="noStrike" cap="none" normalizeH="0" baseline="0">
                <a:ln>
                  <a:noFill/>
                </a:ln>
                <a:solidFill>
                  <a:schemeClr val="tx1"/>
                </a:solidFill>
                <a:effectLst/>
                <a:latin typeface="Arial" panose="020B0604020202020204" pitchFamily="34" charset="0"/>
                <a:ea typeface="Calibri" panose="020F0502020204030204" pitchFamily="34" charset="0"/>
                <a:cs typeface="Times New Roman" panose="02020603050405020304" pitchFamily="18" charset="0"/>
              </a:rPr>
              <a:t> . </a:t>
            </a:r>
            <a:endParaRPr kumimoji="0" lang="en-US" altLang="en-NL" sz="1800" b="0" i="0" u="none" strike="noStrike" cap="none" normalizeH="0" baseline="0">
              <a:ln>
                <a:noFill/>
              </a:ln>
              <a:solidFill>
                <a:schemeClr val="tx1"/>
              </a:solidFill>
              <a:effectLst/>
              <a:latin typeface="Arial" panose="020B0604020202020204" pitchFamily="34" charset="0"/>
            </a:endParaRPr>
          </a:p>
        </p:txBody>
      </p:sp>
      <p:pic>
        <p:nvPicPr>
          <p:cNvPr id="13" name="Picture 3" descr="A picture containing text, picture frame&#10;&#10;Description automatically generated">
            <a:extLst>
              <a:ext uri="{FF2B5EF4-FFF2-40B4-BE49-F238E27FC236}">
                <a16:creationId xmlns:a16="http://schemas.microsoft.com/office/drawing/2014/main" id="{9FF478C0-CDBF-FDD5-339E-6E990F43D5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933" y="1842313"/>
            <a:ext cx="463406" cy="36873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B2A79DD5-06E4-F829-4F6A-368634FD138A}"/>
              </a:ext>
            </a:extLst>
          </p:cNvPr>
          <p:cNvSpPr>
            <a:spLocks noGrp="1"/>
          </p:cNvSpPr>
          <p:nvPr>
            <p:ph type="title"/>
          </p:nvPr>
        </p:nvSpPr>
        <p:spPr>
          <a:xfrm>
            <a:off x="-1287389" y="540332"/>
            <a:ext cx="8081960" cy="943954"/>
          </a:xfrm>
        </p:spPr>
        <p:txBody>
          <a:bodyPr vert="horz" lIns="91440" tIns="45720" rIns="91440" bIns="45720" rtlCol="0" anchor="b">
            <a:normAutofit/>
          </a:bodyPr>
          <a:lstStyle/>
          <a:p>
            <a:pPr algn="ctr"/>
            <a:r>
              <a:rPr lang="en-US" sz="4000" b="0" i="0" u="none" strike="noStrike" kern="1200" dirty="0">
                <a:solidFill>
                  <a:schemeClr val="tx1"/>
                </a:solidFill>
                <a:effectLst/>
                <a:latin typeface="+mj-lt"/>
                <a:ea typeface="+mj-ea"/>
                <a:cs typeface="+mj-cs"/>
                <a:hlinkClick r:id="rId6" tooltip="Simpson's Paradox"/>
              </a:rPr>
              <a:t>Simpson's Paradox</a:t>
            </a:r>
            <a:endParaRPr lang="en-US" sz="4000" kern="1200" dirty="0">
              <a:solidFill>
                <a:schemeClr val="tx1"/>
              </a:solidFill>
              <a:latin typeface="+mj-lt"/>
              <a:ea typeface="+mj-ea"/>
              <a:cs typeface="+mj-cs"/>
            </a:endParaRPr>
          </a:p>
        </p:txBody>
      </p:sp>
      <p:pic>
        <p:nvPicPr>
          <p:cNvPr id="7" name="Picture 6">
            <a:extLst>
              <a:ext uri="{FF2B5EF4-FFF2-40B4-BE49-F238E27FC236}">
                <a16:creationId xmlns:a16="http://schemas.microsoft.com/office/drawing/2014/main" id="{33012AD5-7A2A-DCAB-81B4-FF5FFBD93EFB}"/>
              </a:ext>
            </a:extLst>
          </p:cNvPr>
          <p:cNvPicPr>
            <a:picLocks noChangeAspect="1"/>
          </p:cNvPicPr>
          <p:nvPr/>
        </p:nvPicPr>
        <p:blipFill>
          <a:blip r:embed="rId7"/>
          <a:stretch>
            <a:fillRect/>
          </a:stretch>
        </p:blipFill>
        <p:spPr>
          <a:xfrm>
            <a:off x="5535870" y="1004184"/>
            <a:ext cx="1722269" cy="480102"/>
          </a:xfrm>
          <a:prstGeom prst="rect">
            <a:avLst/>
          </a:prstGeom>
        </p:spPr>
      </p:pic>
    </p:spTree>
    <p:extLst>
      <p:ext uri="{BB962C8B-B14F-4D97-AF65-F5344CB8AC3E}">
        <p14:creationId xmlns:p14="http://schemas.microsoft.com/office/powerpoint/2010/main" val="26251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oup 79">
            <a:extLst>
              <a:ext uri="{FF2B5EF4-FFF2-40B4-BE49-F238E27FC236}">
                <a16:creationId xmlns:a16="http://schemas.microsoft.com/office/drawing/2014/main" id="{CE665A05-AE4B-0C8F-142A-CE2F0DE2F9D0}"/>
              </a:ext>
            </a:extLst>
          </p:cNvPr>
          <p:cNvGrpSpPr/>
          <p:nvPr/>
        </p:nvGrpSpPr>
        <p:grpSpPr>
          <a:xfrm>
            <a:off x="5424648" y="260126"/>
            <a:ext cx="5453559" cy="5702110"/>
            <a:chOff x="4152896" y="123491"/>
            <a:chExt cx="5930465" cy="6624153"/>
          </a:xfrm>
        </p:grpSpPr>
        <p:sp>
          <p:nvSpPr>
            <p:cNvPr id="4" name="Oval 3">
              <a:extLst>
                <a:ext uri="{FF2B5EF4-FFF2-40B4-BE49-F238E27FC236}">
                  <a16:creationId xmlns:a16="http://schemas.microsoft.com/office/drawing/2014/main" id="{762C2D11-39BD-D521-78AC-F7EDF3A50F06}"/>
                </a:ext>
              </a:extLst>
            </p:cNvPr>
            <p:cNvSpPr/>
            <p:nvPr/>
          </p:nvSpPr>
          <p:spPr>
            <a:xfrm>
              <a:off x="8357037" y="123491"/>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lt1"/>
                  </a:solidFill>
                </a:rPr>
                <a:t>State</a:t>
              </a:r>
              <a:endParaRPr lang="en-NL" dirty="0">
                <a:solidFill>
                  <a:schemeClr val="lt1"/>
                </a:solidFill>
              </a:endParaRPr>
            </a:p>
          </p:txBody>
        </p:sp>
        <p:cxnSp>
          <p:nvCxnSpPr>
            <p:cNvPr id="6" name="Straight Arrow Connector 5">
              <a:extLst>
                <a:ext uri="{FF2B5EF4-FFF2-40B4-BE49-F238E27FC236}">
                  <a16:creationId xmlns:a16="http://schemas.microsoft.com/office/drawing/2014/main" id="{69DDA208-F80D-7572-BE66-290D26E78434}"/>
                </a:ext>
              </a:extLst>
            </p:cNvPr>
            <p:cNvCxnSpPr>
              <a:cxnSpLocks/>
              <a:stCxn id="4" idx="4"/>
              <a:endCxn id="11" idx="0"/>
            </p:cNvCxnSpPr>
            <p:nvPr/>
          </p:nvCxnSpPr>
          <p:spPr>
            <a:xfrm>
              <a:off x="9220199" y="1815659"/>
              <a:ext cx="1"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E407E6F-AF42-7196-DA04-0154FFB684D5}"/>
                </a:ext>
              </a:extLst>
            </p:cNvPr>
            <p:cNvCxnSpPr>
              <a:cxnSpLocks/>
              <a:stCxn id="4" idx="3"/>
              <a:endCxn id="10" idx="7"/>
            </p:cNvCxnSpPr>
            <p:nvPr/>
          </p:nvCxnSpPr>
          <p:spPr>
            <a:xfrm flipH="1">
              <a:off x="5626405" y="1567847"/>
              <a:ext cx="2983446" cy="288935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A9B6C53-424C-DCD3-72EF-09E020CCA274}"/>
                </a:ext>
              </a:extLst>
            </p:cNvPr>
            <p:cNvSpPr/>
            <p:nvPr/>
          </p:nvSpPr>
          <p:spPr>
            <a:xfrm>
              <a:off x="4152896" y="4209392"/>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Education</a:t>
              </a:r>
              <a:endParaRPr lang="en-NL" dirty="0"/>
            </a:p>
          </p:txBody>
        </p:sp>
        <p:sp>
          <p:nvSpPr>
            <p:cNvPr id="11" name="Oval 10">
              <a:extLst>
                <a:ext uri="{FF2B5EF4-FFF2-40B4-BE49-F238E27FC236}">
                  <a16:creationId xmlns:a16="http://schemas.microsoft.com/office/drawing/2014/main" id="{77A8C53C-E879-5376-3C2F-02717FB3C89D}"/>
                </a:ext>
              </a:extLst>
            </p:cNvPr>
            <p:cNvSpPr/>
            <p:nvPr/>
          </p:nvSpPr>
          <p:spPr>
            <a:xfrm>
              <a:off x="8357038" y="2661743"/>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Socio-Economy</a:t>
              </a:r>
              <a:endParaRPr lang="en-NL" dirty="0"/>
            </a:p>
          </p:txBody>
        </p:sp>
        <p:sp>
          <p:nvSpPr>
            <p:cNvPr id="12" name="Oval 11">
              <a:extLst>
                <a:ext uri="{FF2B5EF4-FFF2-40B4-BE49-F238E27FC236}">
                  <a16:creationId xmlns:a16="http://schemas.microsoft.com/office/drawing/2014/main" id="{9C9C8003-AE16-7136-D9BA-12D1BDCA884E}"/>
                </a:ext>
              </a:extLst>
            </p:cNvPr>
            <p:cNvSpPr/>
            <p:nvPr/>
          </p:nvSpPr>
          <p:spPr>
            <a:xfrm>
              <a:off x="8357036" y="5055476"/>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solidFill>
                </a:rPr>
                <a:t>Outcome</a:t>
              </a:r>
              <a:endParaRPr lang="en-NL" dirty="0">
                <a:solidFill>
                  <a:schemeClr val="lt1"/>
                </a:solidFill>
              </a:endParaRPr>
            </a:p>
          </p:txBody>
        </p:sp>
        <p:cxnSp>
          <p:nvCxnSpPr>
            <p:cNvPr id="18" name="Straight Arrow Connector 17">
              <a:extLst>
                <a:ext uri="{FF2B5EF4-FFF2-40B4-BE49-F238E27FC236}">
                  <a16:creationId xmlns:a16="http://schemas.microsoft.com/office/drawing/2014/main" id="{770EB644-83B6-1FDE-3A52-3EA1EB96C191}"/>
                </a:ext>
              </a:extLst>
            </p:cNvPr>
            <p:cNvCxnSpPr>
              <a:cxnSpLocks/>
              <a:stCxn id="11" idx="4"/>
              <a:endCxn id="12" idx="0"/>
            </p:cNvCxnSpPr>
            <p:nvPr/>
          </p:nvCxnSpPr>
          <p:spPr>
            <a:xfrm flipH="1">
              <a:off x="9220198" y="4353911"/>
              <a:ext cx="2" cy="701565"/>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ED88DBF-BF02-6328-29A6-F61B8DBE0BD4}"/>
                </a:ext>
              </a:extLst>
            </p:cNvPr>
            <p:cNvCxnSpPr>
              <a:cxnSpLocks/>
              <a:stCxn id="10" idx="6"/>
              <a:endCxn id="12" idx="2"/>
            </p:cNvCxnSpPr>
            <p:nvPr/>
          </p:nvCxnSpPr>
          <p:spPr>
            <a:xfrm>
              <a:off x="5879219" y="5055476"/>
              <a:ext cx="2477817"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C4485D5-857F-5B59-36D9-7FBEC3E5918E}"/>
                </a:ext>
              </a:extLst>
            </p:cNvPr>
            <p:cNvCxnSpPr>
              <a:cxnSpLocks/>
              <a:stCxn id="11" idx="2"/>
              <a:endCxn id="10" idx="7"/>
            </p:cNvCxnSpPr>
            <p:nvPr/>
          </p:nvCxnSpPr>
          <p:spPr>
            <a:xfrm flipH="1">
              <a:off x="5626405" y="3507827"/>
              <a:ext cx="2730633" cy="94937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41441E8-2ED1-986D-5BC7-88C40D90A35A}"/>
                  </a:ext>
                </a:extLst>
              </p:cNvPr>
              <p:cNvSpPr txBox="1"/>
              <p:nvPr/>
            </p:nvSpPr>
            <p:spPr>
              <a:xfrm>
                <a:off x="546538" y="1032399"/>
                <a:ext cx="4740165"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𝑃</m:t>
                      </m:r>
                      <m:d>
                        <m:dPr>
                          <m:ctrlPr>
                            <a:rPr lang="en-US" i="0">
                              <a:latin typeface="Cambria Math" panose="02040503050406030204" pitchFamily="18" charset="0"/>
                            </a:rPr>
                          </m:ctrlPr>
                        </m:dPr>
                        <m:e>
                          <m:r>
                            <m:rPr>
                              <m:nor/>
                            </m:rPr>
                            <a:rPr lang="en-US" i="0">
                              <a:latin typeface="Cambria Math" panose="02040503050406030204" pitchFamily="18" charset="0"/>
                            </a:rPr>
                            <m:t>Outcome</m:t>
                          </m:r>
                          <m:r>
                            <m:rPr>
                              <m:nor/>
                            </m:rPr>
                            <a:rPr lang="en-US" b="0" i="0" smtClean="0">
                              <a:latin typeface="Cambria Math" panose="02040503050406030204" pitchFamily="18" charset="0"/>
                            </a:rPr>
                            <m:t>,</m:t>
                          </m:r>
                          <m:r>
                            <m:rPr>
                              <m:nor/>
                            </m:rPr>
                            <a:rPr lang="en-US" i="0">
                              <a:latin typeface="Cambria Math" panose="02040503050406030204" pitchFamily="18" charset="0"/>
                            </a:rPr>
                            <m:t>Education,</m:t>
                          </m:r>
                          <m:r>
                            <m:rPr>
                              <m:nor/>
                            </m:rPr>
                            <a:rPr lang="en-US" b="0" i="0" smtClean="0">
                              <a:latin typeface="Cambria Math" panose="02040503050406030204" pitchFamily="18" charset="0"/>
                            </a:rPr>
                            <m:t>B</m:t>
                          </m:r>
                          <m:r>
                            <m:rPr>
                              <m:nor/>
                            </m:rPr>
                            <a:rPr lang="en-US" i="0">
                              <a:latin typeface="Cambria Math" panose="02040503050406030204" pitchFamily="18" charset="0"/>
                            </a:rPr>
                            <m:t>ackground,State</m:t>
                          </m:r>
                        </m:e>
                      </m:d>
                    </m:oMath>
                  </m:oMathPara>
                </a14:m>
                <a:endParaRPr lang="en-NL" dirty="0"/>
              </a:p>
            </p:txBody>
          </p:sp>
        </mc:Choice>
        <mc:Fallback xmlns="">
          <p:sp>
            <p:nvSpPr>
              <p:cNvPr id="78" name="TextBox 77">
                <a:extLst>
                  <a:ext uri="{FF2B5EF4-FFF2-40B4-BE49-F238E27FC236}">
                    <a16:creationId xmlns:a16="http://schemas.microsoft.com/office/drawing/2014/main" id="{341441E8-2ED1-986D-5BC7-88C40D90A35A}"/>
                  </a:ext>
                </a:extLst>
              </p:cNvPr>
              <p:cNvSpPr txBox="1">
                <a:spLocks noRot="1" noChangeAspect="1" noMove="1" noResize="1" noEditPoints="1" noAdjustHandles="1" noChangeArrowheads="1" noChangeShapeType="1" noTextEdit="1"/>
              </p:cNvSpPr>
              <p:nvPr/>
            </p:nvSpPr>
            <p:spPr>
              <a:xfrm>
                <a:off x="546538" y="1032399"/>
                <a:ext cx="4740165" cy="369332"/>
              </a:xfrm>
              <a:prstGeom prst="rect">
                <a:avLst/>
              </a:prstGeom>
              <a:blipFill>
                <a:blip r:embed="rId2"/>
                <a:stretch>
                  <a:fillRect b="-13115"/>
                </a:stretch>
              </a:blipFill>
            </p:spPr>
            <p:txBody>
              <a:bodyPr/>
              <a:lstStyle/>
              <a:p>
                <a:r>
                  <a:rPr lang="en-NL">
                    <a:noFill/>
                  </a:rPr>
                  <a:t> </a:t>
                </a:r>
              </a:p>
            </p:txBody>
          </p:sp>
        </mc:Fallback>
      </mc:AlternateContent>
    </p:spTree>
    <p:extLst>
      <p:ext uri="{BB962C8B-B14F-4D97-AF65-F5344CB8AC3E}">
        <p14:creationId xmlns:p14="http://schemas.microsoft.com/office/powerpoint/2010/main" val="21822080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Group 79">
            <a:extLst>
              <a:ext uri="{FF2B5EF4-FFF2-40B4-BE49-F238E27FC236}">
                <a16:creationId xmlns:a16="http://schemas.microsoft.com/office/drawing/2014/main" id="{CE665A05-AE4B-0C8F-142A-CE2F0DE2F9D0}"/>
              </a:ext>
            </a:extLst>
          </p:cNvPr>
          <p:cNvGrpSpPr/>
          <p:nvPr/>
        </p:nvGrpSpPr>
        <p:grpSpPr>
          <a:xfrm>
            <a:off x="5424648" y="260126"/>
            <a:ext cx="5453559" cy="5702110"/>
            <a:chOff x="4152896" y="123491"/>
            <a:chExt cx="5930465" cy="6624153"/>
          </a:xfrm>
        </p:grpSpPr>
        <p:sp>
          <p:nvSpPr>
            <p:cNvPr id="4" name="Oval 3">
              <a:extLst>
                <a:ext uri="{FF2B5EF4-FFF2-40B4-BE49-F238E27FC236}">
                  <a16:creationId xmlns:a16="http://schemas.microsoft.com/office/drawing/2014/main" id="{762C2D11-39BD-D521-78AC-F7EDF3A50F06}"/>
                </a:ext>
              </a:extLst>
            </p:cNvPr>
            <p:cNvSpPr/>
            <p:nvPr/>
          </p:nvSpPr>
          <p:spPr>
            <a:xfrm>
              <a:off x="8357037" y="123491"/>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chemeClr val="lt1"/>
                  </a:solidFill>
                </a:rPr>
                <a:t>State</a:t>
              </a:r>
              <a:endParaRPr lang="en-NL" dirty="0">
                <a:solidFill>
                  <a:schemeClr val="lt1"/>
                </a:solidFill>
              </a:endParaRPr>
            </a:p>
          </p:txBody>
        </p:sp>
        <p:cxnSp>
          <p:nvCxnSpPr>
            <p:cNvPr id="6" name="Straight Arrow Connector 5">
              <a:extLst>
                <a:ext uri="{FF2B5EF4-FFF2-40B4-BE49-F238E27FC236}">
                  <a16:creationId xmlns:a16="http://schemas.microsoft.com/office/drawing/2014/main" id="{69DDA208-F80D-7572-BE66-290D26E78434}"/>
                </a:ext>
              </a:extLst>
            </p:cNvPr>
            <p:cNvCxnSpPr>
              <a:cxnSpLocks/>
              <a:stCxn id="4" idx="4"/>
              <a:endCxn id="11" idx="0"/>
            </p:cNvCxnSpPr>
            <p:nvPr/>
          </p:nvCxnSpPr>
          <p:spPr>
            <a:xfrm>
              <a:off x="9220199" y="1815659"/>
              <a:ext cx="1"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E407E6F-AF42-7196-DA04-0154FFB684D5}"/>
                </a:ext>
              </a:extLst>
            </p:cNvPr>
            <p:cNvCxnSpPr>
              <a:cxnSpLocks/>
              <a:stCxn id="4" idx="3"/>
              <a:endCxn id="10" idx="7"/>
            </p:cNvCxnSpPr>
            <p:nvPr/>
          </p:nvCxnSpPr>
          <p:spPr>
            <a:xfrm flipH="1">
              <a:off x="5626405" y="1567847"/>
              <a:ext cx="2983446" cy="288935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A9B6C53-424C-DCD3-72EF-09E020CCA274}"/>
                </a:ext>
              </a:extLst>
            </p:cNvPr>
            <p:cNvSpPr/>
            <p:nvPr/>
          </p:nvSpPr>
          <p:spPr>
            <a:xfrm>
              <a:off x="4152896" y="4209392"/>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Education</a:t>
              </a:r>
              <a:endParaRPr lang="en-NL" dirty="0"/>
            </a:p>
          </p:txBody>
        </p:sp>
        <p:sp>
          <p:nvSpPr>
            <p:cNvPr id="11" name="Oval 10">
              <a:extLst>
                <a:ext uri="{FF2B5EF4-FFF2-40B4-BE49-F238E27FC236}">
                  <a16:creationId xmlns:a16="http://schemas.microsoft.com/office/drawing/2014/main" id="{77A8C53C-E879-5376-3C2F-02717FB3C89D}"/>
                </a:ext>
              </a:extLst>
            </p:cNvPr>
            <p:cNvSpPr/>
            <p:nvPr/>
          </p:nvSpPr>
          <p:spPr>
            <a:xfrm>
              <a:off x="8357038" y="2661743"/>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Socio-Economy</a:t>
              </a:r>
              <a:endParaRPr lang="en-NL" dirty="0"/>
            </a:p>
          </p:txBody>
        </p:sp>
        <p:sp>
          <p:nvSpPr>
            <p:cNvPr id="12" name="Oval 11">
              <a:extLst>
                <a:ext uri="{FF2B5EF4-FFF2-40B4-BE49-F238E27FC236}">
                  <a16:creationId xmlns:a16="http://schemas.microsoft.com/office/drawing/2014/main" id="{9C9C8003-AE16-7136-D9BA-12D1BDCA884E}"/>
                </a:ext>
              </a:extLst>
            </p:cNvPr>
            <p:cNvSpPr/>
            <p:nvPr/>
          </p:nvSpPr>
          <p:spPr>
            <a:xfrm>
              <a:off x="8357036" y="5055476"/>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lt1"/>
                  </a:solidFill>
                </a:rPr>
                <a:t>Outcome</a:t>
              </a:r>
              <a:endParaRPr lang="en-NL" dirty="0">
                <a:solidFill>
                  <a:schemeClr val="lt1"/>
                </a:solidFill>
              </a:endParaRPr>
            </a:p>
          </p:txBody>
        </p:sp>
        <p:cxnSp>
          <p:nvCxnSpPr>
            <p:cNvPr id="18" name="Straight Arrow Connector 17">
              <a:extLst>
                <a:ext uri="{FF2B5EF4-FFF2-40B4-BE49-F238E27FC236}">
                  <a16:creationId xmlns:a16="http://schemas.microsoft.com/office/drawing/2014/main" id="{770EB644-83B6-1FDE-3A52-3EA1EB96C191}"/>
                </a:ext>
              </a:extLst>
            </p:cNvPr>
            <p:cNvCxnSpPr>
              <a:cxnSpLocks/>
              <a:stCxn id="11" idx="4"/>
              <a:endCxn id="12" idx="0"/>
            </p:cNvCxnSpPr>
            <p:nvPr/>
          </p:nvCxnSpPr>
          <p:spPr>
            <a:xfrm flipH="1">
              <a:off x="9220198" y="4353911"/>
              <a:ext cx="2" cy="701565"/>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ED88DBF-BF02-6328-29A6-F61B8DBE0BD4}"/>
                </a:ext>
              </a:extLst>
            </p:cNvPr>
            <p:cNvCxnSpPr>
              <a:cxnSpLocks/>
              <a:stCxn id="10" idx="6"/>
              <a:endCxn id="12" idx="2"/>
            </p:cNvCxnSpPr>
            <p:nvPr/>
          </p:nvCxnSpPr>
          <p:spPr>
            <a:xfrm>
              <a:off x="5879219" y="5055476"/>
              <a:ext cx="2477817"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C4485D5-857F-5B59-36D9-7FBEC3E5918E}"/>
                </a:ext>
              </a:extLst>
            </p:cNvPr>
            <p:cNvCxnSpPr>
              <a:cxnSpLocks/>
              <a:stCxn id="11" idx="2"/>
              <a:endCxn id="10" idx="7"/>
            </p:cNvCxnSpPr>
            <p:nvPr/>
          </p:nvCxnSpPr>
          <p:spPr>
            <a:xfrm flipH="1">
              <a:off x="5626405" y="3507827"/>
              <a:ext cx="2730633" cy="94937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341441E8-2ED1-986D-5BC7-88C40D90A35A}"/>
                  </a:ext>
                </a:extLst>
              </p:cNvPr>
              <p:cNvSpPr txBox="1"/>
              <p:nvPr/>
            </p:nvSpPr>
            <p:spPr>
              <a:xfrm>
                <a:off x="546538" y="1032399"/>
                <a:ext cx="4740165" cy="369332"/>
              </a:xfrm>
              <a:prstGeom prst="rect">
                <a:avLst/>
              </a:prstGeom>
              <a:noFill/>
            </p:spPr>
            <p:txBody>
              <a:bodyPr wrap="square">
                <a:spAutoFit/>
              </a:bodyPr>
              <a:lstStyle/>
              <a:p>
                <a:pPr/>
                <a14:m>
                  <m:oMathPara xmlns:m="http://schemas.openxmlformats.org/officeDocument/2006/math">
                    <m:oMath>
                      <m:r>
                        <a:rPr lang="en-US" b="0" i="1" smtClean="0">
                          <a:latin typeface="Cambria Math" panose="02040503050406030204" pitchFamily="18" charset="0"/>
                        </a:rPr>
                        <m:t>𝑃</m:t>
                      </m:r>
                      <m:d>
                        <m:dPr>
                          <m:ctrlPr>
                            <a:rPr lang="en-US" i="0">
                              <a:latin typeface="Cambria Math" panose="02040503050406030204" pitchFamily="18" charset="0"/>
                            </a:rPr>
                          </m:ctrlPr>
                        </m:dPr>
                        <m:e>
                          <m:r>
                            <m:rPr>
                              <m:nor/>
                            </m:rPr>
                            <a:rPr lang="en-US" i="0">
                              <a:latin typeface="Cambria Math" panose="02040503050406030204" pitchFamily="18" charset="0"/>
                            </a:rPr>
                            <m:t>Education,State, Outcome,background</m:t>
                          </m:r>
                        </m:e>
                      </m:d>
                    </m:oMath>
                  </m:oMathPara>
                </a14:m>
                <a:endParaRPr lang="en-NL" dirty="0"/>
              </a:p>
            </p:txBody>
          </p:sp>
        </mc:Choice>
        <mc:Fallback xmlns="">
          <p:sp>
            <p:nvSpPr>
              <p:cNvPr id="78" name="TextBox 77">
                <a:extLst>
                  <a:ext uri="{FF2B5EF4-FFF2-40B4-BE49-F238E27FC236}">
                    <a16:creationId xmlns:a16="http://schemas.microsoft.com/office/drawing/2014/main" id="{341441E8-2ED1-986D-5BC7-88C40D90A35A}"/>
                  </a:ext>
                </a:extLst>
              </p:cNvPr>
              <p:cNvSpPr txBox="1">
                <a:spLocks noRot="1" noChangeAspect="1" noMove="1" noResize="1" noEditPoints="1" noAdjustHandles="1" noChangeArrowheads="1" noChangeShapeType="1" noTextEdit="1"/>
              </p:cNvSpPr>
              <p:nvPr/>
            </p:nvSpPr>
            <p:spPr>
              <a:xfrm>
                <a:off x="546538" y="1032399"/>
                <a:ext cx="4740165" cy="369332"/>
              </a:xfrm>
              <a:prstGeom prst="rect">
                <a:avLst/>
              </a:prstGeom>
              <a:blipFill>
                <a:blip r:embed="rId2"/>
                <a:stretch>
                  <a:fillRect b="-1311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5631DE55-3D7A-0115-5BE2-A982744C78E8}"/>
                  </a:ext>
                </a:extLst>
              </p:cNvPr>
              <p:cNvSpPr txBox="1"/>
              <p:nvPr/>
            </p:nvSpPr>
            <p:spPr>
              <a:xfrm>
                <a:off x="793531" y="6279986"/>
                <a:ext cx="11692756" cy="646331"/>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𝑃</m:t>
                    </m:r>
                    <m:d>
                      <m:dPr>
                        <m:ctrlPr>
                          <a:rPr lang="en-US" i="0">
                            <a:latin typeface="Cambria Math" panose="02040503050406030204" pitchFamily="18" charset="0"/>
                          </a:rPr>
                        </m:ctrlPr>
                      </m:dPr>
                      <m:e>
                        <m:r>
                          <m:rPr>
                            <m:nor/>
                          </m:rPr>
                          <a:rPr lang="en-US" i="0">
                            <a:latin typeface="Cambria Math" panose="02040503050406030204" pitchFamily="18" charset="0"/>
                          </a:rPr>
                          <m:t>State</m:t>
                        </m:r>
                        <m:r>
                          <a:rPr lang="en-US" i="1" smtClean="0">
                            <a:latin typeface="Cambria Math" panose="02040503050406030204" pitchFamily="18" charset="0"/>
                          </a:rPr>
                          <m:t> </m:t>
                        </m:r>
                      </m:e>
                    </m:d>
                    <m:r>
                      <a:rPr lang="en-US" i="1">
                        <a:latin typeface="Cambria Math" panose="02040503050406030204" pitchFamily="18" charset="0"/>
                      </a:rPr>
                      <m:t>𝑃</m:t>
                    </m:r>
                    <m:d>
                      <m:dPr>
                        <m:ctrlPr>
                          <a:rPr lang="en-US" i="0">
                            <a:latin typeface="Cambria Math" panose="02040503050406030204" pitchFamily="18" charset="0"/>
                          </a:rPr>
                        </m:ctrlPr>
                      </m:dPr>
                      <m:e>
                        <m:r>
                          <m:rPr>
                            <m:nor/>
                          </m:rPr>
                          <a:rPr lang="en-US" i="0">
                            <a:latin typeface="Cambria Math" panose="02040503050406030204" pitchFamily="18" charset="0"/>
                          </a:rPr>
                          <m:t>background</m:t>
                        </m:r>
                      </m:e>
                      <m:e>
                        <m:r>
                          <m:rPr>
                            <m:nor/>
                          </m:rPr>
                          <a:rPr lang="en-US" i="0">
                            <a:latin typeface="Cambria Math" panose="02040503050406030204" pitchFamily="18" charset="0"/>
                          </a:rPr>
                          <m:t>State</m:t>
                        </m:r>
                      </m:e>
                    </m:d>
                    <m:r>
                      <a:rPr lang="en-US" i="1">
                        <a:latin typeface="Cambria Math" panose="02040503050406030204" pitchFamily="18" charset="0"/>
                      </a:rPr>
                      <m:t>𝑃</m:t>
                    </m:r>
                    <m:d>
                      <m:dPr>
                        <m:ctrlPr>
                          <a:rPr lang="en-US" i="0">
                            <a:latin typeface="Cambria Math" panose="02040503050406030204" pitchFamily="18" charset="0"/>
                          </a:rPr>
                        </m:ctrlPr>
                      </m:dPr>
                      <m:e>
                        <m:r>
                          <m:rPr>
                            <m:nor/>
                          </m:rPr>
                          <a:rPr lang="en-US" i="0">
                            <a:latin typeface="Cambria Math" panose="02040503050406030204" pitchFamily="18" charset="0"/>
                          </a:rPr>
                          <m:t>Education</m:t>
                        </m:r>
                      </m:e>
                      <m:e>
                        <m:r>
                          <m:rPr>
                            <m:nor/>
                          </m:rPr>
                          <a:rPr lang="en-US" i="0">
                            <a:latin typeface="Cambria Math" panose="02040503050406030204" pitchFamily="18" charset="0"/>
                          </a:rPr>
                          <m:t>background,State</m:t>
                        </m:r>
                      </m:e>
                    </m:d>
                  </m:oMath>
                </a14:m>
                <a:r>
                  <a:rPr lang="en-US" dirty="0"/>
                  <a:t> </a:t>
                </a:r>
                <a14:m>
                  <m:oMath xmlns:m="http://schemas.openxmlformats.org/officeDocument/2006/math">
                    <m:r>
                      <a:rPr lang="en-US" i="1">
                        <a:latin typeface="Cambria Math" panose="02040503050406030204" pitchFamily="18" charset="0"/>
                      </a:rPr>
                      <m:t>𝑃</m:t>
                    </m:r>
                    <m:d>
                      <m:dPr>
                        <m:ctrlPr>
                          <a:rPr lang="en-US" i="0">
                            <a:latin typeface="Cambria Math" panose="02040503050406030204" pitchFamily="18" charset="0"/>
                          </a:rPr>
                        </m:ctrlPr>
                      </m:dPr>
                      <m:e>
                        <m:r>
                          <m:rPr>
                            <m:nor/>
                          </m:rPr>
                          <a:rPr lang="en-US" i="0">
                            <a:latin typeface="Cambria Math" panose="02040503050406030204" pitchFamily="18" charset="0"/>
                          </a:rPr>
                          <m:t>Outcome</m:t>
                        </m:r>
                      </m:e>
                      <m:e>
                        <m:r>
                          <m:rPr>
                            <m:nor/>
                          </m:rPr>
                          <a:rPr lang="en-US" i="0">
                            <a:latin typeface="Cambria Math" panose="02040503050406030204" pitchFamily="18" charset="0"/>
                          </a:rPr>
                          <m:t>Education</m:t>
                        </m:r>
                        <m:r>
                          <m:rPr>
                            <m:nor/>
                          </m:rPr>
                          <a:rPr lang="en-US" b="0" i="0" smtClean="0">
                            <a:latin typeface="Cambria Math" panose="02040503050406030204" pitchFamily="18" charset="0"/>
                          </a:rPr>
                          <m:t>,</m:t>
                        </m:r>
                        <m:r>
                          <m:rPr>
                            <m:nor/>
                          </m:rPr>
                          <a:rPr lang="en-US" i="0">
                            <a:latin typeface="Cambria Math" panose="02040503050406030204" pitchFamily="18" charset="0"/>
                          </a:rPr>
                          <m:t>background,State</m:t>
                        </m:r>
                      </m:e>
                    </m:d>
                  </m:oMath>
                </a14:m>
                <a:endParaRPr lang="en-NL" dirty="0"/>
              </a:p>
              <a:p>
                <a:endParaRPr lang="en-NL" dirty="0"/>
              </a:p>
            </p:txBody>
          </p:sp>
        </mc:Choice>
        <mc:Fallback xmlns="">
          <p:sp>
            <p:nvSpPr>
              <p:cNvPr id="79" name="TextBox 78">
                <a:extLst>
                  <a:ext uri="{FF2B5EF4-FFF2-40B4-BE49-F238E27FC236}">
                    <a16:creationId xmlns:a16="http://schemas.microsoft.com/office/drawing/2014/main" id="{5631DE55-3D7A-0115-5BE2-A982744C78E8}"/>
                  </a:ext>
                </a:extLst>
              </p:cNvPr>
              <p:cNvSpPr txBox="1">
                <a:spLocks noRot="1" noChangeAspect="1" noMove="1" noResize="1" noEditPoints="1" noAdjustHandles="1" noChangeArrowheads="1" noChangeShapeType="1" noTextEdit="1"/>
              </p:cNvSpPr>
              <p:nvPr/>
            </p:nvSpPr>
            <p:spPr>
              <a:xfrm>
                <a:off x="793531" y="6279986"/>
                <a:ext cx="11692756" cy="646331"/>
              </a:xfrm>
              <a:prstGeom prst="rect">
                <a:avLst/>
              </a:prstGeom>
              <a:blipFill>
                <a:blip r:embed="rId3"/>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150431911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62C2D11-39BD-D521-78AC-F7EDF3A50F06}"/>
              </a:ext>
            </a:extLst>
          </p:cNvPr>
          <p:cNvSpPr/>
          <p:nvPr/>
        </p:nvSpPr>
        <p:spPr>
          <a:xfrm>
            <a:off x="8357037" y="123491"/>
            <a:ext cx="1726323" cy="1692168"/>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solidFill>
                  <a:schemeClr val="lt1"/>
                </a:solidFill>
              </a:rPr>
              <a:t>State</a:t>
            </a:r>
            <a:endParaRPr lang="en-NL" dirty="0">
              <a:solidFill>
                <a:schemeClr val="lt1"/>
              </a:solidFill>
            </a:endParaRPr>
          </a:p>
        </p:txBody>
      </p:sp>
      <p:cxnSp>
        <p:nvCxnSpPr>
          <p:cNvPr id="6" name="Straight Arrow Connector 5">
            <a:extLst>
              <a:ext uri="{FF2B5EF4-FFF2-40B4-BE49-F238E27FC236}">
                <a16:creationId xmlns:a16="http://schemas.microsoft.com/office/drawing/2014/main" id="{69DDA208-F80D-7572-BE66-290D26E78434}"/>
              </a:ext>
            </a:extLst>
          </p:cNvPr>
          <p:cNvCxnSpPr>
            <a:cxnSpLocks/>
            <a:stCxn id="4" idx="4"/>
            <a:endCxn id="11" idx="0"/>
          </p:cNvCxnSpPr>
          <p:nvPr/>
        </p:nvCxnSpPr>
        <p:spPr>
          <a:xfrm>
            <a:off x="9220199" y="1815659"/>
            <a:ext cx="1"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E407E6F-AF42-7196-DA04-0154FFB684D5}"/>
              </a:ext>
            </a:extLst>
          </p:cNvPr>
          <p:cNvCxnSpPr>
            <a:cxnSpLocks/>
            <a:stCxn id="4" idx="3"/>
            <a:endCxn id="10" idx="7"/>
          </p:cNvCxnSpPr>
          <p:nvPr/>
        </p:nvCxnSpPr>
        <p:spPr>
          <a:xfrm flipH="1">
            <a:off x="5626405" y="1567847"/>
            <a:ext cx="2983446" cy="288935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A9B6C53-424C-DCD3-72EF-09E020CCA274}"/>
              </a:ext>
            </a:extLst>
          </p:cNvPr>
          <p:cNvSpPr/>
          <p:nvPr/>
        </p:nvSpPr>
        <p:spPr>
          <a:xfrm>
            <a:off x="4152896" y="4209392"/>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Education</a:t>
            </a:r>
            <a:endParaRPr lang="en-NL" dirty="0"/>
          </a:p>
        </p:txBody>
      </p:sp>
      <p:sp>
        <p:nvSpPr>
          <p:cNvPr id="11" name="Oval 10">
            <a:extLst>
              <a:ext uri="{FF2B5EF4-FFF2-40B4-BE49-F238E27FC236}">
                <a16:creationId xmlns:a16="http://schemas.microsoft.com/office/drawing/2014/main" id="{77A8C53C-E879-5376-3C2F-02717FB3C89D}"/>
              </a:ext>
            </a:extLst>
          </p:cNvPr>
          <p:cNvSpPr/>
          <p:nvPr/>
        </p:nvSpPr>
        <p:spPr>
          <a:xfrm>
            <a:off x="8357038" y="2661743"/>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Socio-Economy</a:t>
            </a:r>
            <a:endParaRPr lang="en-NL" dirty="0"/>
          </a:p>
        </p:txBody>
      </p:sp>
      <p:sp>
        <p:nvSpPr>
          <p:cNvPr id="12" name="Oval 11">
            <a:extLst>
              <a:ext uri="{FF2B5EF4-FFF2-40B4-BE49-F238E27FC236}">
                <a16:creationId xmlns:a16="http://schemas.microsoft.com/office/drawing/2014/main" id="{9C9C8003-AE16-7136-D9BA-12D1BDCA884E}"/>
              </a:ext>
            </a:extLst>
          </p:cNvPr>
          <p:cNvSpPr/>
          <p:nvPr/>
        </p:nvSpPr>
        <p:spPr>
          <a:xfrm>
            <a:off x="8357036" y="5055476"/>
            <a:ext cx="1726323" cy="1692168"/>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Outcome</a:t>
            </a:r>
            <a:endParaRPr lang="en-NL" dirty="0"/>
          </a:p>
        </p:txBody>
      </p:sp>
      <p:cxnSp>
        <p:nvCxnSpPr>
          <p:cNvPr id="18" name="Straight Arrow Connector 17">
            <a:extLst>
              <a:ext uri="{FF2B5EF4-FFF2-40B4-BE49-F238E27FC236}">
                <a16:creationId xmlns:a16="http://schemas.microsoft.com/office/drawing/2014/main" id="{770EB644-83B6-1FDE-3A52-3EA1EB96C191}"/>
              </a:ext>
            </a:extLst>
          </p:cNvPr>
          <p:cNvCxnSpPr>
            <a:cxnSpLocks/>
            <a:stCxn id="11" idx="4"/>
            <a:endCxn id="12" idx="0"/>
          </p:cNvCxnSpPr>
          <p:nvPr/>
        </p:nvCxnSpPr>
        <p:spPr>
          <a:xfrm flipH="1">
            <a:off x="9220198" y="4353911"/>
            <a:ext cx="2" cy="701565"/>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ED88DBF-BF02-6328-29A6-F61B8DBE0BD4}"/>
              </a:ext>
            </a:extLst>
          </p:cNvPr>
          <p:cNvCxnSpPr>
            <a:cxnSpLocks/>
            <a:stCxn id="10" idx="6"/>
            <a:endCxn id="12" idx="2"/>
          </p:cNvCxnSpPr>
          <p:nvPr/>
        </p:nvCxnSpPr>
        <p:spPr>
          <a:xfrm>
            <a:off x="5879219" y="5055476"/>
            <a:ext cx="2477817"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C4485D5-857F-5B59-36D9-7FBEC3E5918E}"/>
              </a:ext>
            </a:extLst>
          </p:cNvPr>
          <p:cNvCxnSpPr>
            <a:cxnSpLocks/>
            <a:stCxn id="11" idx="2"/>
            <a:endCxn id="10" idx="7"/>
          </p:cNvCxnSpPr>
          <p:nvPr/>
        </p:nvCxnSpPr>
        <p:spPr>
          <a:xfrm flipH="1">
            <a:off x="5626405" y="3507827"/>
            <a:ext cx="2730633" cy="94937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4E3E027-6693-8342-E365-86C51E4BFB67}"/>
                  </a:ext>
                </a:extLst>
              </p:cNvPr>
              <p:cNvSpPr txBox="1"/>
              <p:nvPr/>
            </p:nvSpPr>
            <p:spPr>
              <a:xfrm>
                <a:off x="724202" y="1538660"/>
                <a:ext cx="1459857" cy="276999"/>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0" smtClean="0">
                              <a:latin typeface="Cambria Math" panose="02040503050406030204" pitchFamily="18" charset="0"/>
                            </a:rPr>
                          </m:ctrlPr>
                        </m:dPr>
                        <m:e>
                          <m:r>
                            <m:rPr>
                              <m:nor/>
                            </m:rPr>
                            <a:rPr lang="en-US" b="0" i="0" smtClean="0">
                              <a:latin typeface="Cambria Math" panose="02040503050406030204" pitchFamily="18" charset="0"/>
                            </a:rPr>
                            <m:t>Education</m:t>
                          </m:r>
                        </m:e>
                        <m:e>
                          <m:r>
                            <m:rPr>
                              <m:nor/>
                            </m:rPr>
                            <a:rPr lang="en-US" b="0" i="0" smtClean="0">
                              <a:latin typeface="Cambria Math" panose="02040503050406030204" pitchFamily="18" charset="0"/>
                            </a:rPr>
                            <m:t>State, Outcome</m:t>
                          </m:r>
                        </m:e>
                      </m:d>
                    </m:oMath>
                  </m:oMathPara>
                </a14:m>
                <a:endParaRPr lang="en-NL" dirty="0"/>
              </a:p>
            </p:txBody>
          </p:sp>
        </mc:Choice>
        <mc:Fallback xmlns="">
          <p:sp>
            <p:nvSpPr>
              <p:cNvPr id="70" name="TextBox 69">
                <a:extLst>
                  <a:ext uri="{FF2B5EF4-FFF2-40B4-BE49-F238E27FC236}">
                    <a16:creationId xmlns:a16="http://schemas.microsoft.com/office/drawing/2014/main" id="{54E3E027-6693-8342-E365-86C51E4BFB67}"/>
                  </a:ext>
                </a:extLst>
              </p:cNvPr>
              <p:cNvSpPr txBox="1">
                <a:spLocks noRot="1" noChangeAspect="1" noMove="1" noResize="1" noEditPoints="1" noAdjustHandles="1" noChangeArrowheads="1" noChangeShapeType="1" noTextEdit="1"/>
              </p:cNvSpPr>
              <p:nvPr/>
            </p:nvSpPr>
            <p:spPr>
              <a:xfrm>
                <a:off x="724202" y="1538660"/>
                <a:ext cx="1459857" cy="276999"/>
              </a:xfrm>
              <a:prstGeom prst="rect">
                <a:avLst/>
              </a:prstGeom>
              <a:blipFill>
                <a:blip r:embed="rId2"/>
                <a:stretch>
                  <a:fillRect l="-5858" r="-95816" b="-21739"/>
                </a:stretch>
              </a:blipFill>
            </p:spPr>
            <p:txBody>
              <a:bodyPr/>
              <a:lstStyle/>
              <a:p>
                <a:r>
                  <a:rPr lang="en-NL">
                    <a:noFill/>
                  </a:rPr>
                  <a:t> </a:t>
                </a:r>
              </a:p>
            </p:txBody>
          </p:sp>
        </mc:Fallback>
      </mc:AlternateContent>
      <p:pic>
        <p:nvPicPr>
          <p:cNvPr id="72" name="Picture 71">
            <a:extLst>
              <a:ext uri="{FF2B5EF4-FFF2-40B4-BE49-F238E27FC236}">
                <a16:creationId xmlns:a16="http://schemas.microsoft.com/office/drawing/2014/main" id="{8DB0BC2E-5721-0FAE-396F-85E0A6576CAD}"/>
              </a:ext>
            </a:extLst>
          </p:cNvPr>
          <p:cNvPicPr>
            <a:picLocks noChangeAspect="1"/>
          </p:cNvPicPr>
          <p:nvPr/>
        </p:nvPicPr>
        <p:blipFill>
          <a:blip r:embed="rId3"/>
          <a:stretch>
            <a:fillRect/>
          </a:stretch>
        </p:blipFill>
        <p:spPr>
          <a:xfrm>
            <a:off x="578767" y="2402241"/>
            <a:ext cx="2613887" cy="1813717"/>
          </a:xfrm>
          <a:prstGeom prst="rect">
            <a:avLst/>
          </a:prstGeom>
        </p:spPr>
      </p:pic>
      <p:sp>
        <p:nvSpPr>
          <p:cNvPr id="13" name="TextBox 12">
            <a:extLst>
              <a:ext uri="{FF2B5EF4-FFF2-40B4-BE49-F238E27FC236}">
                <a16:creationId xmlns:a16="http://schemas.microsoft.com/office/drawing/2014/main" id="{883CC9EF-3F16-972E-9782-5C5720D8B2A0}"/>
              </a:ext>
            </a:extLst>
          </p:cNvPr>
          <p:cNvSpPr txBox="1"/>
          <p:nvPr/>
        </p:nvSpPr>
        <p:spPr>
          <a:xfrm>
            <a:off x="-73573" y="6212518"/>
            <a:ext cx="6096000" cy="369332"/>
          </a:xfrm>
          <a:prstGeom prst="rect">
            <a:avLst/>
          </a:prstGeom>
          <a:noFill/>
        </p:spPr>
        <p:txBody>
          <a:bodyPr wrap="square">
            <a:spAutoFit/>
          </a:bodyPr>
          <a:lstStyle/>
          <a:p>
            <a:pPr lvl="1"/>
            <a:r>
              <a:rPr lang="en-US" dirty="0"/>
              <a:t>Wisconsin (       ) vs. Texas (       )  education system </a:t>
            </a:r>
          </a:p>
        </p:txBody>
      </p:sp>
      <p:pic>
        <p:nvPicPr>
          <p:cNvPr id="14" name="Picture 4" descr="A picture containing text, fabric, picture frame&#10;&#10;Description automatically generated">
            <a:extLst>
              <a:ext uri="{FF2B5EF4-FFF2-40B4-BE49-F238E27FC236}">
                <a16:creationId xmlns:a16="http://schemas.microsoft.com/office/drawing/2014/main" id="{6AFBD340-B13B-DC0A-DDB0-234F403E43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7381" y="6221192"/>
            <a:ext cx="463406" cy="36005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A picture containing text, picture frame&#10;&#10;Description automatically generated">
            <a:extLst>
              <a:ext uri="{FF2B5EF4-FFF2-40B4-BE49-F238E27FC236}">
                <a16:creationId xmlns:a16="http://schemas.microsoft.com/office/drawing/2014/main" id="{D7EB0B40-0E93-9F12-33FE-B463312C67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9460" y="6212518"/>
            <a:ext cx="463406" cy="368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11265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62C2D11-39BD-D521-78AC-F7EDF3A50F06}"/>
              </a:ext>
            </a:extLst>
          </p:cNvPr>
          <p:cNvSpPr/>
          <p:nvPr/>
        </p:nvSpPr>
        <p:spPr>
          <a:xfrm>
            <a:off x="8357037" y="123491"/>
            <a:ext cx="1726323" cy="1692168"/>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solidFill>
                  <a:schemeClr val="lt1"/>
                </a:solidFill>
              </a:rPr>
              <a:t>State</a:t>
            </a:r>
            <a:endParaRPr lang="en-NL" dirty="0">
              <a:solidFill>
                <a:schemeClr val="lt1"/>
              </a:solidFill>
            </a:endParaRPr>
          </a:p>
        </p:txBody>
      </p:sp>
      <p:cxnSp>
        <p:nvCxnSpPr>
          <p:cNvPr id="6" name="Straight Arrow Connector 5">
            <a:extLst>
              <a:ext uri="{FF2B5EF4-FFF2-40B4-BE49-F238E27FC236}">
                <a16:creationId xmlns:a16="http://schemas.microsoft.com/office/drawing/2014/main" id="{69DDA208-F80D-7572-BE66-290D26E78434}"/>
              </a:ext>
            </a:extLst>
          </p:cNvPr>
          <p:cNvCxnSpPr>
            <a:cxnSpLocks/>
            <a:stCxn id="4" idx="4"/>
            <a:endCxn id="11" idx="0"/>
          </p:cNvCxnSpPr>
          <p:nvPr/>
        </p:nvCxnSpPr>
        <p:spPr>
          <a:xfrm>
            <a:off x="9220199" y="1815659"/>
            <a:ext cx="1"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E407E6F-AF42-7196-DA04-0154FFB684D5}"/>
              </a:ext>
            </a:extLst>
          </p:cNvPr>
          <p:cNvCxnSpPr>
            <a:cxnSpLocks/>
            <a:stCxn id="4" idx="3"/>
            <a:endCxn id="10" idx="7"/>
          </p:cNvCxnSpPr>
          <p:nvPr/>
        </p:nvCxnSpPr>
        <p:spPr>
          <a:xfrm flipH="1">
            <a:off x="5626405" y="1567847"/>
            <a:ext cx="2983446" cy="288935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A9B6C53-424C-DCD3-72EF-09E020CCA274}"/>
              </a:ext>
            </a:extLst>
          </p:cNvPr>
          <p:cNvSpPr/>
          <p:nvPr/>
        </p:nvSpPr>
        <p:spPr>
          <a:xfrm>
            <a:off x="4152896" y="4209392"/>
            <a:ext cx="1726323" cy="1692168"/>
          </a:xfrm>
          <a:prstGeom prst="ellipse">
            <a:avLst/>
          </a:prstGeom>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Education</a:t>
            </a:r>
            <a:endParaRPr lang="en-NL" dirty="0"/>
          </a:p>
        </p:txBody>
      </p:sp>
      <p:sp>
        <p:nvSpPr>
          <p:cNvPr id="11" name="Oval 10">
            <a:extLst>
              <a:ext uri="{FF2B5EF4-FFF2-40B4-BE49-F238E27FC236}">
                <a16:creationId xmlns:a16="http://schemas.microsoft.com/office/drawing/2014/main" id="{77A8C53C-E879-5376-3C2F-02717FB3C89D}"/>
              </a:ext>
            </a:extLst>
          </p:cNvPr>
          <p:cNvSpPr/>
          <p:nvPr/>
        </p:nvSpPr>
        <p:spPr>
          <a:xfrm>
            <a:off x="8357038" y="2661743"/>
            <a:ext cx="1726323" cy="1692168"/>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Socio-Economy</a:t>
            </a:r>
            <a:endParaRPr lang="en-NL" dirty="0"/>
          </a:p>
        </p:txBody>
      </p:sp>
      <p:sp>
        <p:nvSpPr>
          <p:cNvPr id="12" name="Oval 11">
            <a:extLst>
              <a:ext uri="{FF2B5EF4-FFF2-40B4-BE49-F238E27FC236}">
                <a16:creationId xmlns:a16="http://schemas.microsoft.com/office/drawing/2014/main" id="{9C9C8003-AE16-7136-D9BA-12D1BDCA884E}"/>
              </a:ext>
            </a:extLst>
          </p:cNvPr>
          <p:cNvSpPr/>
          <p:nvPr/>
        </p:nvSpPr>
        <p:spPr>
          <a:xfrm>
            <a:off x="8357036" y="5055476"/>
            <a:ext cx="1726323" cy="1692168"/>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solidFill>
                  <a:schemeClr val="dk1"/>
                </a:solidFill>
              </a:rPr>
              <a:t>Outcome</a:t>
            </a:r>
            <a:endParaRPr lang="en-NL" dirty="0">
              <a:solidFill>
                <a:schemeClr val="dk1"/>
              </a:solidFill>
            </a:endParaRPr>
          </a:p>
        </p:txBody>
      </p:sp>
      <p:cxnSp>
        <p:nvCxnSpPr>
          <p:cNvPr id="18" name="Straight Arrow Connector 17">
            <a:extLst>
              <a:ext uri="{FF2B5EF4-FFF2-40B4-BE49-F238E27FC236}">
                <a16:creationId xmlns:a16="http://schemas.microsoft.com/office/drawing/2014/main" id="{770EB644-83B6-1FDE-3A52-3EA1EB96C191}"/>
              </a:ext>
            </a:extLst>
          </p:cNvPr>
          <p:cNvCxnSpPr>
            <a:cxnSpLocks/>
            <a:stCxn id="11" idx="4"/>
            <a:endCxn id="12" idx="0"/>
          </p:cNvCxnSpPr>
          <p:nvPr/>
        </p:nvCxnSpPr>
        <p:spPr>
          <a:xfrm flipH="1">
            <a:off x="9220198" y="4353911"/>
            <a:ext cx="2" cy="701565"/>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ED88DBF-BF02-6328-29A6-F61B8DBE0BD4}"/>
              </a:ext>
            </a:extLst>
          </p:cNvPr>
          <p:cNvCxnSpPr>
            <a:cxnSpLocks/>
            <a:stCxn id="10" idx="6"/>
            <a:endCxn id="12" idx="2"/>
          </p:cNvCxnSpPr>
          <p:nvPr/>
        </p:nvCxnSpPr>
        <p:spPr>
          <a:xfrm>
            <a:off x="5879219" y="5055476"/>
            <a:ext cx="2477817" cy="846084"/>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6C4485D5-857F-5B59-36D9-7FBEC3E5918E}"/>
              </a:ext>
            </a:extLst>
          </p:cNvPr>
          <p:cNvCxnSpPr>
            <a:cxnSpLocks/>
            <a:stCxn id="11" idx="2"/>
            <a:endCxn id="10" idx="7"/>
          </p:cNvCxnSpPr>
          <p:nvPr/>
        </p:nvCxnSpPr>
        <p:spPr>
          <a:xfrm flipH="1">
            <a:off x="5626405" y="3507827"/>
            <a:ext cx="2730633" cy="949377"/>
          </a:xfrm>
          <a:prstGeom prst="straightConnector1">
            <a:avLst/>
          </a:prstGeom>
          <a:ln w="38100">
            <a:headEnd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54E3E027-6693-8342-E365-86C51E4BFB67}"/>
                  </a:ext>
                </a:extLst>
              </p:cNvPr>
              <p:cNvSpPr txBox="1"/>
              <p:nvPr/>
            </p:nvSpPr>
            <p:spPr>
              <a:xfrm>
                <a:off x="724202" y="1538660"/>
                <a:ext cx="1459857" cy="276999"/>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rPr>
                        <m:t>𝑃</m:t>
                      </m:r>
                      <m:d>
                        <m:dPr>
                          <m:ctrlPr>
                            <a:rPr lang="en-US" b="0" i="0" smtClean="0">
                              <a:latin typeface="Cambria Math" panose="02040503050406030204" pitchFamily="18" charset="0"/>
                            </a:rPr>
                          </m:ctrlPr>
                        </m:dPr>
                        <m:e>
                          <m:r>
                            <m:rPr>
                              <m:nor/>
                            </m:rPr>
                            <a:rPr lang="en-US" b="0" i="0" smtClean="0">
                              <a:latin typeface="Cambria Math" panose="02040503050406030204" pitchFamily="18" charset="0"/>
                            </a:rPr>
                            <m:t>Education</m:t>
                          </m:r>
                        </m:e>
                        <m:e>
                          <m:r>
                            <m:rPr>
                              <m:nor/>
                            </m:rPr>
                            <a:rPr lang="en-US" b="0" i="0" smtClean="0">
                              <a:latin typeface="Cambria Math" panose="02040503050406030204" pitchFamily="18" charset="0"/>
                            </a:rPr>
                            <m:t>State, Outcome,background</m:t>
                          </m:r>
                        </m:e>
                      </m:d>
                    </m:oMath>
                  </m:oMathPara>
                </a14:m>
                <a:endParaRPr lang="en-NL" dirty="0"/>
              </a:p>
            </p:txBody>
          </p:sp>
        </mc:Choice>
        <mc:Fallback xmlns="">
          <p:sp>
            <p:nvSpPr>
              <p:cNvPr id="70" name="TextBox 69">
                <a:extLst>
                  <a:ext uri="{FF2B5EF4-FFF2-40B4-BE49-F238E27FC236}">
                    <a16:creationId xmlns:a16="http://schemas.microsoft.com/office/drawing/2014/main" id="{54E3E027-6693-8342-E365-86C51E4BFB67}"/>
                  </a:ext>
                </a:extLst>
              </p:cNvPr>
              <p:cNvSpPr txBox="1">
                <a:spLocks noRot="1" noChangeAspect="1" noMove="1" noResize="1" noEditPoints="1" noAdjustHandles="1" noChangeArrowheads="1" noChangeShapeType="1" noTextEdit="1"/>
              </p:cNvSpPr>
              <p:nvPr/>
            </p:nvSpPr>
            <p:spPr>
              <a:xfrm>
                <a:off x="724202" y="1538660"/>
                <a:ext cx="1459857" cy="276999"/>
              </a:xfrm>
              <a:prstGeom prst="rect">
                <a:avLst/>
              </a:prstGeom>
              <a:blipFill>
                <a:blip r:embed="rId2"/>
                <a:stretch>
                  <a:fillRect l="-5858" t="-2174" r="-181172" b="-32609"/>
                </a:stretch>
              </a:blipFill>
            </p:spPr>
            <p:txBody>
              <a:bodyPr/>
              <a:lstStyle/>
              <a:p>
                <a:r>
                  <a:rPr lang="en-NL">
                    <a:noFill/>
                  </a:rPr>
                  <a:t> </a:t>
                </a:r>
              </a:p>
            </p:txBody>
          </p:sp>
        </mc:Fallback>
      </mc:AlternateContent>
      <p:pic>
        <p:nvPicPr>
          <p:cNvPr id="72" name="Picture 71">
            <a:extLst>
              <a:ext uri="{FF2B5EF4-FFF2-40B4-BE49-F238E27FC236}">
                <a16:creationId xmlns:a16="http://schemas.microsoft.com/office/drawing/2014/main" id="{8DB0BC2E-5721-0FAE-396F-85E0A6576CAD}"/>
              </a:ext>
            </a:extLst>
          </p:cNvPr>
          <p:cNvPicPr>
            <a:picLocks noChangeAspect="1"/>
          </p:cNvPicPr>
          <p:nvPr/>
        </p:nvPicPr>
        <p:blipFill>
          <a:blip r:embed="rId3"/>
          <a:stretch>
            <a:fillRect/>
          </a:stretch>
        </p:blipFill>
        <p:spPr>
          <a:xfrm>
            <a:off x="578767" y="2402241"/>
            <a:ext cx="2613887" cy="1813717"/>
          </a:xfrm>
          <a:prstGeom prst="rect">
            <a:avLst/>
          </a:prstGeom>
        </p:spPr>
      </p:pic>
      <p:pic>
        <p:nvPicPr>
          <p:cNvPr id="3" name="Picture 2">
            <a:extLst>
              <a:ext uri="{FF2B5EF4-FFF2-40B4-BE49-F238E27FC236}">
                <a16:creationId xmlns:a16="http://schemas.microsoft.com/office/drawing/2014/main" id="{97018C6F-7E17-E38C-F820-C8734AA58713}"/>
              </a:ext>
            </a:extLst>
          </p:cNvPr>
          <p:cNvPicPr>
            <a:picLocks noChangeAspect="1"/>
          </p:cNvPicPr>
          <p:nvPr/>
        </p:nvPicPr>
        <p:blipFill>
          <a:blip r:embed="rId4"/>
          <a:stretch>
            <a:fillRect/>
          </a:stretch>
        </p:blipFill>
        <p:spPr>
          <a:xfrm>
            <a:off x="670215" y="2525226"/>
            <a:ext cx="2522439" cy="1684166"/>
          </a:xfrm>
          <a:prstGeom prst="rect">
            <a:avLst/>
          </a:prstGeom>
        </p:spPr>
      </p:pic>
    </p:spTree>
    <p:extLst>
      <p:ext uri="{BB962C8B-B14F-4D97-AF65-F5344CB8AC3E}">
        <p14:creationId xmlns:p14="http://schemas.microsoft.com/office/powerpoint/2010/main" val="412451581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ontent Placeholder 2">
            <a:extLst>
              <a:ext uri="{FF2B5EF4-FFF2-40B4-BE49-F238E27FC236}">
                <a16:creationId xmlns:a16="http://schemas.microsoft.com/office/drawing/2014/main" id="{893263D7-71C3-372F-DB71-FF7E216B2E7D}"/>
              </a:ext>
            </a:extLst>
          </p:cNvPr>
          <p:cNvGraphicFramePr>
            <a:graphicFrameLocks noGrp="1"/>
          </p:cNvGraphicFramePr>
          <p:nvPr>
            <p:ph idx="1"/>
          </p:nvPr>
        </p:nvGraphicFramePr>
        <p:xfrm>
          <a:off x="838200" y="2004446"/>
          <a:ext cx="10515600" cy="41768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131832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F020-24DB-1D4D-69EC-C38E75DB5A30}"/>
              </a:ext>
            </a:extLst>
          </p:cNvPr>
          <p:cNvSpPr>
            <a:spLocks noGrp="1"/>
          </p:cNvSpPr>
          <p:nvPr>
            <p:ph type="title"/>
          </p:nvPr>
        </p:nvSpPr>
        <p:spPr/>
        <p:txBody>
          <a:bodyPr/>
          <a:lstStyle/>
          <a:p>
            <a:r>
              <a:rPr lang="en-NL" dirty="0"/>
              <a:t>Appendix</a:t>
            </a:r>
          </a:p>
        </p:txBody>
      </p:sp>
      <p:sp>
        <p:nvSpPr>
          <p:cNvPr id="3" name="Text Placeholder 2">
            <a:extLst>
              <a:ext uri="{FF2B5EF4-FFF2-40B4-BE49-F238E27FC236}">
                <a16:creationId xmlns:a16="http://schemas.microsoft.com/office/drawing/2014/main" id="{644B9E6C-15C4-7789-153E-389DB44C2CF3}"/>
              </a:ext>
            </a:extLst>
          </p:cNvPr>
          <p:cNvSpPr>
            <a:spLocks noGrp="1"/>
          </p:cNvSpPr>
          <p:nvPr>
            <p:ph type="body" idx="1"/>
          </p:nvPr>
        </p:nvSpPr>
        <p:spPr/>
        <p:txBody>
          <a:bodyPr/>
          <a:lstStyle/>
          <a:p>
            <a:r>
              <a:rPr lang="en-NL" dirty="0"/>
              <a:t>Bayesian vs Frequentist </a:t>
            </a:r>
          </a:p>
        </p:txBody>
      </p:sp>
    </p:spTree>
    <p:extLst>
      <p:ext uri="{BB962C8B-B14F-4D97-AF65-F5344CB8AC3E}">
        <p14:creationId xmlns:p14="http://schemas.microsoft.com/office/powerpoint/2010/main" val="37552723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D01B1-670B-2F8F-B2E9-230902B3D573}"/>
              </a:ext>
            </a:extLst>
          </p:cNvPr>
          <p:cNvSpPr>
            <a:spLocks noGrp="1"/>
          </p:cNvSpPr>
          <p:nvPr>
            <p:ph type="title"/>
          </p:nvPr>
        </p:nvSpPr>
        <p:spPr/>
        <p:txBody>
          <a:bodyPr/>
          <a:lstStyle/>
          <a:p>
            <a:r>
              <a:rPr lang="en-NL" dirty="0"/>
              <a:t>Treatment Effect</a:t>
            </a:r>
          </a:p>
        </p:txBody>
      </p:sp>
      <p:sp>
        <p:nvSpPr>
          <p:cNvPr id="3" name="Content Placeholder 2">
            <a:extLst>
              <a:ext uri="{FF2B5EF4-FFF2-40B4-BE49-F238E27FC236}">
                <a16:creationId xmlns:a16="http://schemas.microsoft.com/office/drawing/2014/main" id="{281CD0C3-77B8-6D6A-6A11-495A55763187}"/>
              </a:ext>
            </a:extLst>
          </p:cNvPr>
          <p:cNvSpPr>
            <a:spLocks noGrp="1"/>
          </p:cNvSpPr>
          <p:nvPr>
            <p:ph idx="1"/>
          </p:nvPr>
        </p:nvSpPr>
        <p:spPr/>
        <p:txBody>
          <a:bodyPr/>
          <a:lstStyle/>
          <a:p>
            <a:r>
              <a:rPr lang="en-NL" dirty="0"/>
              <a:t>Suppose we want to see if drinking coffee can make you respond to a challenge in less than 2 minutes.</a:t>
            </a:r>
          </a:p>
          <a:p>
            <a:r>
              <a:rPr lang="en-NL" dirty="0"/>
              <a:t>We measured 100 people, 50 of them got the coffee, and 50 of them not. </a:t>
            </a:r>
          </a:p>
          <a:p>
            <a:r>
              <a:rPr lang="en-NL" dirty="0"/>
              <a:t>We then test who can solve the challenge in less than 2 minutes. </a:t>
            </a:r>
          </a:p>
          <a:p>
            <a:r>
              <a:rPr lang="en-NL" dirty="0"/>
              <a:t>People who drink the coffee, 40 could pass.</a:t>
            </a:r>
          </a:p>
          <a:p>
            <a:r>
              <a:rPr lang="en-NL" dirty="0"/>
              <a:t>People who did not drink the coffee, 30 could pass.</a:t>
            </a:r>
          </a:p>
          <a:p>
            <a:r>
              <a:rPr lang="en-NL" dirty="0"/>
              <a:t>Is drinking coffee beneficial to clearing </a:t>
            </a:r>
            <a:r>
              <a:rPr lang="en-GB" dirty="0" err="1"/>
              <a:t>th</a:t>
            </a:r>
            <a:r>
              <a:rPr lang="en-NL" dirty="0"/>
              <a:t>e challenge in less than 2 minutes?</a:t>
            </a:r>
          </a:p>
        </p:txBody>
      </p:sp>
    </p:spTree>
    <p:extLst>
      <p:ext uri="{BB962C8B-B14F-4D97-AF65-F5344CB8AC3E}">
        <p14:creationId xmlns:p14="http://schemas.microsoft.com/office/powerpoint/2010/main" val="20304742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AF047-10C7-A473-9B22-B39FFC921EF7}"/>
              </a:ext>
            </a:extLst>
          </p:cNvPr>
          <p:cNvSpPr>
            <a:spLocks noGrp="1"/>
          </p:cNvSpPr>
          <p:nvPr>
            <p:ph type="title"/>
          </p:nvPr>
        </p:nvSpPr>
        <p:spPr>
          <a:xfrm>
            <a:off x="838200" y="184805"/>
            <a:ext cx="10515600" cy="1505883"/>
          </a:xfrm>
        </p:spPr>
        <p:txBody>
          <a:bodyPr vert="horz" lIns="91440" tIns="45720" rIns="91440" bIns="45720" rtlCol="0" anchor="ctr">
            <a:normAutofit/>
          </a:bodyPr>
          <a:lstStyle/>
          <a:p>
            <a:r>
              <a:rPr lang="en-US" sz="5200" kern="1200">
                <a:solidFill>
                  <a:schemeClr val="tx1"/>
                </a:solidFill>
                <a:latin typeface="+mj-lt"/>
                <a:ea typeface="+mj-ea"/>
                <a:cs typeface="+mj-cs"/>
              </a:rPr>
              <a:t>Data</a:t>
            </a:r>
          </a:p>
        </p:txBody>
      </p:sp>
      <p:graphicFrame>
        <p:nvGraphicFramePr>
          <p:cNvPr id="4" name="Table 3">
            <a:extLst>
              <a:ext uri="{FF2B5EF4-FFF2-40B4-BE49-F238E27FC236}">
                <a16:creationId xmlns:a16="http://schemas.microsoft.com/office/drawing/2014/main" id="{C23AC7EF-5022-1EC5-2D17-55CB412892F1}"/>
              </a:ext>
            </a:extLst>
          </p:cNvPr>
          <p:cNvGraphicFramePr>
            <a:graphicFrameLocks noGrp="1"/>
          </p:cNvGraphicFramePr>
          <p:nvPr/>
        </p:nvGraphicFramePr>
        <p:xfrm>
          <a:off x="2308605" y="2322576"/>
          <a:ext cx="7571741" cy="2212848"/>
        </p:xfrm>
        <a:graphic>
          <a:graphicData uri="http://schemas.openxmlformats.org/drawingml/2006/table">
            <a:tbl>
              <a:tblPr firstRow="1" bandRow="1">
                <a:tableStyleId>{8799B23B-EC83-4686-B30A-512413B5E67A}</a:tableStyleId>
              </a:tblPr>
              <a:tblGrid>
                <a:gridCol w="2370244">
                  <a:extLst>
                    <a:ext uri="{9D8B030D-6E8A-4147-A177-3AD203B41FA5}">
                      <a16:colId xmlns:a16="http://schemas.microsoft.com/office/drawing/2014/main" val="383630371"/>
                    </a:ext>
                  </a:extLst>
                </a:gridCol>
                <a:gridCol w="1974427">
                  <a:extLst>
                    <a:ext uri="{9D8B030D-6E8A-4147-A177-3AD203B41FA5}">
                      <a16:colId xmlns:a16="http://schemas.microsoft.com/office/drawing/2014/main" val="758205210"/>
                    </a:ext>
                  </a:extLst>
                </a:gridCol>
                <a:gridCol w="1718310">
                  <a:extLst>
                    <a:ext uri="{9D8B030D-6E8A-4147-A177-3AD203B41FA5}">
                      <a16:colId xmlns:a16="http://schemas.microsoft.com/office/drawing/2014/main" val="1804841195"/>
                    </a:ext>
                  </a:extLst>
                </a:gridCol>
                <a:gridCol w="1508760">
                  <a:extLst>
                    <a:ext uri="{9D8B030D-6E8A-4147-A177-3AD203B41FA5}">
                      <a16:colId xmlns:a16="http://schemas.microsoft.com/office/drawing/2014/main" val="1059539411"/>
                    </a:ext>
                  </a:extLst>
                </a:gridCol>
              </a:tblGrid>
              <a:tr h="737616">
                <a:tc>
                  <a:txBody>
                    <a:bodyPr/>
                    <a:lstStyle/>
                    <a:p>
                      <a:pPr>
                        <a:buNone/>
                      </a:pPr>
                      <a:endParaRPr lang="en-NL" sz="3300" dirty="0"/>
                    </a:p>
                  </a:txBody>
                  <a:tcPr marL="167640" marR="167640" marT="83820" marB="83820" anchor="ctr"/>
                </a:tc>
                <a:tc>
                  <a:txBody>
                    <a:bodyPr/>
                    <a:lstStyle/>
                    <a:p>
                      <a:pPr algn="r">
                        <a:buNone/>
                      </a:pPr>
                      <a:r>
                        <a:rPr lang="en-NL" sz="3300"/>
                        <a:t>Passed</a:t>
                      </a:r>
                    </a:p>
                  </a:txBody>
                  <a:tcPr marL="167640" marR="167640" marT="83820" marB="83820" anchor="ctr"/>
                </a:tc>
                <a:tc>
                  <a:txBody>
                    <a:bodyPr/>
                    <a:lstStyle/>
                    <a:p>
                      <a:pPr algn="r">
                        <a:buNone/>
                      </a:pPr>
                      <a:r>
                        <a:rPr lang="en-NL" sz="3300"/>
                        <a:t>Failed</a:t>
                      </a:r>
                    </a:p>
                  </a:txBody>
                  <a:tcPr marL="167640" marR="167640" marT="83820" marB="83820" anchor="ctr"/>
                </a:tc>
                <a:tc>
                  <a:txBody>
                    <a:bodyPr/>
                    <a:lstStyle/>
                    <a:p>
                      <a:pPr algn="r">
                        <a:buNone/>
                      </a:pPr>
                      <a:r>
                        <a:rPr lang="en-NL" sz="3300"/>
                        <a:t>Total</a:t>
                      </a:r>
                    </a:p>
                  </a:txBody>
                  <a:tcPr marL="167640" marR="167640" marT="83820" marB="83820" anchor="ctr"/>
                </a:tc>
                <a:extLst>
                  <a:ext uri="{0D108BD9-81ED-4DB2-BD59-A6C34878D82A}">
                    <a16:rowId xmlns:a16="http://schemas.microsoft.com/office/drawing/2014/main" val="3768830897"/>
                  </a:ext>
                </a:extLst>
              </a:tr>
              <a:tr h="737616">
                <a:tc>
                  <a:txBody>
                    <a:bodyPr/>
                    <a:lstStyle/>
                    <a:p>
                      <a:pPr>
                        <a:buNone/>
                      </a:pPr>
                      <a:r>
                        <a:rPr lang="en-NL" sz="3300"/>
                        <a:t>Coffee</a:t>
                      </a:r>
                    </a:p>
                  </a:txBody>
                  <a:tcPr marL="167640" marR="167640" marT="83820" marB="83820" anchor="ctr"/>
                </a:tc>
                <a:tc>
                  <a:txBody>
                    <a:bodyPr/>
                    <a:lstStyle/>
                    <a:p>
                      <a:pPr algn="ctr">
                        <a:buNone/>
                      </a:pPr>
                      <a:r>
                        <a:rPr lang="en-NL" sz="3300" dirty="0"/>
                        <a:t>40</a:t>
                      </a:r>
                    </a:p>
                  </a:txBody>
                  <a:tcPr marL="167640" marR="167640" marT="83820" marB="83820" anchor="ctr"/>
                </a:tc>
                <a:tc>
                  <a:txBody>
                    <a:bodyPr/>
                    <a:lstStyle/>
                    <a:p>
                      <a:pPr algn="ctr">
                        <a:buNone/>
                      </a:pPr>
                      <a:r>
                        <a:rPr lang="en-NL" sz="3300" dirty="0"/>
                        <a:t>10</a:t>
                      </a:r>
                    </a:p>
                  </a:txBody>
                  <a:tcPr marL="167640" marR="167640" marT="83820" marB="83820" anchor="ctr"/>
                </a:tc>
                <a:tc>
                  <a:txBody>
                    <a:bodyPr/>
                    <a:lstStyle/>
                    <a:p>
                      <a:pPr algn="ctr">
                        <a:buNone/>
                      </a:pPr>
                      <a:r>
                        <a:rPr lang="en-NL" sz="3300"/>
                        <a:t>50</a:t>
                      </a:r>
                    </a:p>
                  </a:txBody>
                  <a:tcPr marL="167640" marR="167640" marT="83820" marB="83820" anchor="ctr"/>
                </a:tc>
                <a:extLst>
                  <a:ext uri="{0D108BD9-81ED-4DB2-BD59-A6C34878D82A}">
                    <a16:rowId xmlns:a16="http://schemas.microsoft.com/office/drawing/2014/main" val="1770187042"/>
                  </a:ext>
                </a:extLst>
              </a:tr>
              <a:tr h="737616">
                <a:tc>
                  <a:txBody>
                    <a:bodyPr/>
                    <a:lstStyle/>
                    <a:p>
                      <a:pPr>
                        <a:buNone/>
                      </a:pPr>
                      <a:r>
                        <a:rPr lang="en-NL" sz="3300"/>
                        <a:t>No coffee</a:t>
                      </a:r>
                    </a:p>
                  </a:txBody>
                  <a:tcPr marL="167640" marR="167640" marT="83820" marB="83820" anchor="ctr"/>
                </a:tc>
                <a:tc>
                  <a:txBody>
                    <a:bodyPr/>
                    <a:lstStyle/>
                    <a:p>
                      <a:pPr algn="ctr">
                        <a:buNone/>
                      </a:pPr>
                      <a:r>
                        <a:rPr lang="en-NL" sz="3300" dirty="0"/>
                        <a:t>30</a:t>
                      </a:r>
                    </a:p>
                  </a:txBody>
                  <a:tcPr marL="167640" marR="167640" marT="83820" marB="83820" anchor="ctr"/>
                </a:tc>
                <a:tc>
                  <a:txBody>
                    <a:bodyPr/>
                    <a:lstStyle/>
                    <a:p>
                      <a:pPr algn="ctr">
                        <a:buNone/>
                      </a:pPr>
                      <a:r>
                        <a:rPr lang="en-NL" sz="3300" dirty="0"/>
                        <a:t>20</a:t>
                      </a:r>
                    </a:p>
                  </a:txBody>
                  <a:tcPr marL="167640" marR="167640" marT="83820" marB="83820" anchor="ctr"/>
                </a:tc>
                <a:tc>
                  <a:txBody>
                    <a:bodyPr/>
                    <a:lstStyle/>
                    <a:p>
                      <a:pPr algn="ctr">
                        <a:buNone/>
                      </a:pPr>
                      <a:r>
                        <a:rPr lang="en-NL" sz="3300" dirty="0"/>
                        <a:t>50</a:t>
                      </a:r>
                    </a:p>
                  </a:txBody>
                  <a:tcPr marL="167640" marR="167640" marT="83820" marB="83820" anchor="ctr"/>
                </a:tc>
                <a:extLst>
                  <a:ext uri="{0D108BD9-81ED-4DB2-BD59-A6C34878D82A}">
                    <a16:rowId xmlns:a16="http://schemas.microsoft.com/office/drawing/2014/main" val="2986159042"/>
                  </a:ext>
                </a:extLst>
              </a:tr>
            </a:tbl>
          </a:graphicData>
        </a:graphic>
      </p:graphicFrame>
      <p:sp>
        <p:nvSpPr>
          <p:cNvPr id="7" name="TextBox 6">
            <a:extLst>
              <a:ext uri="{FF2B5EF4-FFF2-40B4-BE49-F238E27FC236}">
                <a16:creationId xmlns:a16="http://schemas.microsoft.com/office/drawing/2014/main" id="{32562637-3E63-B42A-C4A6-42D3BC3E6F2B}"/>
              </a:ext>
            </a:extLst>
          </p:cNvPr>
          <p:cNvSpPr txBox="1"/>
          <p:nvPr/>
        </p:nvSpPr>
        <p:spPr>
          <a:xfrm>
            <a:off x="571982" y="5540447"/>
            <a:ext cx="11607479" cy="954107"/>
          </a:xfrm>
          <a:prstGeom prst="rect">
            <a:avLst/>
          </a:prstGeom>
          <a:noFill/>
        </p:spPr>
        <p:txBody>
          <a:bodyPr wrap="square">
            <a:spAutoFit/>
          </a:bodyPr>
          <a:lstStyle/>
          <a:p>
            <a:pPr marL="0" indent="0">
              <a:buNone/>
            </a:pPr>
            <a:r>
              <a:rPr lang="en-NL" sz="2800" dirty="0"/>
              <a:t>Given that we </a:t>
            </a:r>
            <a:r>
              <a:rPr lang="en-NL" sz="2800" b="1" dirty="0"/>
              <a:t>observed</a:t>
            </a:r>
            <a:r>
              <a:rPr lang="en-NL" sz="2800" dirty="0"/>
              <a:t> 40/50 passing with coffee and 30/50 without coffee, what should we believe about the underlying pass rates?</a:t>
            </a:r>
          </a:p>
        </p:txBody>
      </p:sp>
    </p:spTree>
    <p:extLst>
      <p:ext uri="{BB962C8B-B14F-4D97-AF65-F5344CB8AC3E}">
        <p14:creationId xmlns:p14="http://schemas.microsoft.com/office/powerpoint/2010/main" val="15098167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AA616-EE9A-BBF3-61DF-04ECC977BF4D}"/>
              </a:ext>
            </a:extLst>
          </p:cNvPr>
          <p:cNvSpPr>
            <a:spLocks noGrp="1"/>
          </p:cNvSpPr>
          <p:nvPr>
            <p:ph type="title"/>
          </p:nvPr>
        </p:nvSpPr>
        <p:spPr/>
        <p:txBody>
          <a:bodyPr/>
          <a:lstStyle/>
          <a:p>
            <a:r>
              <a:rPr lang="en-NL" b="1" dirty="0"/>
              <a:t>Observed</a:t>
            </a:r>
            <a:r>
              <a:rPr lang="en-NL" dirty="0"/>
              <a:t> pass rates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119029-607F-D7BC-6073-BB2C49777C26}"/>
                  </a:ext>
                </a:extLst>
              </p:cNvPr>
              <p:cNvSpPr>
                <a:spLocks noGrp="1"/>
              </p:cNvSpPr>
              <p:nvPr>
                <p:ph idx="1"/>
              </p:nvPr>
            </p:nvSpPr>
            <p:spPr/>
            <p:txBody>
              <a:bodyPr>
                <a:normAutofit fontScale="85000" lnSpcReduction="20000"/>
              </a:bodyPr>
              <a:lstStyle/>
              <a:p>
                <a:pPr marL="0" indent="0">
                  <a:buNone/>
                </a:pPr>
                <a:r>
                  <a:rPr lang="en-NL" dirty="0"/>
                  <a:t>Observed is not true value, it depends on the data, that is noisy.</a:t>
                </a:r>
              </a:p>
              <a:p>
                <a:pPr marL="0" indent="0">
                  <a:buNone/>
                </a:pPr>
                <a:endParaRPr lang="en-NL" dirty="0"/>
              </a:p>
              <a:p>
                <a:pPr marL="0" indent="0">
                  <a:buNone/>
                </a:pPr>
                <a14:m>
                  <m:oMathPara xmlns:m="http://schemas.openxmlformats.org/officeDocument/2006/math">
                    <m:oMath>
                      <m:sSub>
                        <m:sSubPr>
                          <m:ctrlPr>
                            <a:rPr lang="en-NL" i="1">
                              <a:latin typeface="Cambria Math" panose="02040503050406030204" pitchFamily="18" charset="0"/>
                            </a:rPr>
                          </m:ctrlPr>
                        </m:sSubPr>
                        <m:e>
                          <m:acc>
                            <m:accPr>
                              <m:chr m:val="̂"/>
                              <m:ctrlPr>
                                <a:rPr lang="en-NL" i="1">
                                  <a:latin typeface="Cambria Math" panose="02040503050406030204" pitchFamily="18" charset="0"/>
                                </a:rPr>
                              </m:ctrlPr>
                            </m:accPr>
                            <m:e>
                              <m:r>
                                <a:rPr lang="en-NL" i="1">
                                  <a:latin typeface="Cambria Math" panose="02040503050406030204" pitchFamily="18" charset="0"/>
                                </a:rPr>
                                <m:t>𝑝</m:t>
                              </m:r>
                            </m:e>
                          </m:acc>
                        </m:e>
                        <m:sub>
                          <m:r>
                            <a:rPr lang="en-NL">
                              <a:latin typeface="Cambria Math" panose="02040503050406030204" pitchFamily="18" charset="0"/>
                            </a:rPr>
                            <m:t>+</m:t>
                          </m:r>
                        </m:sub>
                      </m:sSub>
                      <m:r>
                        <a:rPr lang="en-NL">
                          <a:latin typeface="Cambria Math" panose="02040503050406030204" pitchFamily="18" charset="0"/>
                        </a:rPr>
                        <m:t>=</m:t>
                      </m:r>
                      <m:r>
                        <a:rPr lang="en-NL" i="1">
                          <a:latin typeface="Cambria Math" panose="02040503050406030204" pitchFamily="18" charset="0"/>
                        </a:rPr>
                        <m:t>𝑃</m:t>
                      </m:r>
                      <m:d>
                        <m:dPr>
                          <m:ctrlPr>
                            <a:rPr lang="en-NL" i="0"/>
                          </m:ctrlPr>
                        </m:dPr>
                        <m:e>
                          <m:r>
                            <m:rPr>
                              <m:nor/>
                            </m:rPr>
                            <a:rPr lang="en-NL" i="0"/>
                            <m:t>pass</m:t>
                          </m:r>
                          <m:r>
                            <a:rPr lang="en-NL">
                              <a:latin typeface="Cambria Math" panose="02040503050406030204" pitchFamily="18" charset="0"/>
                            </a:rPr>
                            <m:t>∣</m:t>
                          </m:r>
                          <m:r>
                            <m:rPr>
                              <m:nor/>
                            </m:rPr>
                            <a:rPr lang="en-NL" i="0"/>
                            <m:t>coffee</m:t>
                          </m:r>
                        </m:e>
                      </m:d>
                      <m:r>
                        <a:rPr lang="en-NL">
                          <a:latin typeface="Cambria Math" panose="02040503050406030204" pitchFamily="18" charset="0"/>
                        </a:rPr>
                        <m:t>≈</m:t>
                      </m:r>
                      <m:f>
                        <m:fPr>
                          <m:ctrlPr>
                            <a:rPr lang="en-NL">
                              <a:latin typeface="Cambria Math" panose="02040503050406030204" pitchFamily="18" charset="0"/>
                            </a:rPr>
                          </m:ctrlPr>
                        </m:fPr>
                        <m:num>
                          <m:r>
                            <a:rPr lang="en-NL">
                              <a:latin typeface="Cambria Math" panose="02040503050406030204" pitchFamily="18" charset="0"/>
                            </a:rPr>
                            <m:t>40</m:t>
                          </m:r>
                        </m:num>
                        <m:den>
                          <m:r>
                            <a:rPr lang="en-NL">
                              <a:latin typeface="Cambria Math" panose="02040503050406030204" pitchFamily="18" charset="0"/>
                            </a:rPr>
                            <m:t>50</m:t>
                          </m:r>
                        </m:den>
                      </m:f>
                      <m:r>
                        <a:rPr lang="en-NL">
                          <a:latin typeface="Cambria Math" panose="02040503050406030204" pitchFamily="18" charset="0"/>
                        </a:rPr>
                        <m:t>=0.80</m:t>
                      </m:r>
                    </m:oMath>
                  </m:oMathPara>
                </a14:m>
                <a:endParaRPr lang="en-NL" b="0" dirty="0"/>
              </a:p>
              <a:p>
                <a:pPr marL="0" indent="0">
                  <a:buNone/>
                </a:pPr>
                <a:r>
                  <a:rPr lang="en-NL" dirty="0"/>
                  <a:t>and</a:t>
                </a:r>
              </a:p>
              <a:p>
                <a:pPr marL="0" indent="0">
                  <a:buNone/>
                </a:pPr>
                <a14:m>
                  <m:oMathPara xmlns:m="http://schemas.openxmlformats.org/officeDocument/2006/math">
                    <m:oMath>
                      <m:sSub>
                        <m:sSubPr>
                          <m:ctrlPr>
                            <a:rPr lang="en-NL" i="1">
                              <a:latin typeface="Cambria Math" panose="02040503050406030204" pitchFamily="18" charset="0"/>
                            </a:rPr>
                          </m:ctrlPr>
                        </m:sSubPr>
                        <m:e>
                          <m:acc>
                            <m:accPr>
                              <m:chr m:val="̂"/>
                              <m:ctrlPr>
                                <a:rPr lang="en-NL" i="1">
                                  <a:latin typeface="Cambria Math" panose="02040503050406030204" pitchFamily="18" charset="0"/>
                                </a:rPr>
                              </m:ctrlPr>
                            </m:accPr>
                            <m:e>
                              <m:r>
                                <a:rPr lang="en-NL" i="1">
                                  <a:latin typeface="Cambria Math" panose="02040503050406030204" pitchFamily="18" charset="0"/>
                                </a:rPr>
                                <m:t>𝑝</m:t>
                              </m:r>
                            </m:e>
                          </m:acc>
                        </m:e>
                        <m:sub>
                          <m:r>
                            <a:rPr lang="en-NL">
                              <a:latin typeface="Cambria Math" panose="02040503050406030204" pitchFamily="18" charset="0"/>
                            </a:rPr>
                            <m:t>−</m:t>
                          </m:r>
                        </m:sub>
                      </m:sSub>
                      <m:r>
                        <a:rPr lang="en-NL">
                          <a:latin typeface="Cambria Math" panose="02040503050406030204" pitchFamily="18" charset="0"/>
                        </a:rPr>
                        <m:t>=</m:t>
                      </m:r>
                      <m:r>
                        <a:rPr lang="en-NL" i="1">
                          <a:latin typeface="Cambria Math" panose="02040503050406030204" pitchFamily="18" charset="0"/>
                        </a:rPr>
                        <m:t>𝑃</m:t>
                      </m:r>
                      <m:d>
                        <m:dPr>
                          <m:ctrlPr>
                            <a:rPr lang="en-NL" i="0"/>
                          </m:ctrlPr>
                        </m:dPr>
                        <m:e>
                          <m:r>
                            <m:rPr>
                              <m:nor/>
                            </m:rPr>
                            <a:rPr lang="en-NL" i="0"/>
                            <m:t>pass</m:t>
                          </m:r>
                          <m:r>
                            <a:rPr lang="en-NL">
                              <a:latin typeface="Cambria Math" panose="02040503050406030204" pitchFamily="18" charset="0"/>
                            </a:rPr>
                            <m:t>∣</m:t>
                          </m:r>
                          <m:r>
                            <m:rPr>
                              <m:nor/>
                            </m:rPr>
                            <a:rPr lang="en-NL" i="0"/>
                            <m:t>no coffee</m:t>
                          </m:r>
                        </m:e>
                      </m:d>
                      <m:r>
                        <a:rPr lang="en-NL">
                          <a:latin typeface="Cambria Math" panose="02040503050406030204" pitchFamily="18" charset="0"/>
                        </a:rPr>
                        <m:t>≈</m:t>
                      </m:r>
                      <m:f>
                        <m:fPr>
                          <m:ctrlPr>
                            <a:rPr lang="en-NL">
                              <a:latin typeface="Cambria Math" panose="02040503050406030204" pitchFamily="18" charset="0"/>
                            </a:rPr>
                          </m:ctrlPr>
                        </m:fPr>
                        <m:num>
                          <m:r>
                            <a:rPr lang="en-NL">
                              <a:latin typeface="Cambria Math" panose="02040503050406030204" pitchFamily="18" charset="0"/>
                            </a:rPr>
                            <m:t>30</m:t>
                          </m:r>
                        </m:num>
                        <m:den>
                          <m:r>
                            <a:rPr lang="en-NL">
                              <a:latin typeface="Cambria Math" panose="02040503050406030204" pitchFamily="18" charset="0"/>
                            </a:rPr>
                            <m:t>50</m:t>
                          </m:r>
                        </m:den>
                      </m:f>
                      <m:r>
                        <a:rPr lang="en-NL">
                          <a:latin typeface="Cambria Math" panose="02040503050406030204" pitchFamily="18" charset="0"/>
                        </a:rPr>
                        <m:t>=0.60.</m:t>
                      </m:r>
                    </m:oMath>
                  </m:oMathPara>
                </a14:m>
                <a:endParaRPr lang="en-NL" b="0" dirty="0"/>
              </a:p>
              <a:p>
                <a:pPr marL="0" indent="0">
                  <a:buNone/>
                </a:pPr>
                <a:r>
                  <a:rPr lang="en-NL" dirty="0"/>
                  <a:t>You observe a difference of</a:t>
                </a:r>
              </a:p>
              <a:p>
                <a:pPr marL="0" indent="0">
                  <a:buNone/>
                </a:pPr>
                <a14:m>
                  <m:oMathPara xmlns:m="http://schemas.openxmlformats.org/officeDocument/2006/math">
                    <m:oMath>
                      <m:r>
                        <a:rPr lang="en-NL">
                          <a:latin typeface="Cambria Math" panose="02040503050406030204" pitchFamily="18" charset="0"/>
                        </a:rPr>
                        <m:t>0.80−0.60=0.20.</m:t>
                      </m:r>
                    </m:oMath>
                  </m:oMathPara>
                </a14:m>
                <a:endParaRPr lang="en-NL" dirty="0"/>
              </a:p>
              <a:p>
                <a:pPr marL="0" indent="0">
                  <a:buNone/>
                </a:pPr>
                <a:endParaRPr lang="en-NL" dirty="0"/>
              </a:p>
              <a:p>
                <a:pPr marL="0" indent="0">
                  <a:buNone/>
                </a:pPr>
                <a:r>
                  <a:rPr lang="en-NL" dirty="0"/>
                  <a:t>But this does </a:t>
                </a:r>
                <a:r>
                  <a:rPr lang="en-NL" b="1" dirty="0"/>
                  <a:t>not</a:t>
                </a:r>
                <a:r>
                  <a:rPr lang="en-NL" dirty="0"/>
                  <a:t> mean that the true difference in the population is exactly 20 percentage points. It could have been different numbers if we had a different </a:t>
                </a:r>
                <a:r>
                  <a:rPr lang="en-NL" b="1" dirty="0"/>
                  <a:t>sample</a:t>
                </a:r>
                <a:r>
                  <a:rPr lang="en-NL" dirty="0"/>
                  <a:t>. </a:t>
                </a:r>
              </a:p>
              <a:p>
                <a:pPr marL="0" indent="0">
                  <a:buNone/>
                </a:pPr>
                <a:endParaRPr lang="en-NL" dirty="0"/>
              </a:p>
            </p:txBody>
          </p:sp>
        </mc:Choice>
        <mc:Fallback xmlns="">
          <p:sp>
            <p:nvSpPr>
              <p:cNvPr id="3" name="Content Placeholder 2">
                <a:extLst>
                  <a:ext uri="{FF2B5EF4-FFF2-40B4-BE49-F238E27FC236}">
                    <a16:creationId xmlns:a16="http://schemas.microsoft.com/office/drawing/2014/main" id="{36119029-607F-D7BC-6073-BB2C49777C26}"/>
                  </a:ext>
                </a:extLst>
              </p:cNvPr>
              <p:cNvSpPr>
                <a:spLocks noGrp="1" noRot="1" noChangeAspect="1" noMove="1" noResize="1" noEditPoints="1" noAdjustHandles="1" noChangeArrowheads="1" noChangeShapeType="1" noTextEdit="1"/>
              </p:cNvSpPr>
              <p:nvPr>
                <p:ph idx="1"/>
              </p:nvPr>
            </p:nvSpPr>
            <p:spPr>
              <a:blipFill>
                <a:blip r:embed="rId2"/>
                <a:stretch>
                  <a:fillRect l="-965" t="-3198" b="-3488"/>
                </a:stretch>
              </a:blipFill>
            </p:spPr>
            <p:txBody>
              <a:bodyPr/>
              <a:lstStyle/>
              <a:p>
                <a:r>
                  <a:rPr lang="en-NL">
                    <a:noFill/>
                  </a:rPr>
                  <a:t> </a:t>
                </a:r>
              </a:p>
            </p:txBody>
          </p:sp>
        </mc:Fallback>
      </mc:AlternateContent>
    </p:spTree>
    <p:extLst>
      <p:ext uri="{BB962C8B-B14F-4D97-AF65-F5344CB8AC3E}">
        <p14:creationId xmlns:p14="http://schemas.microsoft.com/office/powerpoint/2010/main" val="133272198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523E-2D78-B2E4-3332-DA907386FDB8}"/>
              </a:ext>
            </a:extLst>
          </p:cNvPr>
          <p:cNvSpPr>
            <a:spLocks noGrp="1"/>
          </p:cNvSpPr>
          <p:nvPr>
            <p:ph type="title"/>
          </p:nvPr>
        </p:nvSpPr>
        <p:spPr/>
        <p:txBody>
          <a:bodyPr/>
          <a:lstStyle/>
          <a:p>
            <a:r>
              <a:rPr lang="en-NL" dirty="0"/>
              <a:t>We need a model to answer the question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440EC8-35CD-1BE8-B8D5-887040B0745E}"/>
                  </a:ext>
                </a:extLst>
              </p:cNvPr>
              <p:cNvSpPr>
                <a:spLocks noGrp="1"/>
              </p:cNvSpPr>
              <p:nvPr>
                <p:ph idx="1"/>
              </p:nvPr>
            </p:nvSpPr>
            <p:spPr/>
            <p:txBody>
              <a:bodyPr/>
              <a:lstStyle/>
              <a:p>
                <a:pPr marL="0" indent="0">
                  <a:buNone/>
                </a:pPr>
                <a:r>
                  <a:rPr lang="en-NL" dirty="0"/>
                  <a:t>Given that we </a:t>
                </a:r>
                <a:r>
                  <a:rPr lang="en-NL" b="1" dirty="0"/>
                  <a:t>observed</a:t>
                </a:r>
                <a:r>
                  <a:rPr lang="en-NL" dirty="0"/>
                  <a:t> 40/50 passing with coffee and 30/50 without coffee, what should we believe about the underlying pass rates?</a:t>
                </a:r>
              </a:p>
              <a:p>
                <a:pPr marL="0" indent="0">
                  <a:buNone/>
                </a:pPr>
                <a:endParaRPr lang="en-NL" dirty="0"/>
              </a:p>
              <a:p>
                <a:pPr marL="0" indent="0">
                  <a:buNone/>
                </a:pPr>
                <a:r>
                  <a:rPr lang="en-NL" dirty="0"/>
                  <a:t>Your observations can be modeled as:</a:t>
                </a:r>
              </a:p>
              <a:p>
                <a:pPr marL="0" indent="0">
                  <a:buNone/>
                </a:pPr>
                <a:endParaRPr lang="en-NL" i="1" dirty="0">
                  <a:latin typeface="Cambria Math" panose="02040503050406030204" pitchFamily="18" charset="0"/>
                </a:endParaRPr>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𝑋</m:t>
                          </m:r>
                        </m:e>
                        <m:sub>
                          <m:r>
                            <a:rPr lang="en-NL">
                              <a:latin typeface="Cambria Math" panose="02040503050406030204" pitchFamily="18" charset="0"/>
                            </a:rPr>
                            <m:t>+</m:t>
                          </m:r>
                        </m:sub>
                      </m:sSub>
                      <m:r>
                        <a:rPr lang="en-NL">
                          <a:latin typeface="Cambria Math" panose="02040503050406030204" pitchFamily="18" charset="0"/>
                        </a:rPr>
                        <m:t>∼</m:t>
                      </m:r>
                      <m:r>
                        <m:rPr>
                          <m:nor/>
                        </m:rPr>
                        <a:rPr lang="en-NL" i="0"/>
                        <m:t>Binomial</m:t>
                      </m:r>
                      <m:d>
                        <m:dPr>
                          <m:sepChr m:val=","/>
                          <m:ctrlPr>
                            <a:rPr lang="en-NL">
                              <a:latin typeface="Cambria Math" panose="02040503050406030204" pitchFamily="18" charset="0"/>
                            </a:rPr>
                          </m:ctrlPr>
                        </m:dPr>
                        <m:e>
                          <m:r>
                            <a:rPr lang="en-NL">
                              <a:latin typeface="Cambria Math" panose="02040503050406030204" pitchFamily="18" charset="0"/>
                            </a:rPr>
                            <m:t>50</m:t>
                          </m:r>
                        </m:e>
                        <m:e>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e>
                      </m:d>
                    </m:oMath>
                  </m:oMathPara>
                </a14:m>
                <a:endParaRPr lang="en-NL" dirty="0"/>
              </a:p>
              <a:p>
                <a:pPr marL="0" indent="0">
                  <a:buNone/>
                </a:pPr>
                <a:endParaRPr lang="en-GB" dirty="0"/>
              </a:p>
              <a:p>
                <a:pPr marL="0" indent="0">
                  <a:buNone/>
                </a:pPr>
                <a:r>
                  <a:rPr lang="en-GB" dirty="0"/>
                  <a:t>a</a:t>
                </a:r>
                <a:r>
                  <a:rPr lang="en-NL" dirty="0"/>
                  <a:t>nd</a:t>
                </a:r>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𝑋</m:t>
                          </m:r>
                        </m:e>
                        <m:sub>
                          <m:r>
                            <a:rPr lang="en-NL">
                              <a:latin typeface="Cambria Math" panose="02040503050406030204" pitchFamily="18" charset="0"/>
                            </a:rPr>
                            <m:t>+</m:t>
                          </m:r>
                        </m:sub>
                      </m:sSub>
                      <m:r>
                        <a:rPr lang="en-NL">
                          <a:latin typeface="Cambria Math" panose="02040503050406030204" pitchFamily="18" charset="0"/>
                        </a:rPr>
                        <m:t>∼</m:t>
                      </m:r>
                      <m:r>
                        <m:rPr>
                          <m:nor/>
                        </m:rPr>
                        <a:rPr lang="en-NL" i="0"/>
                        <m:t>Binomial</m:t>
                      </m:r>
                      <m:d>
                        <m:dPr>
                          <m:sepChr m:val=","/>
                          <m:ctrlPr>
                            <a:rPr lang="en-NL">
                              <a:latin typeface="Cambria Math" panose="02040503050406030204" pitchFamily="18" charset="0"/>
                            </a:rPr>
                          </m:ctrlPr>
                        </m:dPr>
                        <m:e>
                          <m:r>
                            <a:rPr lang="en-NL">
                              <a:latin typeface="Cambria Math" panose="02040503050406030204" pitchFamily="18" charset="0"/>
                            </a:rPr>
                            <m:t>50</m:t>
                          </m:r>
                        </m:e>
                        <m:e>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e>
                      </m:d>
                    </m:oMath>
                  </m:oMathPara>
                </a14:m>
                <a:endParaRPr lang="en-NL" dirty="0"/>
              </a:p>
              <a:p>
                <a:pPr marL="0" indent="0">
                  <a:buNone/>
                </a:pPr>
                <a:endParaRPr lang="en-NL" dirty="0"/>
              </a:p>
            </p:txBody>
          </p:sp>
        </mc:Choice>
        <mc:Fallback xmlns="">
          <p:sp>
            <p:nvSpPr>
              <p:cNvPr id="3" name="Content Placeholder 2">
                <a:extLst>
                  <a:ext uri="{FF2B5EF4-FFF2-40B4-BE49-F238E27FC236}">
                    <a16:creationId xmlns:a16="http://schemas.microsoft.com/office/drawing/2014/main" id="{D4440EC8-35CD-1BE8-B8D5-887040B0745E}"/>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NL">
                    <a:noFill/>
                  </a:rPr>
                  <a:t> </a:t>
                </a:r>
              </a:p>
            </p:txBody>
          </p:sp>
        </mc:Fallback>
      </mc:AlternateContent>
    </p:spTree>
    <p:extLst>
      <p:ext uri="{BB962C8B-B14F-4D97-AF65-F5344CB8AC3E}">
        <p14:creationId xmlns:p14="http://schemas.microsoft.com/office/powerpoint/2010/main" val="14608633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FBD32-C8D9-3BD6-F174-C91C86884C9C}"/>
              </a:ext>
            </a:extLst>
          </p:cNvPr>
          <p:cNvSpPr>
            <a:spLocks noGrp="1"/>
          </p:cNvSpPr>
          <p:nvPr>
            <p:ph type="title"/>
          </p:nvPr>
        </p:nvSpPr>
        <p:spPr/>
        <p:txBody>
          <a:bodyPr/>
          <a:lstStyle/>
          <a:p>
            <a:r>
              <a:rPr lang="en-NL" dirty="0"/>
              <a:t>We also need prior 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6533984-39BD-F896-9642-2AEF9FC8263A}"/>
                  </a:ext>
                </a:extLst>
              </p:cNvPr>
              <p:cNvSpPr>
                <a:spLocks noGrp="1"/>
              </p:cNvSpPr>
              <p:nvPr>
                <p:ph idx="1"/>
              </p:nvPr>
            </p:nvSpPr>
            <p:spPr/>
            <p:txBody>
              <a:bodyPr/>
              <a:lstStyle/>
              <a:p>
                <a:pPr marL="0" indent="0">
                  <a:buNone/>
                </a:pPr>
                <a:r>
                  <a:rPr lang="en-NL" dirty="0"/>
                  <a:t>You then put priors on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oMath>
                </a14:m>
                <a:r>
                  <a:rPr lang="en-NL" dirty="0"/>
                  <a:t>and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oMath>
                </a14:m>
                <a:r>
                  <a:rPr lang="en-NL" dirty="0"/>
                  <a:t>. </a:t>
                </a:r>
              </a:p>
              <a:p>
                <a:pPr marL="0" indent="0">
                  <a:buNone/>
                </a:pPr>
                <a:r>
                  <a:rPr lang="en-NL" dirty="0"/>
                  <a:t>For example:</a:t>
                </a:r>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m:t>
                      </m:r>
                      <m:r>
                        <m:rPr>
                          <m:nor/>
                        </m:rPr>
                        <a:rPr lang="en-NL" i="0"/>
                        <m:t>Beta</m:t>
                      </m:r>
                      <m:d>
                        <m:dPr>
                          <m:sepChr m:val=","/>
                          <m:ctrlPr>
                            <a:rPr lang="en-NL">
                              <a:latin typeface="Cambria Math" panose="02040503050406030204" pitchFamily="18" charset="0"/>
                            </a:rPr>
                          </m:ctrlPr>
                        </m:dPr>
                        <m:e>
                          <m:r>
                            <a:rPr lang="en-NL">
                              <a:latin typeface="Cambria Math" panose="02040503050406030204" pitchFamily="18" charset="0"/>
                            </a:rPr>
                            <m:t>1</m:t>
                          </m:r>
                        </m:e>
                        <m:e>
                          <m:r>
                            <a:rPr lang="en-NL">
                              <a:latin typeface="Cambria Math" panose="02040503050406030204" pitchFamily="18" charset="0"/>
                            </a:rPr>
                            <m:t>1</m:t>
                          </m:r>
                        </m:e>
                      </m:d>
                    </m:oMath>
                  </m:oMathPara>
                </a14:m>
                <a:endParaRPr lang="en-NL" dirty="0"/>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US" b="0" i="0" smtClean="0">
                              <a:latin typeface="Cambria Math" panose="02040503050406030204" pitchFamily="18" charset="0"/>
                            </a:rPr>
                            <m:t>−</m:t>
                          </m:r>
                        </m:sub>
                      </m:sSub>
                      <m:r>
                        <a:rPr lang="en-NL">
                          <a:latin typeface="Cambria Math" panose="02040503050406030204" pitchFamily="18" charset="0"/>
                        </a:rPr>
                        <m:t>∼</m:t>
                      </m:r>
                      <m:r>
                        <m:rPr>
                          <m:nor/>
                        </m:rPr>
                        <a:rPr lang="en-NL" i="0"/>
                        <m:t>Beta</m:t>
                      </m:r>
                      <m:d>
                        <m:dPr>
                          <m:sepChr m:val=","/>
                          <m:ctrlPr>
                            <a:rPr lang="en-NL">
                              <a:latin typeface="Cambria Math" panose="02040503050406030204" pitchFamily="18" charset="0"/>
                            </a:rPr>
                          </m:ctrlPr>
                        </m:dPr>
                        <m:e>
                          <m:r>
                            <a:rPr lang="en-NL">
                              <a:latin typeface="Cambria Math" panose="02040503050406030204" pitchFamily="18" charset="0"/>
                            </a:rPr>
                            <m:t>1</m:t>
                          </m:r>
                        </m:e>
                        <m:e>
                          <m:r>
                            <a:rPr lang="en-NL">
                              <a:latin typeface="Cambria Math" panose="02040503050406030204" pitchFamily="18" charset="0"/>
                            </a:rPr>
                            <m:t>1</m:t>
                          </m:r>
                        </m:e>
                      </m:d>
                    </m:oMath>
                  </m:oMathPara>
                </a14:m>
                <a:endParaRPr lang="en-NL" dirty="0"/>
              </a:p>
              <a:p>
                <a:pPr marL="0" indent="0">
                  <a:buNone/>
                </a:pPr>
                <a:endParaRPr lang="en-NL" dirty="0"/>
              </a:p>
            </p:txBody>
          </p:sp>
        </mc:Choice>
        <mc:Fallback xmlns="">
          <p:sp>
            <p:nvSpPr>
              <p:cNvPr id="3" name="Content Placeholder 2">
                <a:extLst>
                  <a:ext uri="{FF2B5EF4-FFF2-40B4-BE49-F238E27FC236}">
                    <a16:creationId xmlns:a16="http://schemas.microsoft.com/office/drawing/2014/main" id="{C6533984-39BD-F896-9642-2AEF9FC8263A}"/>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NL">
                    <a:noFill/>
                  </a:rPr>
                  <a:t> </a:t>
                </a:r>
              </a:p>
            </p:txBody>
          </p:sp>
        </mc:Fallback>
      </mc:AlternateContent>
    </p:spTree>
    <p:extLst>
      <p:ext uri="{BB962C8B-B14F-4D97-AF65-F5344CB8AC3E}">
        <p14:creationId xmlns:p14="http://schemas.microsoft.com/office/powerpoint/2010/main" val="267047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B30B-6CE8-0258-FE2E-8A426EAB4A01}"/>
              </a:ext>
            </a:extLst>
          </p:cNvPr>
          <p:cNvSpPr>
            <a:spLocks noGrp="1"/>
          </p:cNvSpPr>
          <p:nvPr>
            <p:ph type="title"/>
          </p:nvPr>
        </p:nvSpPr>
        <p:spPr/>
        <p:txBody>
          <a:bodyPr/>
          <a:lstStyle/>
          <a:p>
            <a:endParaRPr lang="en-NL"/>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246F60-0A20-4BCD-3AC7-D814178D7818}"/>
                  </a:ext>
                </a:extLst>
              </p:cNvPr>
              <p:cNvSpPr>
                <a:spLocks noGrp="1"/>
              </p:cNvSpPr>
              <p:nvPr>
                <p:ph idx="1"/>
              </p:nvPr>
            </p:nvSpPr>
            <p:spPr/>
            <p:txBody>
              <a:bodyPr>
                <a:normAutofit fontScale="77500" lnSpcReduction="20000"/>
              </a:bodyPr>
              <a:lstStyle/>
              <a:p>
                <a:pPr marL="0" indent="0">
                  <a:buNone/>
                </a:pPr>
                <a:r>
                  <a:rPr lang="en-NL" dirty="0"/>
                  <a:t>After observing the data, Bayes' rule gives:</a:t>
                </a:r>
              </a:p>
              <a:p>
                <a:pPr marL="0" indent="0">
                  <a:buNone/>
                </a:pPr>
                <a:endParaRPr lang="en-NL" dirty="0"/>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m:t>
                      </m:r>
                      <m:r>
                        <m:rPr>
                          <m:nor/>
                        </m:rPr>
                        <a:rPr lang="en-NL" i="0"/>
                        <m:t>data</m:t>
                      </m:r>
                      <m:r>
                        <a:rPr lang="en-NL">
                          <a:latin typeface="Cambria Math" panose="02040503050406030204" pitchFamily="18" charset="0"/>
                        </a:rPr>
                        <m:t>∼</m:t>
                      </m:r>
                      <m:r>
                        <m:rPr>
                          <m:nor/>
                        </m:rPr>
                        <a:rPr lang="en-NL" i="0"/>
                        <m:t>Beta</m:t>
                      </m:r>
                      <m:d>
                        <m:dPr>
                          <m:sepChr m:val=","/>
                          <m:ctrlPr>
                            <a:rPr lang="en-NL">
                              <a:latin typeface="Cambria Math" panose="02040503050406030204" pitchFamily="18" charset="0"/>
                            </a:rPr>
                          </m:ctrlPr>
                        </m:dPr>
                        <m:e>
                          <m:r>
                            <a:rPr lang="en-NL">
                              <a:latin typeface="Cambria Math" panose="02040503050406030204" pitchFamily="18" charset="0"/>
                            </a:rPr>
                            <m:t>41</m:t>
                          </m:r>
                        </m:e>
                        <m:e>
                          <m:r>
                            <a:rPr lang="en-NL">
                              <a:latin typeface="Cambria Math" panose="02040503050406030204" pitchFamily="18" charset="0"/>
                            </a:rPr>
                            <m:t>11</m:t>
                          </m:r>
                        </m:e>
                      </m:d>
                    </m:oMath>
                  </m:oMathPara>
                </a14:m>
                <a:endParaRPr lang="en-NL" b="0" dirty="0"/>
              </a:p>
              <a:p>
                <a:pPr marL="0" indent="0">
                  <a:buNone/>
                </a:pPr>
                <a:r>
                  <a:rPr lang="en-NL" dirty="0"/>
                  <a:t>and</a:t>
                </a:r>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m:t>
                      </m:r>
                      <m:r>
                        <m:rPr>
                          <m:nor/>
                        </m:rPr>
                        <a:rPr lang="en-NL" i="0"/>
                        <m:t>data</m:t>
                      </m:r>
                      <m:r>
                        <a:rPr lang="en-NL">
                          <a:latin typeface="Cambria Math" panose="02040503050406030204" pitchFamily="18" charset="0"/>
                        </a:rPr>
                        <m:t>∼</m:t>
                      </m:r>
                      <m:r>
                        <m:rPr>
                          <m:nor/>
                        </m:rPr>
                        <a:rPr lang="en-NL" i="0"/>
                        <m:t>Beta</m:t>
                      </m:r>
                      <m:d>
                        <m:dPr>
                          <m:sepChr m:val=","/>
                          <m:ctrlPr>
                            <a:rPr lang="en-NL">
                              <a:latin typeface="Cambria Math" panose="02040503050406030204" pitchFamily="18" charset="0"/>
                            </a:rPr>
                          </m:ctrlPr>
                        </m:dPr>
                        <m:e>
                          <m:r>
                            <a:rPr lang="en-NL">
                              <a:latin typeface="Cambria Math" panose="02040503050406030204" pitchFamily="18" charset="0"/>
                            </a:rPr>
                            <m:t>31</m:t>
                          </m:r>
                        </m:e>
                        <m:e>
                          <m:r>
                            <a:rPr lang="en-NL">
                              <a:latin typeface="Cambria Math" panose="02040503050406030204" pitchFamily="18" charset="0"/>
                            </a:rPr>
                            <m:t>21</m:t>
                          </m:r>
                        </m:e>
                      </m:d>
                      <m:r>
                        <a:rPr lang="en-NL">
                          <a:latin typeface="Cambria Math" panose="02040503050406030204" pitchFamily="18" charset="0"/>
                        </a:rPr>
                        <m:t>.</m:t>
                      </m:r>
                    </m:oMath>
                  </m:oMathPara>
                </a14:m>
                <a:endParaRPr lang="en-NL" b="0" dirty="0"/>
              </a:p>
              <a:p>
                <a:pPr marL="0" indent="0">
                  <a:buNone/>
                </a:pPr>
                <a:endParaRPr lang="en-NL" dirty="0"/>
              </a:p>
              <a:p>
                <a:pPr marL="0" indent="0">
                  <a:buNone/>
                </a:pPr>
                <a:r>
                  <a:rPr lang="en-NL" dirty="0"/>
                  <a:t>Now you have </a:t>
                </a:r>
                <a:r>
                  <a:rPr lang="en-NL" b="1" dirty="0"/>
                  <a:t>posterior distributions</a:t>
                </a:r>
                <a:r>
                  <a:rPr lang="en-NL" dirty="0"/>
                  <a:t>, rather than just point estimates. And this allows you to ask the question you actually care about:</a:t>
                </a:r>
              </a:p>
              <a:p>
                <a:pPr marL="0" indent="0">
                  <a:buNone/>
                </a:pPr>
                <a:endParaRPr lang="en-NL" i="1" dirty="0"/>
              </a:p>
              <a:p>
                <a:pPr marL="0" indent="0">
                  <a:buNone/>
                </a:pPr>
                <a14:m>
                  <m:oMathPara xmlns:m="http://schemas.openxmlformats.org/officeDocument/2006/math">
                    <m:oMath>
                      <m:r>
                        <a:rPr lang="en-NL" i="1">
                          <a:latin typeface="Cambria Math" panose="02040503050406030204" pitchFamily="18" charset="0"/>
                        </a:rPr>
                        <m:t>𝑃</m:t>
                      </m:r>
                      <m:d>
                        <m:dPr>
                          <m:ctrlPr>
                            <a:rPr lang="en-NL" i="1">
                              <a:latin typeface="Cambria Math" panose="02040503050406030204" pitchFamily="18" charset="0"/>
                            </a:rPr>
                          </m:ctrlPr>
                        </m:dPr>
                        <m:e>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&gt;</m:t>
                          </m:r>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m:t>
                          </m:r>
                          <m:r>
                            <m:rPr>
                              <m:nor/>
                            </m:rPr>
                            <a:rPr lang="en-NL" i="0"/>
                            <m:t>data</m:t>
                          </m:r>
                        </m:e>
                      </m:d>
                      <m:r>
                        <a:rPr lang="en-NL">
                          <a:latin typeface="Cambria Math" panose="02040503050406030204" pitchFamily="18" charset="0"/>
                        </a:rPr>
                        <m:t>?</m:t>
                      </m:r>
                    </m:oMath>
                  </m:oMathPara>
                </a14:m>
                <a:endParaRPr lang="en-NL" b="0" dirty="0"/>
              </a:p>
              <a:p>
                <a:pPr marL="0" indent="0">
                  <a:buNone/>
                </a:pPr>
                <a:endParaRPr lang="en-NL" b="1" dirty="0"/>
              </a:p>
              <a:p>
                <a:pPr marL="0" indent="0">
                  <a:buNone/>
                </a:pPr>
                <a:r>
                  <a:rPr lang="en-NL" b="1" dirty="0"/>
                  <a:t>Given our data, what is the probability that coffee genuinely improves the probability of completing the challenge within two minutes?</a:t>
                </a:r>
                <a:endParaRPr lang="en-NL" dirty="0"/>
              </a:p>
            </p:txBody>
          </p:sp>
        </mc:Choice>
        <mc:Fallback xmlns="">
          <p:sp>
            <p:nvSpPr>
              <p:cNvPr id="3" name="Content Placeholder 2">
                <a:extLst>
                  <a:ext uri="{FF2B5EF4-FFF2-40B4-BE49-F238E27FC236}">
                    <a16:creationId xmlns:a16="http://schemas.microsoft.com/office/drawing/2014/main" id="{35246F60-0A20-4BCD-3AC7-D814178D7818}"/>
                  </a:ext>
                </a:extLst>
              </p:cNvPr>
              <p:cNvSpPr>
                <a:spLocks noGrp="1" noRot="1" noChangeAspect="1" noMove="1" noResize="1" noEditPoints="1" noAdjustHandles="1" noChangeArrowheads="1" noChangeShapeType="1" noTextEdit="1"/>
              </p:cNvSpPr>
              <p:nvPr>
                <p:ph idx="1"/>
              </p:nvPr>
            </p:nvSpPr>
            <p:spPr>
              <a:blipFill>
                <a:blip r:embed="rId2"/>
                <a:stretch>
                  <a:fillRect l="-724" t="-2907" r="-844" b="-291"/>
                </a:stretch>
              </a:blipFill>
            </p:spPr>
            <p:txBody>
              <a:bodyPr/>
              <a:lstStyle/>
              <a:p>
                <a:r>
                  <a:rPr lang="en-NL">
                    <a:noFill/>
                  </a:rPr>
                  <a:t> </a:t>
                </a:r>
              </a:p>
            </p:txBody>
          </p:sp>
        </mc:Fallback>
      </mc:AlternateContent>
    </p:spTree>
    <p:extLst>
      <p:ext uri="{BB962C8B-B14F-4D97-AF65-F5344CB8AC3E}">
        <p14:creationId xmlns:p14="http://schemas.microsoft.com/office/powerpoint/2010/main" val="32176105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F5979-C7A9-D515-3BA6-000D5A23E248}"/>
              </a:ext>
            </a:extLst>
          </p:cNvPr>
          <p:cNvSpPr>
            <a:spLocks noGrp="1"/>
          </p:cNvSpPr>
          <p:nvPr>
            <p:ph type="title"/>
          </p:nvPr>
        </p:nvSpPr>
        <p:spPr/>
        <p:txBody>
          <a:bodyPr/>
          <a:lstStyle/>
          <a:p>
            <a:r>
              <a:rPr lang="en-NL" dirty="0"/>
              <a:t>Hypothesis testing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67546C-865C-1A42-5DF5-C989F95C525A}"/>
                  </a:ext>
                </a:extLst>
              </p:cNvPr>
              <p:cNvSpPr>
                <a:spLocks noGrp="1"/>
              </p:cNvSpPr>
              <p:nvPr>
                <p:ph idx="1"/>
              </p:nvPr>
            </p:nvSpPr>
            <p:spPr/>
            <p:txBody>
              <a:bodyPr>
                <a:normAutofit/>
              </a:bodyPr>
              <a:lstStyle/>
              <a:p>
                <a:pPr marL="0" indent="0">
                  <a:buNone/>
                </a:pPr>
                <a:r>
                  <a:rPr lang="en-NL" dirty="0"/>
                  <a:t>A frequentist might formulate:</a:t>
                </a:r>
              </a:p>
              <a:p>
                <a:pPr marL="0" indent="0">
                  <a:buNone/>
                </a:pPr>
                <a:endParaRPr lang="en-NL" dirty="0"/>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𝐻</m:t>
                          </m:r>
                        </m:e>
                        <m:sub>
                          <m:r>
                            <a:rPr lang="en-NL">
                              <a:latin typeface="Cambria Math" panose="02040503050406030204" pitchFamily="18" charset="0"/>
                            </a:rPr>
                            <m:t>0</m:t>
                          </m:r>
                        </m:sub>
                      </m:sSub>
                      <m:r>
                        <a:rPr lang="en-NL">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oMath>
                  </m:oMathPara>
                </a14:m>
                <a:endParaRPr lang="en-NL" dirty="0"/>
              </a:p>
              <a:p>
                <a:pPr marL="0" indent="0">
                  <a:buNone/>
                </a:pPr>
                <a:r>
                  <a:rPr lang="en-GB" dirty="0"/>
                  <a:t>W</a:t>
                </a:r>
                <a:r>
                  <a:rPr lang="en-NL" dirty="0"/>
                  <a:t>hich is coffee has no effect</a:t>
                </a:r>
              </a:p>
              <a:p>
                <a:pPr marL="0" indent="0">
                  <a:buNone/>
                </a:pPr>
                <a:r>
                  <a:rPr lang="en-NL" dirty="0"/>
                  <a:t>versus</a:t>
                </a:r>
              </a:p>
              <a:p>
                <a:pPr marL="0" indent="0">
                  <a:buNone/>
                </a:pPr>
                <a14:m>
                  <m:oMathPara xmlns:m="http://schemas.openxmlformats.org/officeDocument/2006/math">
                    <m:oMath>
                      <m:sSub>
                        <m:sSubPr>
                          <m:ctrlPr>
                            <a:rPr lang="en-NL" i="1">
                              <a:latin typeface="Cambria Math" panose="02040503050406030204" pitchFamily="18" charset="0"/>
                            </a:rPr>
                          </m:ctrlPr>
                        </m:sSubPr>
                        <m:e>
                          <m:r>
                            <a:rPr lang="en-NL" i="1">
                              <a:latin typeface="Cambria Math" panose="02040503050406030204" pitchFamily="18" charset="0"/>
                            </a:rPr>
                            <m:t>𝐻</m:t>
                          </m:r>
                        </m:e>
                        <m:sub>
                          <m:r>
                            <a:rPr lang="en-NL">
                              <a:latin typeface="Cambria Math" panose="02040503050406030204" pitchFamily="18" charset="0"/>
                            </a:rPr>
                            <m:t>1</m:t>
                          </m:r>
                        </m:sub>
                      </m:sSub>
                      <m:r>
                        <a:rPr lang="en-NL">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m:t>
                      </m:r>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m:t>
                          </m:r>
                        </m:sub>
                      </m:sSub>
                      <m:r>
                        <a:rPr lang="en-NL">
                          <a:latin typeface="Cambria Math" panose="02040503050406030204" pitchFamily="18" charset="0"/>
                        </a:rPr>
                        <m:t>.</m:t>
                      </m:r>
                    </m:oMath>
                  </m:oMathPara>
                </a14:m>
                <a:endParaRPr lang="en-NL" dirty="0"/>
              </a:p>
              <a:p>
                <a:pPr marL="0" indent="0">
                  <a:buNone/>
                </a:pPr>
                <a:r>
                  <a:rPr lang="en-GB" dirty="0"/>
                  <a:t>C</a:t>
                </a:r>
                <a:r>
                  <a:rPr lang="en-NL" dirty="0"/>
                  <a:t>offee has an effect</a:t>
                </a:r>
              </a:p>
              <a:p>
                <a:pPr marL="0" indent="0">
                  <a:buNone/>
                </a:pPr>
                <a:r>
                  <a:rPr lang="en-NL" dirty="0"/>
                  <a:t>Then they ask: </a:t>
                </a:r>
                <a:r>
                  <a:rPr lang="en-NL" b="1" dirty="0"/>
                  <a:t>If coffee actually has no effect, how surprising would it be to observe a difference as large as 20 percentage points?</a:t>
                </a:r>
                <a:endParaRPr lang="en-NL" dirty="0"/>
              </a:p>
            </p:txBody>
          </p:sp>
        </mc:Choice>
        <mc:Fallback xmlns="">
          <p:sp>
            <p:nvSpPr>
              <p:cNvPr id="3" name="Content Placeholder 2">
                <a:extLst>
                  <a:ext uri="{FF2B5EF4-FFF2-40B4-BE49-F238E27FC236}">
                    <a16:creationId xmlns:a16="http://schemas.microsoft.com/office/drawing/2014/main" id="{3367546C-865C-1A42-5DF5-C989F95C525A}"/>
                  </a:ext>
                </a:extLst>
              </p:cNvPr>
              <p:cNvSpPr>
                <a:spLocks noGrp="1" noRot="1" noChangeAspect="1" noMove="1" noResize="1" noEditPoints="1" noAdjustHandles="1" noChangeArrowheads="1" noChangeShapeType="1" noTextEdit="1"/>
              </p:cNvSpPr>
              <p:nvPr>
                <p:ph idx="1"/>
              </p:nvPr>
            </p:nvSpPr>
            <p:spPr>
              <a:blipFill>
                <a:blip r:embed="rId2"/>
                <a:stretch>
                  <a:fillRect l="-1206" t="-2326" r="-1086"/>
                </a:stretch>
              </a:blipFill>
            </p:spPr>
            <p:txBody>
              <a:bodyPr/>
              <a:lstStyle/>
              <a:p>
                <a:r>
                  <a:rPr lang="en-NL">
                    <a:noFill/>
                  </a:rPr>
                  <a:t> </a:t>
                </a:r>
              </a:p>
            </p:txBody>
          </p:sp>
        </mc:Fallback>
      </mc:AlternateContent>
    </p:spTree>
    <p:extLst>
      <p:ext uri="{BB962C8B-B14F-4D97-AF65-F5344CB8AC3E}">
        <p14:creationId xmlns:p14="http://schemas.microsoft.com/office/powerpoint/2010/main" val="379385871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632AA-CE12-9D94-F046-07F9411C9544}"/>
              </a:ext>
            </a:extLst>
          </p:cNvPr>
          <p:cNvSpPr>
            <a:spLocks noGrp="1"/>
          </p:cNvSpPr>
          <p:nvPr>
            <p:ph type="title"/>
          </p:nvPr>
        </p:nvSpPr>
        <p:spPr/>
        <p:txBody>
          <a:bodyPr/>
          <a:lstStyle/>
          <a:p>
            <a:r>
              <a:rPr lang="en-NL" b="1" dirty="0"/>
              <a:t>Frequentist hypothesis testing</a:t>
            </a:r>
            <a:endParaRPr lang="en-N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DEA43D-386A-267A-2B63-4237C3186C41}"/>
                  </a:ext>
                </a:extLst>
              </p:cNvPr>
              <p:cNvSpPr>
                <a:spLocks noGrp="1"/>
              </p:cNvSpPr>
              <p:nvPr>
                <p:ph idx="1"/>
              </p:nvPr>
            </p:nvSpPr>
            <p:spPr/>
            <p:txBody>
              <a:bodyPr>
                <a:normAutofit lnSpcReduction="10000"/>
              </a:bodyPr>
              <a:lstStyle/>
              <a:p>
                <a:pPr marL="0" indent="0">
                  <a:buNone/>
                </a:pPr>
                <a:r>
                  <a:rPr lang="en-NL" dirty="0"/>
                  <a:t>We observed that 80% of the coffee group passed, compared with 60% of the no-coffee group. So our observed difference is:</a:t>
                </a:r>
              </a:p>
              <a:p>
                <a:pPr marL="0" indent="0">
                  <a:buNone/>
                </a:pPr>
                <a:endParaRPr lang="en-NL" dirty="0"/>
              </a:p>
              <a:p>
                <a:pPr marL="0" indent="0">
                  <a:buNone/>
                </a:pPr>
                <a14:m>
                  <m:oMathPara xmlns:m="http://schemas.openxmlformats.org/officeDocument/2006/math">
                    <m:oMath>
                      <m:sSub>
                        <m:sSubPr>
                          <m:ctrlPr>
                            <a:rPr lang="en-NL" i="1">
                              <a:latin typeface="Cambria Math" panose="02040503050406030204" pitchFamily="18" charset="0"/>
                            </a:rPr>
                          </m:ctrlPr>
                        </m:sSubPr>
                        <m:e>
                          <m:acc>
                            <m:accPr>
                              <m:chr m:val="̂"/>
                              <m:ctrlPr>
                                <a:rPr lang="en-NL" i="1">
                                  <a:latin typeface="Cambria Math" panose="02040503050406030204" pitchFamily="18" charset="0"/>
                                </a:rPr>
                              </m:ctrlPr>
                            </m:accPr>
                            <m:e>
                              <m:r>
                                <a:rPr lang="en-NL" i="1">
                                  <a:latin typeface="Cambria Math" panose="02040503050406030204" pitchFamily="18" charset="0"/>
                                </a:rPr>
                                <m:t>𝑝</m:t>
                              </m:r>
                            </m:e>
                          </m:acc>
                        </m:e>
                        <m:sub>
                          <m:r>
                            <a:rPr lang="en-NL">
                              <a:latin typeface="Cambria Math" panose="02040503050406030204" pitchFamily="18" charset="0"/>
                            </a:rPr>
                            <m:t>1</m:t>
                          </m:r>
                        </m:sub>
                      </m:sSub>
                      <m:r>
                        <a:rPr lang="en-NL">
                          <a:latin typeface="Cambria Math" panose="02040503050406030204" pitchFamily="18" charset="0"/>
                        </a:rPr>
                        <m:t>−</m:t>
                      </m:r>
                      <m:sSub>
                        <m:sSubPr>
                          <m:ctrlPr>
                            <a:rPr lang="en-NL" i="1">
                              <a:latin typeface="Cambria Math" panose="02040503050406030204" pitchFamily="18" charset="0"/>
                            </a:rPr>
                          </m:ctrlPr>
                        </m:sSubPr>
                        <m:e>
                          <m:acc>
                            <m:accPr>
                              <m:chr m:val="̂"/>
                              <m:ctrlPr>
                                <a:rPr lang="en-NL" i="1">
                                  <a:latin typeface="Cambria Math" panose="02040503050406030204" pitchFamily="18" charset="0"/>
                                </a:rPr>
                              </m:ctrlPr>
                            </m:accPr>
                            <m:e>
                              <m:r>
                                <a:rPr lang="en-NL" i="1">
                                  <a:latin typeface="Cambria Math" panose="02040503050406030204" pitchFamily="18" charset="0"/>
                                </a:rPr>
                                <m:t>𝑝</m:t>
                              </m:r>
                            </m:e>
                          </m:acc>
                        </m:e>
                        <m:sub>
                          <m:r>
                            <a:rPr lang="en-NL">
                              <a:latin typeface="Cambria Math" panose="02040503050406030204" pitchFamily="18" charset="0"/>
                            </a:rPr>
                            <m:t>0</m:t>
                          </m:r>
                        </m:sub>
                      </m:sSub>
                      <m:r>
                        <a:rPr lang="en-NL">
                          <a:latin typeface="Cambria Math" panose="02040503050406030204" pitchFamily="18" charset="0"/>
                        </a:rPr>
                        <m:t>=0.20.</m:t>
                      </m:r>
                    </m:oMath>
                  </m:oMathPara>
                </a14:m>
                <a:endParaRPr lang="en-NL" dirty="0"/>
              </a:p>
              <a:p>
                <a:pPr marL="0" indent="0">
                  <a:buNone/>
                </a:pPr>
                <a:endParaRPr lang="en-NL" dirty="0"/>
              </a:p>
              <a:p>
                <a:pPr marL="0" indent="0">
                  <a:buNone/>
                </a:pPr>
                <a:r>
                  <a:rPr lang="en-NL" dirty="0"/>
                  <a:t>But seeing a difference does not automatically mean that coffee caused it. </a:t>
                </a:r>
              </a:p>
              <a:p>
                <a:pPr marL="0" indent="0">
                  <a:buNone/>
                </a:pPr>
                <a:endParaRPr lang="en-NL" dirty="0"/>
              </a:p>
              <a:p>
                <a:pPr marL="0" indent="0">
                  <a:buNone/>
                </a:pPr>
                <a:r>
                  <a:rPr lang="en-NL" dirty="0"/>
                  <a:t>Even if coffee had </a:t>
                </a:r>
                <a:r>
                  <a:rPr lang="en-NL" b="1" dirty="0"/>
                  <a:t>no effect</a:t>
                </a:r>
                <a:r>
                  <a:rPr lang="en-NL" dirty="0"/>
                  <a:t>, the two samples could still have different pass rates simply because of random sampling.</a:t>
                </a:r>
              </a:p>
              <a:p>
                <a:endParaRPr lang="en-NL" dirty="0"/>
              </a:p>
            </p:txBody>
          </p:sp>
        </mc:Choice>
        <mc:Fallback xmlns="">
          <p:sp>
            <p:nvSpPr>
              <p:cNvPr id="3" name="Content Placeholder 2">
                <a:extLst>
                  <a:ext uri="{FF2B5EF4-FFF2-40B4-BE49-F238E27FC236}">
                    <a16:creationId xmlns:a16="http://schemas.microsoft.com/office/drawing/2014/main" id="{37DEA43D-386A-267A-2B63-4237C3186C41}"/>
                  </a:ext>
                </a:extLst>
              </p:cNvPr>
              <p:cNvSpPr>
                <a:spLocks noGrp="1" noRot="1" noChangeAspect="1" noMove="1" noResize="1" noEditPoints="1" noAdjustHandles="1" noChangeArrowheads="1" noChangeShapeType="1" noTextEdit="1"/>
              </p:cNvSpPr>
              <p:nvPr>
                <p:ph idx="1"/>
              </p:nvPr>
            </p:nvSpPr>
            <p:spPr>
              <a:blipFill>
                <a:blip r:embed="rId2"/>
                <a:stretch>
                  <a:fillRect l="-1206" t="-3198" r="-1689"/>
                </a:stretch>
              </a:blipFill>
            </p:spPr>
            <p:txBody>
              <a:bodyPr/>
              <a:lstStyle/>
              <a:p>
                <a:r>
                  <a:rPr lang="en-NL">
                    <a:noFill/>
                  </a:rPr>
                  <a:t> </a:t>
                </a:r>
              </a:p>
            </p:txBody>
          </p:sp>
        </mc:Fallback>
      </mc:AlternateContent>
    </p:spTree>
    <p:extLst>
      <p:ext uri="{BB962C8B-B14F-4D97-AF65-F5344CB8AC3E}">
        <p14:creationId xmlns:p14="http://schemas.microsoft.com/office/powerpoint/2010/main" val="34640883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463F1-1F03-1170-C183-DE9CC757968D}"/>
              </a:ext>
            </a:extLst>
          </p:cNvPr>
          <p:cNvSpPr>
            <a:spLocks noGrp="1"/>
          </p:cNvSpPr>
          <p:nvPr>
            <p:ph type="title"/>
          </p:nvPr>
        </p:nvSpPr>
        <p:spPr/>
        <p:txBody>
          <a:bodyPr/>
          <a:lstStyle/>
          <a:p>
            <a:r>
              <a:rPr lang="en-NL" dirty="0"/>
              <a:t>Homework: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D51109-40D4-01AA-05BD-518B071E9C64}"/>
                  </a:ext>
                </a:extLst>
              </p:cNvPr>
              <p:cNvSpPr>
                <a:spLocks noGrp="1"/>
              </p:cNvSpPr>
              <p:nvPr>
                <p:ph idx="1"/>
              </p:nvPr>
            </p:nvSpPr>
            <p:spPr/>
            <p:txBody>
              <a:bodyPr>
                <a:normAutofit/>
              </a:bodyPr>
              <a:lstStyle/>
              <a:p>
                <a:pPr marL="0" indent="0">
                  <a:buNone/>
                </a:pPr>
                <a:r>
                  <a:rPr lang="en-NL" dirty="0"/>
                  <a:t>Our quantity of interest is not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1</m:t>
                        </m:r>
                      </m:sub>
                    </m:sSub>
                  </m:oMath>
                </a14:m>
                <a:r>
                  <a:rPr lang="en-NL" dirty="0"/>
                  <a:t>or </a:t>
                </a:r>
                <a14:m>
                  <m:oMath xmlns:m="http://schemas.openxmlformats.org/officeDocument/2006/math">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0</m:t>
                        </m:r>
                      </m:sub>
                    </m:sSub>
                  </m:oMath>
                </a14:m>
                <a:r>
                  <a:rPr lang="en-NL" dirty="0"/>
                  <a:t>individually. It is the difference:</a:t>
                </a:r>
              </a:p>
              <a:p>
                <a:pPr marL="0" indent="0">
                  <a:buNone/>
                </a:pPr>
                <a:endParaRPr lang="en-US" dirty="0"/>
              </a:p>
              <a:p>
                <a:pPr marL="0" indent="0">
                  <a:buNone/>
                </a:pPr>
                <a14:m>
                  <m:oMathPara xmlns:m="http://schemas.openxmlformats.org/officeDocument/2006/math">
                    <m:oMath>
                      <m:acc>
                        <m:accPr>
                          <m:chr m:val="̂"/>
                          <m:ctrlPr>
                            <a:rPr lang="en-NL">
                              <a:latin typeface="Cambria Math" panose="02040503050406030204" pitchFamily="18" charset="0"/>
                            </a:rPr>
                          </m:ctrlPr>
                        </m:accPr>
                        <m:e>
                          <m:r>
                            <m:rPr>
                              <m:sty m:val="p"/>
                            </m:rPr>
                            <a:rPr lang="en-NL">
                              <a:latin typeface="Cambria Math" panose="02040503050406030204" pitchFamily="18" charset="0"/>
                            </a:rPr>
                            <m:t>Δ</m:t>
                          </m:r>
                        </m:e>
                      </m:acc>
                      <m:r>
                        <a:rPr lang="en-NL">
                          <a:latin typeface="Cambria Math" panose="02040503050406030204" pitchFamily="18" charset="0"/>
                        </a:rPr>
                        <m:t>=</m:t>
                      </m:r>
                      <m:sSub>
                        <m:sSubPr>
                          <m:ctrlPr>
                            <a:rPr lang="en-NL" i="1">
                              <a:latin typeface="Cambria Math" panose="02040503050406030204" pitchFamily="18" charset="0"/>
                            </a:rPr>
                          </m:ctrlPr>
                        </m:sSubPr>
                        <m:e>
                          <m:acc>
                            <m:accPr>
                              <m:chr m:val="̂"/>
                              <m:ctrlPr>
                                <a:rPr lang="en-NL" i="1">
                                  <a:latin typeface="Cambria Math" panose="02040503050406030204" pitchFamily="18" charset="0"/>
                                </a:rPr>
                              </m:ctrlPr>
                            </m:accPr>
                            <m:e>
                              <m:r>
                                <a:rPr lang="en-NL" i="1">
                                  <a:latin typeface="Cambria Math" panose="02040503050406030204" pitchFamily="18" charset="0"/>
                                </a:rPr>
                                <m:t>𝑝</m:t>
                              </m:r>
                            </m:e>
                          </m:acc>
                        </m:e>
                        <m:sub>
                          <m:r>
                            <a:rPr lang="en-NL">
                              <a:latin typeface="Cambria Math" panose="02040503050406030204" pitchFamily="18" charset="0"/>
                            </a:rPr>
                            <m:t>1</m:t>
                          </m:r>
                        </m:sub>
                      </m:sSub>
                      <m:r>
                        <a:rPr lang="en-NL">
                          <a:latin typeface="Cambria Math" panose="02040503050406030204" pitchFamily="18" charset="0"/>
                        </a:rPr>
                        <m:t>−</m:t>
                      </m:r>
                      <m:sSub>
                        <m:sSubPr>
                          <m:ctrlPr>
                            <a:rPr lang="en-NL" i="1">
                              <a:latin typeface="Cambria Math" panose="02040503050406030204" pitchFamily="18" charset="0"/>
                            </a:rPr>
                          </m:ctrlPr>
                        </m:sSubPr>
                        <m:e>
                          <m:acc>
                            <m:accPr>
                              <m:chr m:val="̂"/>
                              <m:ctrlPr>
                                <a:rPr lang="en-NL" i="1">
                                  <a:latin typeface="Cambria Math" panose="02040503050406030204" pitchFamily="18" charset="0"/>
                                </a:rPr>
                              </m:ctrlPr>
                            </m:accPr>
                            <m:e>
                              <m:r>
                                <a:rPr lang="en-NL" i="1">
                                  <a:latin typeface="Cambria Math" panose="02040503050406030204" pitchFamily="18" charset="0"/>
                                </a:rPr>
                                <m:t>𝑝</m:t>
                              </m:r>
                            </m:e>
                          </m:acc>
                        </m:e>
                        <m:sub>
                          <m:r>
                            <a:rPr lang="en-NL">
                              <a:latin typeface="Cambria Math" panose="02040503050406030204" pitchFamily="18" charset="0"/>
                            </a:rPr>
                            <m:t>0</m:t>
                          </m:r>
                        </m:sub>
                      </m:sSub>
                      <m:r>
                        <a:rPr lang="en-NL">
                          <a:latin typeface="Cambria Math" panose="02040503050406030204" pitchFamily="18" charset="0"/>
                        </a:rPr>
                        <m:t>.</m:t>
                      </m:r>
                    </m:oMath>
                  </m:oMathPara>
                </a14:m>
                <a:endParaRPr lang="en-NL" dirty="0"/>
              </a:p>
              <a:p>
                <a:pPr marL="0" indent="0">
                  <a:buNone/>
                </a:pPr>
                <a:endParaRPr lang="en-NL" dirty="0"/>
              </a:p>
              <a:p>
                <a:pPr marL="0" indent="0">
                  <a:buNone/>
                </a:pPr>
                <a:r>
                  <a:rPr lang="en-NL" dirty="0"/>
                  <a:t>Show that: </a:t>
                </a:r>
              </a:p>
              <a:p>
                <a:pPr marL="0" indent="0">
                  <a:buNone/>
                </a:pPr>
                <a14:m>
                  <m:oMathPara xmlns:m="http://schemas.openxmlformats.org/officeDocument/2006/math">
                    <m:oMath>
                      <m:r>
                        <m:rPr>
                          <m:sty m:val="p"/>
                        </m:rPr>
                        <a:rPr lang="en-NL">
                          <a:latin typeface="Cambria Math" panose="02040503050406030204" pitchFamily="18" charset="0"/>
                        </a:rPr>
                        <m:t>SE</m:t>
                      </m:r>
                      <m:r>
                        <a:rPr lang="en-NL">
                          <a:latin typeface="Cambria Math" panose="02040503050406030204" pitchFamily="18" charset="0"/>
                        </a:rPr>
                        <m:t>⁡</m:t>
                      </m:r>
                      <m:d>
                        <m:dPr>
                          <m:ctrlPr>
                            <a:rPr lang="en-NL" i="1">
                              <a:latin typeface="Cambria Math" panose="02040503050406030204" pitchFamily="18" charset="0"/>
                            </a:rPr>
                          </m:ctrlPr>
                        </m:dPr>
                        <m:e>
                          <m:acc>
                            <m:accPr>
                              <m:chr m:val="̂"/>
                              <m:ctrlPr>
                                <a:rPr lang="en-NL">
                                  <a:latin typeface="Cambria Math" panose="02040503050406030204" pitchFamily="18" charset="0"/>
                                </a:rPr>
                              </m:ctrlPr>
                            </m:accPr>
                            <m:e>
                              <m:r>
                                <m:rPr>
                                  <m:sty m:val="p"/>
                                </m:rPr>
                                <a:rPr lang="en-NL">
                                  <a:latin typeface="Cambria Math" panose="02040503050406030204" pitchFamily="18" charset="0"/>
                                </a:rPr>
                                <m:t>Δ</m:t>
                              </m:r>
                            </m:e>
                          </m:acc>
                        </m:e>
                      </m:d>
                      <m:r>
                        <a:rPr lang="en-NL">
                          <a:latin typeface="Cambria Math" panose="02040503050406030204" pitchFamily="18" charset="0"/>
                        </a:rPr>
                        <m:t>=</m:t>
                      </m:r>
                      <m:rad>
                        <m:radPr>
                          <m:degHide m:val="on"/>
                          <m:ctrlPr>
                            <a:rPr lang="en-NL" i="1">
                              <a:latin typeface="Cambria Math" panose="02040503050406030204" pitchFamily="18" charset="0"/>
                            </a:rPr>
                          </m:ctrlPr>
                        </m:radPr>
                        <m:deg/>
                        <m:e>
                          <m:f>
                            <m:fPr>
                              <m:ctrlPr>
                                <a:rPr lang="en-NL" i="1">
                                  <a:latin typeface="Cambria Math" panose="02040503050406030204" pitchFamily="18" charset="0"/>
                                </a:rPr>
                              </m:ctrlPr>
                            </m:fPr>
                            <m:num>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1</m:t>
                                  </m:r>
                                </m:sub>
                              </m:sSub>
                              <m:d>
                                <m:dPr>
                                  <m:ctrlPr>
                                    <a:rPr lang="en-NL">
                                      <a:latin typeface="Cambria Math" panose="02040503050406030204" pitchFamily="18" charset="0"/>
                                    </a:rPr>
                                  </m:ctrlPr>
                                </m:dPr>
                                <m:e>
                                  <m:r>
                                    <a:rPr lang="en-NL">
                                      <a:latin typeface="Cambria Math" panose="02040503050406030204" pitchFamily="18" charset="0"/>
                                    </a:rPr>
                                    <m:t>1−</m:t>
                                  </m:r>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1</m:t>
                                      </m:r>
                                    </m:sub>
                                  </m:sSub>
                                </m:e>
                              </m:d>
                            </m:num>
                            <m:den>
                              <m:sSub>
                                <m:sSubPr>
                                  <m:ctrlPr>
                                    <a:rPr lang="en-NL" i="1">
                                      <a:latin typeface="Cambria Math" panose="02040503050406030204" pitchFamily="18" charset="0"/>
                                    </a:rPr>
                                  </m:ctrlPr>
                                </m:sSubPr>
                                <m:e>
                                  <m:r>
                                    <a:rPr lang="en-NL" i="1">
                                      <a:latin typeface="Cambria Math" panose="02040503050406030204" pitchFamily="18" charset="0"/>
                                    </a:rPr>
                                    <m:t>𝑛</m:t>
                                  </m:r>
                                </m:e>
                                <m:sub>
                                  <m:r>
                                    <a:rPr lang="en-NL">
                                      <a:latin typeface="Cambria Math" panose="02040503050406030204" pitchFamily="18" charset="0"/>
                                    </a:rPr>
                                    <m:t>1</m:t>
                                  </m:r>
                                </m:sub>
                              </m:sSub>
                            </m:den>
                          </m:f>
                          <m:r>
                            <a:rPr lang="en-NL">
                              <a:latin typeface="Cambria Math" panose="02040503050406030204" pitchFamily="18" charset="0"/>
                            </a:rPr>
                            <m:t>+</m:t>
                          </m:r>
                          <m:f>
                            <m:fPr>
                              <m:ctrlPr>
                                <a:rPr lang="en-NL" i="1">
                                  <a:latin typeface="Cambria Math" panose="02040503050406030204" pitchFamily="18" charset="0"/>
                                </a:rPr>
                              </m:ctrlPr>
                            </m:fPr>
                            <m:num>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0</m:t>
                                  </m:r>
                                </m:sub>
                              </m:sSub>
                              <m:d>
                                <m:dPr>
                                  <m:ctrlPr>
                                    <a:rPr lang="en-NL">
                                      <a:latin typeface="Cambria Math" panose="02040503050406030204" pitchFamily="18" charset="0"/>
                                    </a:rPr>
                                  </m:ctrlPr>
                                </m:dPr>
                                <m:e>
                                  <m:r>
                                    <a:rPr lang="en-NL">
                                      <a:latin typeface="Cambria Math" panose="02040503050406030204" pitchFamily="18" charset="0"/>
                                    </a:rPr>
                                    <m:t>1−</m:t>
                                  </m:r>
                                  <m:sSub>
                                    <m:sSubPr>
                                      <m:ctrlPr>
                                        <a:rPr lang="en-NL" i="1">
                                          <a:latin typeface="Cambria Math" panose="02040503050406030204" pitchFamily="18" charset="0"/>
                                        </a:rPr>
                                      </m:ctrlPr>
                                    </m:sSubPr>
                                    <m:e>
                                      <m:r>
                                        <a:rPr lang="en-NL" i="1">
                                          <a:latin typeface="Cambria Math" panose="02040503050406030204" pitchFamily="18" charset="0"/>
                                        </a:rPr>
                                        <m:t>𝑝</m:t>
                                      </m:r>
                                    </m:e>
                                    <m:sub>
                                      <m:r>
                                        <a:rPr lang="en-NL">
                                          <a:latin typeface="Cambria Math" panose="02040503050406030204" pitchFamily="18" charset="0"/>
                                        </a:rPr>
                                        <m:t>0</m:t>
                                      </m:r>
                                    </m:sub>
                                  </m:sSub>
                                </m:e>
                              </m:d>
                            </m:num>
                            <m:den>
                              <m:sSub>
                                <m:sSubPr>
                                  <m:ctrlPr>
                                    <a:rPr lang="en-NL" i="1">
                                      <a:latin typeface="Cambria Math" panose="02040503050406030204" pitchFamily="18" charset="0"/>
                                    </a:rPr>
                                  </m:ctrlPr>
                                </m:sSubPr>
                                <m:e>
                                  <m:r>
                                    <a:rPr lang="en-NL" i="1">
                                      <a:latin typeface="Cambria Math" panose="02040503050406030204" pitchFamily="18" charset="0"/>
                                    </a:rPr>
                                    <m:t>𝑛</m:t>
                                  </m:r>
                                </m:e>
                                <m:sub>
                                  <m:r>
                                    <a:rPr lang="en-NL">
                                      <a:latin typeface="Cambria Math" panose="02040503050406030204" pitchFamily="18" charset="0"/>
                                    </a:rPr>
                                    <m:t>0</m:t>
                                  </m:r>
                                </m:sub>
                              </m:sSub>
                            </m:den>
                          </m:f>
                        </m:e>
                      </m:rad>
                    </m:oMath>
                  </m:oMathPara>
                </a14:m>
                <a:endParaRPr lang="en-NL" dirty="0"/>
              </a:p>
            </p:txBody>
          </p:sp>
        </mc:Choice>
        <mc:Fallback xmlns="">
          <p:sp>
            <p:nvSpPr>
              <p:cNvPr id="3" name="Content Placeholder 2">
                <a:extLst>
                  <a:ext uri="{FF2B5EF4-FFF2-40B4-BE49-F238E27FC236}">
                    <a16:creationId xmlns:a16="http://schemas.microsoft.com/office/drawing/2014/main" id="{41D51109-40D4-01AA-05BD-518B071E9C64}"/>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NL">
                    <a:noFill/>
                  </a:rPr>
                  <a:t> </a:t>
                </a:r>
              </a:p>
            </p:txBody>
          </p:sp>
        </mc:Fallback>
      </mc:AlternateContent>
    </p:spTree>
    <p:extLst>
      <p:ext uri="{BB962C8B-B14F-4D97-AF65-F5344CB8AC3E}">
        <p14:creationId xmlns:p14="http://schemas.microsoft.com/office/powerpoint/2010/main" val="33363601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3DEB3B-8E16-2DD9-9AFF-3F11EE785640}"/>
              </a:ext>
            </a:extLst>
          </p:cNvPr>
          <p:cNvSpPr>
            <a:spLocks noGrp="1"/>
          </p:cNvSpPr>
          <p:nvPr>
            <p:ph type="ctrTitle"/>
          </p:nvPr>
        </p:nvSpPr>
        <p:spPr/>
        <p:txBody>
          <a:bodyPr/>
          <a:lstStyle/>
          <a:p>
            <a:r>
              <a:rPr lang="en-NL" dirty="0"/>
              <a:t>Appendix</a:t>
            </a:r>
          </a:p>
        </p:txBody>
      </p:sp>
      <p:sp>
        <p:nvSpPr>
          <p:cNvPr id="5" name="Subtitle 4">
            <a:extLst>
              <a:ext uri="{FF2B5EF4-FFF2-40B4-BE49-F238E27FC236}">
                <a16:creationId xmlns:a16="http://schemas.microsoft.com/office/drawing/2014/main" id="{E06A98E6-F158-64F8-1319-5B4AD0FDA85D}"/>
              </a:ext>
            </a:extLst>
          </p:cNvPr>
          <p:cNvSpPr>
            <a:spLocks noGrp="1"/>
          </p:cNvSpPr>
          <p:nvPr>
            <p:ph type="subTitle" idx="1"/>
          </p:nvPr>
        </p:nvSpPr>
        <p:spPr/>
        <p:txBody>
          <a:bodyPr/>
          <a:lstStyle/>
          <a:p>
            <a:r>
              <a:rPr lang="en-NL" dirty="0"/>
              <a:t>Gaussian Distribution</a:t>
            </a:r>
          </a:p>
        </p:txBody>
      </p:sp>
    </p:spTree>
    <p:extLst>
      <p:ext uri="{BB962C8B-B14F-4D97-AF65-F5344CB8AC3E}">
        <p14:creationId xmlns:p14="http://schemas.microsoft.com/office/powerpoint/2010/main" val="20985585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A7D32022-6652-FC91-9180-7F32673D7708}"/>
              </a:ext>
            </a:extLst>
          </p:cNvPr>
          <p:cNvPicPr>
            <a:picLocks noChangeAspect="1"/>
          </p:cNvPicPr>
          <p:nvPr/>
        </p:nvPicPr>
        <p:blipFill>
          <a:blip r:embed="rId2"/>
          <a:stretch>
            <a:fillRect/>
          </a:stretch>
        </p:blipFill>
        <p:spPr>
          <a:xfrm>
            <a:off x="2114392" y="914400"/>
            <a:ext cx="7887015" cy="4968819"/>
          </a:xfrm>
          <a:prstGeom prst="rect">
            <a:avLst/>
          </a:prstGeom>
        </p:spPr>
      </p:pic>
      <p:sp>
        <p:nvSpPr>
          <p:cNvPr id="3" name="TextBox 2">
            <a:extLst>
              <a:ext uri="{FF2B5EF4-FFF2-40B4-BE49-F238E27FC236}">
                <a16:creationId xmlns:a16="http://schemas.microsoft.com/office/drawing/2014/main" id="{BCE8B581-4FF7-C174-89E6-F37105307B1D}"/>
              </a:ext>
            </a:extLst>
          </p:cNvPr>
          <p:cNvSpPr txBox="1"/>
          <p:nvPr/>
        </p:nvSpPr>
        <p:spPr>
          <a:xfrm>
            <a:off x="208548" y="6356503"/>
            <a:ext cx="6096000" cy="369332"/>
          </a:xfrm>
          <a:prstGeom prst="rect">
            <a:avLst/>
          </a:prstGeom>
          <a:noFill/>
        </p:spPr>
        <p:txBody>
          <a:bodyPr wrap="square">
            <a:spAutoFit/>
          </a:bodyPr>
          <a:lstStyle/>
          <a:p>
            <a:r>
              <a:rPr lang="en-US" dirty="0">
                <a:hlinkClick r:id="rId3"/>
              </a:rPr>
              <a:t>Introductory Statistics (Shafer and Zhang) - Statistics </a:t>
            </a:r>
            <a:r>
              <a:rPr lang="en-US" dirty="0" err="1">
                <a:hlinkClick r:id="rId3"/>
              </a:rPr>
              <a:t>LibreTexts</a:t>
            </a:r>
            <a:endParaRPr lang="en-NL" dirty="0"/>
          </a:p>
        </p:txBody>
      </p:sp>
    </p:spTree>
    <p:extLst>
      <p:ext uri="{BB962C8B-B14F-4D97-AF65-F5344CB8AC3E}">
        <p14:creationId xmlns:p14="http://schemas.microsoft.com/office/powerpoint/2010/main" val="362515942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B7A3C-301B-FF1A-17EC-265CB6E0C2B6}"/>
              </a:ext>
            </a:extLst>
          </p:cNvPr>
          <p:cNvSpPr>
            <a:spLocks noGrp="1"/>
          </p:cNvSpPr>
          <p:nvPr>
            <p:ph type="title"/>
          </p:nvPr>
        </p:nvSpPr>
        <p:spPr/>
        <p:txBody>
          <a:bodyPr/>
          <a:lstStyle/>
          <a:p>
            <a:r>
              <a:rPr lang="en-US" dirty="0"/>
              <a:t>Catastrophes and Heavy Tail Distribution</a:t>
            </a:r>
            <a:endParaRPr lang="en-NL" dirty="0"/>
          </a:p>
        </p:txBody>
      </p:sp>
      <p:pic>
        <p:nvPicPr>
          <p:cNvPr id="1028" name="Picture 4" descr="undefined">
            <a:extLst>
              <a:ext uri="{FF2B5EF4-FFF2-40B4-BE49-F238E27FC236}">
                <a16:creationId xmlns:a16="http://schemas.microsoft.com/office/drawing/2014/main" id="{DD4C38C8-1649-CC1C-D944-F2C75E9A1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5811" y="1353238"/>
            <a:ext cx="5647715" cy="451817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2C89B72-F16A-CA26-E29C-510D543AA342}"/>
              </a:ext>
            </a:extLst>
          </p:cNvPr>
          <p:cNvSpPr txBox="1"/>
          <p:nvPr/>
        </p:nvSpPr>
        <p:spPr>
          <a:xfrm>
            <a:off x="224590" y="6308209"/>
            <a:ext cx="6096000" cy="369332"/>
          </a:xfrm>
          <a:prstGeom prst="rect">
            <a:avLst/>
          </a:prstGeom>
          <a:noFill/>
        </p:spPr>
        <p:txBody>
          <a:bodyPr wrap="square">
            <a:spAutoFit/>
          </a:bodyPr>
          <a:lstStyle/>
          <a:p>
            <a:r>
              <a:rPr lang="en-US" dirty="0">
                <a:hlinkClick r:id="rId3"/>
              </a:rPr>
              <a:t>Black Monday (1987) - Wikipedia</a:t>
            </a:r>
            <a:endParaRPr lang="en-NL" dirty="0"/>
          </a:p>
        </p:txBody>
      </p:sp>
      <mc:AlternateContent xmlns:mc="http://schemas.openxmlformats.org/markup-compatibility/2006" xmlns:a14="http://schemas.microsoft.com/office/drawing/2010/main">
        <mc:Choice Requires="a14">
          <p:sp>
            <p:nvSpPr>
              <p:cNvPr id="13" name="Speech Bubble: Rectangle with Corners Rounded 12">
                <a:extLst>
                  <a:ext uri="{FF2B5EF4-FFF2-40B4-BE49-F238E27FC236}">
                    <a16:creationId xmlns:a16="http://schemas.microsoft.com/office/drawing/2014/main" id="{E2926B9C-9025-F6DC-CADA-9125242B31C6}"/>
                  </a:ext>
                </a:extLst>
              </p:cNvPr>
              <p:cNvSpPr/>
              <p:nvPr/>
            </p:nvSpPr>
            <p:spPr>
              <a:xfrm>
                <a:off x="3882189" y="4239128"/>
                <a:ext cx="1858768" cy="561473"/>
              </a:xfrm>
              <a:prstGeom prst="wedgeRoundRectCallout">
                <a:avLst>
                  <a:gd name="adj1" fmla="val 57791"/>
                  <a:gd name="adj2" fmla="val 14907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More than 20 </a:t>
                </a:r>
                <a14:m>
                  <m:oMath xmlns:m="http://schemas.openxmlformats.org/officeDocument/2006/math">
                    <m:r>
                      <a:rPr lang="en-US" b="0" i="1" smtClean="0">
                        <a:latin typeface="Cambria Math" panose="02040503050406030204" pitchFamily="18" charset="0"/>
                      </a:rPr>
                      <m:t>𝜎</m:t>
                    </m:r>
                  </m:oMath>
                </a14:m>
                <a:endParaRPr lang="en-NL" dirty="0"/>
              </a:p>
            </p:txBody>
          </p:sp>
        </mc:Choice>
        <mc:Fallback xmlns="">
          <p:sp>
            <p:nvSpPr>
              <p:cNvPr id="13" name="Speech Bubble: Rectangle with Corners Rounded 12">
                <a:extLst>
                  <a:ext uri="{FF2B5EF4-FFF2-40B4-BE49-F238E27FC236}">
                    <a16:creationId xmlns:a16="http://schemas.microsoft.com/office/drawing/2014/main" id="{E2926B9C-9025-F6DC-CADA-9125242B31C6}"/>
                  </a:ext>
                </a:extLst>
              </p:cNvPr>
              <p:cNvSpPr>
                <a:spLocks noRot="1" noChangeAspect="1" noMove="1" noResize="1" noEditPoints="1" noAdjustHandles="1" noChangeArrowheads="1" noChangeShapeType="1" noTextEdit="1"/>
              </p:cNvSpPr>
              <p:nvPr/>
            </p:nvSpPr>
            <p:spPr>
              <a:xfrm>
                <a:off x="3882189" y="4239128"/>
                <a:ext cx="1858768" cy="561473"/>
              </a:xfrm>
              <a:prstGeom prst="wedgeRoundRectCallout">
                <a:avLst>
                  <a:gd name="adj1" fmla="val 57791"/>
                  <a:gd name="adj2" fmla="val 149076"/>
                  <a:gd name="adj3" fmla="val 16667"/>
                </a:avLst>
              </a:prstGeom>
              <a:blipFill>
                <a:blip r:embed="rId4"/>
                <a:stretch>
                  <a:fillRect/>
                </a:stretch>
              </a:blipFill>
            </p:spPr>
            <p:txBody>
              <a:bodyPr/>
              <a:lstStyle/>
              <a:p>
                <a:r>
                  <a:rPr lang="en-NL">
                    <a:noFill/>
                  </a:rPr>
                  <a:t> </a:t>
                </a:r>
              </a:p>
            </p:txBody>
          </p:sp>
        </mc:Fallback>
      </mc:AlternateContent>
      <p:pic>
        <p:nvPicPr>
          <p:cNvPr id="1026" name="Picture 2">
            <a:extLst>
              <a:ext uri="{FF2B5EF4-FFF2-40B4-BE49-F238E27FC236}">
                <a16:creationId xmlns:a16="http://schemas.microsoft.com/office/drawing/2014/main" id="{D9CFD7EE-4BFD-E61C-8D75-029DCC21185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58264" y="1905615"/>
            <a:ext cx="2399220" cy="1546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35201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D9E42-D02E-1DDF-0F33-2D291A5D7C3F}"/>
              </a:ext>
            </a:extLst>
          </p:cNvPr>
          <p:cNvSpPr>
            <a:spLocks noGrp="1"/>
          </p:cNvSpPr>
          <p:nvPr>
            <p:ph type="title"/>
          </p:nvPr>
        </p:nvSpPr>
        <p:spPr/>
        <p:txBody>
          <a:bodyPr/>
          <a:lstStyle/>
          <a:p>
            <a:r>
              <a:rPr lang="en-US" dirty="0"/>
              <a:t>T-Distribution</a:t>
            </a:r>
            <a:endParaRPr lang="en-NL" dirty="0"/>
          </a:p>
        </p:txBody>
      </p:sp>
      <p:pic>
        <p:nvPicPr>
          <p:cNvPr id="5" name="Picture 4">
            <a:extLst>
              <a:ext uri="{FF2B5EF4-FFF2-40B4-BE49-F238E27FC236}">
                <a16:creationId xmlns:a16="http://schemas.microsoft.com/office/drawing/2014/main" id="{19449997-17DF-8ECA-4F5C-B5AB02857152}"/>
              </a:ext>
            </a:extLst>
          </p:cNvPr>
          <p:cNvPicPr>
            <a:picLocks noChangeAspect="1"/>
          </p:cNvPicPr>
          <p:nvPr/>
        </p:nvPicPr>
        <p:blipFill>
          <a:blip r:embed="rId3"/>
          <a:stretch>
            <a:fillRect/>
          </a:stretch>
        </p:blipFill>
        <p:spPr>
          <a:xfrm>
            <a:off x="422322" y="1435460"/>
            <a:ext cx="5577425" cy="4756429"/>
          </a:xfrm>
          <a:prstGeom prst="rect">
            <a:avLst/>
          </a:prstGeom>
        </p:spPr>
      </p:pic>
      <p:sp>
        <p:nvSpPr>
          <p:cNvPr id="7" name="TextBox 6">
            <a:extLst>
              <a:ext uri="{FF2B5EF4-FFF2-40B4-BE49-F238E27FC236}">
                <a16:creationId xmlns:a16="http://schemas.microsoft.com/office/drawing/2014/main" id="{07E3E1BE-C983-ACA3-FBB0-95B88E9B9252}"/>
              </a:ext>
            </a:extLst>
          </p:cNvPr>
          <p:cNvSpPr txBox="1"/>
          <p:nvPr/>
        </p:nvSpPr>
        <p:spPr>
          <a:xfrm>
            <a:off x="63006" y="6488668"/>
            <a:ext cx="6096000" cy="369332"/>
          </a:xfrm>
          <a:prstGeom prst="rect">
            <a:avLst/>
          </a:prstGeom>
          <a:noFill/>
        </p:spPr>
        <p:txBody>
          <a:bodyPr wrap="square">
            <a:spAutoFit/>
          </a:bodyPr>
          <a:lstStyle/>
          <a:p>
            <a:r>
              <a:rPr lang="en-US" dirty="0">
                <a:hlinkClick r:id="rId4"/>
              </a:rPr>
              <a:t>Student's t-distribution - Wikipedia</a:t>
            </a:r>
            <a:endParaRPr lang="en-NL" dirty="0"/>
          </a:p>
        </p:txBody>
      </p:sp>
      <p:pic>
        <p:nvPicPr>
          <p:cNvPr id="9" name="Picture 8">
            <a:extLst>
              <a:ext uri="{FF2B5EF4-FFF2-40B4-BE49-F238E27FC236}">
                <a16:creationId xmlns:a16="http://schemas.microsoft.com/office/drawing/2014/main" id="{8AC5EC78-7A43-21EF-9097-3F20F36F1589}"/>
              </a:ext>
            </a:extLst>
          </p:cNvPr>
          <p:cNvPicPr>
            <a:picLocks noChangeAspect="1"/>
          </p:cNvPicPr>
          <p:nvPr/>
        </p:nvPicPr>
        <p:blipFill>
          <a:blip r:embed="rId5"/>
          <a:stretch>
            <a:fillRect/>
          </a:stretch>
        </p:blipFill>
        <p:spPr>
          <a:xfrm>
            <a:off x="6590511" y="1690687"/>
            <a:ext cx="4320914" cy="1341236"/>
          </a:xfrm>
          <a:prstGeom prst="rect">
            <a:avLst/>
          </a:prstGeom>
          <a:ln>
            <a:solidFill>
              <a:schemeClr val="tx1"/>
            </a:solidFill>
          </a:ln>
        </p:spPr>
      </p:pic>
      <p:pic>
        <p:nvPicPr>
          <p:cNvPr id="11" name="Picture 10">
            <a:extLst>
              <a:ext uri="{FF2B5EF4-FFF2-40B4-BE49-F238E27FC236}">
                <a16:creationId xmlns:a16="http://schemas.microsoft.com/office/drawing/2014/main" id="{B223F1C7-D0CF-3140-AACC-5E567D493F08}"/>
              </a:ext>
            </a:extLst>
          </p:cNvPr>
          <p:cNvPicPr>
            <a:picLocks noChangeAspect="1"/>
          </p:cNvPicPr>
          <p:nvPr/>
        </p:nvPicPr>
        <p:blipFill>
          <a:blip r:embed="rId6"/>
          <a:stretch>
            <a:fillRect/>
          </a:stretch>
        </p:blipFill>
        <p:spPr>
          <a:xfrm>
            <a:off x="6590511" y="3826077"/>
            <a:ext cx="4861981" cy="579170"/>
          </a:xfrm>
          <a:prstGeom prst="rect">
            <a:avLst/>
          </a:prstGeom>
          <a:ln>
            <a:solidFill>
              <a:schemeClr val="tx1"/>
            </a:solidFill>
          </a:ln>
        </p:spPr>
      </p:pic>
    </p:spTree>
    <p:extLst>
      <p:ext uri="{BB962C8B-B14F-4D97-AF65-F5344CB8AC3E}">
        <p14:creationId xmlns:p14="http://schemas.microsoft.com/office/powerpoint/2010/main" val="27634063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6B5B-09CF-DC9D-9FFC-F65F9E7AB18F}"/>
              </a:ext>
            </a:extLst>
          </p:cNvPr>
          <p:cNvSpPr>
            <a:spLocks noGrp="1"/>
          </p:cNvSpPr>
          <p:nvPr>
            <p:ph type="title"/>
          </p:nvPr>
        </p:nvSpPr>
        <p:spPr/>
        <p:txBody>
          <a:bodyPr/>
          <a:lstStyle/>
          <a:p>
            <a:r>
              <a:rPr lang="en-US" dirty="0"/>
              <a:t>Small Note: Gamma Function</a:t>
            </a:r>
            <a:endParaRPr lang="en-NL" dirty="0"/>
          </a:p>
        </p:txBody>
      </p:sp>
      <p:sp>
        <p:nvSpPr>
          <p:cNvPr id="3" name="Content Placeholder 2">
            <a:extLst>
              <a:ext uri="{FF2B5EF4-FFF2-40B4-BE49-F238E27FC236}">
                <a16:creationId xmlns:a16="http://schemas.microsoft.com/office/drawing/2014/main" id="{968A0BA7-8800-B86A-C5AD-75DF23E50AE8}"/>
              </a:ext>
            </a:extLst>
          </p:cNvPr>
          <p:cNvSpPr>
            <a:spLocks noGrp="1"/>
          </p:cNvSpPr>
          <p:nvPr>
            <p:ph idx="1"/>
          </p:nvPr>
        </p:nvSpPr>
        <p:spPr/>
        <p:txBody>
          <a:bodyPr>
            <a:normAutofit lnSpcReduction="10000"/>
          </a:bodyPr>
          <a:lstStyle/>
          <a:p>
            <a:r>
              <a:rPr lang="en-US" dirty="0"/>
              <a:t>For complex z with positive real part</a:t>
            </a:r>
          </a:p>
          <a:p>
            <a:endParaRPr lang="en-US" dirty="0"/>
          </a:p>
          <a:p>
            <a:endParaRPr lang="en-US" dirty="0"/>
          </a:p>
          <a:p>
            <a:endParaRPr lang="en-US" dirty="0"/>
          </a:p>
          <a:p>
            <a:r>
              <a:rPr lang="en-US" dirty="0"/>
              <a:t>For integer n:</a:t>
            </a:r>
          </a:p>
          <a:p>
            <a:pPr marL="0" indent="0">
              <a:buNone/>
            </a:pPr>
            <a:endParaRPr lang="en-US" dirty="0"/>
          </a:p>
          <a:p>
            <a:pPr marL="0" indent="0">
              <a:buNone/>
            </a:pPr>
            <a:endParaRPr lang="en-US" dirty="0"/>
          </a:p>
          <a:p>
            <a:r>
              <a:rPr lang="en-US" dirty="0"/>
              <a:t>If this is confusing remember </a:t>
            </a:r>
            <a:r>
              <a:rPr lang="en-US" b="1" dirty="0"/>
              <a:t>Gamma</a:t>
            </a:r>
            <a:r>
              <a:rPr lang="en-US" dirty="0"/>
              <a:t> is the same as </a:t>
            </a:r>
            <a:r>
              <a:rPr lang="en-US" b="1" dirty="0"/>
              <a:t>factorial</a:t>
            </a:r>
            <a:r>
              <a:rPr lang="en-US" dirty="0"/>
              <a:t> when z is an integer.</a:t>
            </a:r>
          </a:p>
          <a:p>
            <a:endParaRPr lang="en-US" dirty="0"/>
          </a:p>
          <a:p>
            <a:endParaRPr lang="en-US" dirty="0"/>
          </a:p>
        </p:txBody>
      </p:sp>
      <p:pic>
        <p:nvPicPr>
          <p:cNvPr id="5" name="Picture 4">
            <a:extLst>
              <a:ext uri="{FF2B5EF4-FFF2-40B4-BE49-F238E27FC236}">
                <a16:creationId xmlns:a16="http://schemas.microsoft.com/office/drawing/2014/main" id="{94D6B600-D50A-B9B8-7A39-94C02492AF47}"/>
              </a:ext>
            </a:extLst>
          </p:cNvPr>
          <p:cNvPicPr>
            <a:picLocks noChangeAspect="1"/>
          </p:cNvPicPr>
          <p:nvPr/>
        </p:nvPicPr>
        <p:blipFill>
          <a:blip r:embed="rId2"/>
          <a:stretch>
            <a:fillRect/>
          </a:stretch>
        </p:blipFill>
        <p:spPr>
          <a:xfrm>
            <a:off x="3671844" y="4185708"/>
            <a:ext cx="2187130" cy="617273"/>
          </a:xfrm>
          <a:prstGeom prst="rect">
            <a:avLst/>
          </a:prstGeom>
        </p:spPr>
      </p:pic>
      <p:pic>
        <p:nvPicPr>
          <p:cNvPr id="7" name="Picture 6">
            <a:extLst>
              <a:ext uri="{FF2B5EF4-FFF2-40B4-BE49-F238E27FC236}">
                <a16:creationId xmlns:a16="http://schemas.microsoft.com/office/drawing/2014/main" id="{55B469B4-07DF-4CD9-2486-FE3E09114686}"/>
              </a:ext>
            </a:extLst>
          </p:cNvPr>
          <p:cNvPicPr>
            <a:picLocks noChangeAspect="1"/>
          </p:cNvPicPr>
          <p:nvPr/>
        </p:nvPicPr>
        <p:blipFill>
          <a:blip r:embed="rId3"/>
          <a:stretch>
            <a:fillRect/>
          </a:stretch>
        </p:blipFill>
        <p:spPr>
          <a:xfrm>
            <a:off x="4072896" y="2461176"/>
            <a:ext cx="4511431" cy="967824"/>
          </a:xfrm>
          <a:prstGeom prst="rect">
            <a:avLst/>
          </a:prstGeom>
        </p:spPr>
      </p:pic>
    </p:spTree>
    <p:extLst>
      <p:ext uri="{BB962C8B-B14F-4D97-AF65-F5344CB8AC3E}">
        <p14:creationId xmlns:p14="http://schemas.microsoft.com/office/powerpoint/2010/main" val="239892577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321C4-9BD4-52FA-4E10-9EF61CCFC51A}"/>
              </a:ext>
            </a:extLst>
          </p:cNvPr>
          <p:cNvSpPr>
            <a:spLocks noGrp="1"/>
          </p:cNvSpPr>
          <p:nvPr>
            <p:ph type="title"/>
          </p:nvPr>
        </p:nvSpPr>
        <p:spPr/>
        <p:txBody>
          <a:bodyPr/>
          <a:lstStyle/>
          <a:p>
            <a:r>
              <a:rPr lang="en-US" dirty="0"/>
              <a:t>For small sample size you often use t-distribution (The first 11 minutes)</a:t>
            </a:r>
            <a:endParaRPr lang="en-NL" dirty="0"/>
          </a:p>
        </p:txBody>
      </p:sp>
      <p:pic>
        <p:nvPicPr>
          <p:cNvPr id="4" name="Online Media 3" title="t-Test - Everything you need to know">
            <a:hlinkClick r:id="" action="ppaction://media"/>
            <a:extLst>
              <a:ext uri="{FF2B5EF4-FFF2-40B4-BE49-F238E27FC236}">
                <a16:creationId xmlns:a16="http://schemas.microsoft.com/office/drawing/2014/main" id="{043118C1-1ED0-A2BC-1EF5-6CB0D76FA124}"/>
              </a:ext>
            </a:extLst>
          </p:cNvPr>
          <p:cNvPicPr>
            <a:picLocks noGrp="1" noRot="1" noChangeAspect="1"/>
          </p:cNvPicPr>
          <p:nvPr>
            <p:ph idx="1"/>
            <a:videoFile r:link="rId1"/>
          </p:nvPr>
        </p:nvPicPr>
        <p:blipFill>
          <a:blip r:embed="rId3"/>
          <a:stretch>
            <a:fillRect/>
          </a:stretch>
        </p:blipFill>
        <p:spPr>
          <a:xfrm>
            <a:off x="2246313" y="1825625"/>
            <a:ext cx="7700962" cy="4351338"/>
          </a:xfrm>
          <a:prstGeom prst="rect">
            <a:avLst/>
          </a:prstGeom>
        </p:spPr>
      </p:pic>
      <p:sp>
        <p:nvSpPr>
          <p:cNvPr id="5" name="TextBox 4">
            <a:extLst>
              <a:ext uri="{FF2B5EF4-FFF2-40B4-BE49-F238E27FC236}">
                <a16:creationId xmlns:a16="http://schemas.microsoft.com/office/drawing/2014/main" id="{1D32ECCF-B2FE-16ED-F94A-8EEBB11A1A59}"/>
              </a:ext>
            </a:extLst>
          </p:cNvPr>
          <p:cNvSpPr txBox="1"/>
          <p:nvPr/>
        </p:nvSpPr>
        <p:spPr>
          <a:xfrm>
            <a:off x="513347" y="6392779"/>
            <a:ext cx="8237640" cy="369332"/>
          </a:xfrm>
          <a:prstGeom prst="rect">
            <a:avLst/>
          </a:prstGeom>
          <a:noFill/>
        </p:spPr>
        <p:txBody>
          <a:bodyPr wrap="none" rtlCol="0">
            <a:spAutoFit/>
          </a:bodyPr>
          <a:lstStyle/>
          <a:p>
            <a:r>
              <a:rPr lang="en-US" dirty="0"/>
              <a:t>Also watch Z-statistics or t-statistics: </a:t>
            </a:r>
            <a:r>
              <a:rPr lang="en-US" dirty="0">
                <a:hlinkClick r:id="rId4"/>
              </a:rPr>
              <a:t>Z-statistics vs. T-statistics (video) | Khan Academy</a:t>
            </a:r>
            <a:endParaRPr lang="en-NL" dirty="0"/>
          </a:p>
        </p:txBody>
      </p:sp>
    </p:spTree>
    <p:extLst>
      <p:ext uri="{BB962C8B-B14F-4D97-AF65-F5344CB8AC3E}">
        <p14:creationId xmlns:p14="http://schemas.microsoft.com/office/powerpoint/2010/main" val="166950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51.png"/></Relationships>
</file>

<file path=ppt/webextensions/webextension1.xml><?xml version="1.0" encoding="utf-8"?>
<we:webextension xmlns:we="http://schemas.microsoft.com/office/webextensions/webextension/2010/11" id="{3EE436BA-CF66-4AD2-9F6F-C9B32F295163}">
  <we:reference id="wa104221182" version="3.3.0.0" store="en-US" storeType="OMEX"/>
  <we:alternateReferences>
    <we:reference id="wa104221182" version="3.3.0.0" store="wa104221182" storeType="OMEX"/>
  </we:alternateReferences>
  <we:properties>
    <we:property name="autoplay" value="0"/>
    <we:property name="endtime" value="0"/>
    <we:property name="slideId" value="783"/>
    <we:property name="starttime" value="0"/>
    <we:property name="vid" value="&quot;https://www.youtube.com/watch?v=ebEkn-BiW5k&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otalTime>8648</TotalTime>
  <Words>3960</Words>
  <Application>Microsoft Macintosh PowerPoint</Application>
  <PresentationFormat>Widescreen</PresentationFormat>
  <Paragraphs>524</Paragraphs>
  <Slides>109</Slides>
  <Notes>20</Notes>
  <HiddenSlides>1</HiddenSlides>
  <MMClips>2</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109</vt:i4>
      </vt:variant>
    </vt:vector>
  </HeadingPairs>
  <TitlesOfParts>
    <vt:vector size="119" baseType="lpstr">
      <vt:lpstr>Arial</vt:lpstr>
      <vt:lpstr>Calibri</vt:lpstr>
      <vt:lpstr>Calibri Light</vt:lpstr>
      <vt:lpstr>Cambria Math</vt:lpstr>
      <vt:lpstr>Söhne</vt:lpstr>
      <vt:lpstr>Tiempos Text</vt:lpstr>
      <vt:lpstr>Times New Roman</vt:lpstr>
      <vt:lpstr>TwitterChirp</vt:lpstr>
      <vt:lpstr>YouTube Sans</vt:lpstr>
      <vt:lpstr>Office Theme</vt:lpstr>
      <vt:lpstr>AP STATS</vt:lpstr>
      <vt:lpstr>Agenda</vt:lpstr>
      <vt:lpstr>Probabilities</vt:lpstr>
      <vt:lpstr>Is this a hill or a crater?</vt:lpstr>
      <vt:lpstr>PowerPoint Presentation</vt:lpstr>
      <vt:lpstr>Simpson's Paradox</vt:lpstr>
      <vt:lpstr>Population vs Sample</vt:lpstr>
      <vt:lpstr>From Data to Decisions: How Do We Reason Under Uncertainty?</vt:lpstr>
      <vt:lpstr>PowerPoint Presentation</vt:lpstr>
      <vt:lpstr>PowerPoint Presentation</vt:lpstr>
      <vt:lpstr>PowerPoint Presentation</vt:lpstr>
      <vt:lpstr>Probabilities (Normalization)</vt:lpstr>
      <vt:lpstr>Probabilities (Marginalization)</vt:lpstr>
      <vt:lpstr>Conditional Probabilities</vt:lpstr>
      <vt:lpstr>Conditional Probabilities</vt:lpstr>
      <vt:lpstr>Probabilities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does P(X=x│Y=y ) represent?</vt:lpstr>
      <vt:lpstr>PowerPoint Presentation</vt:lpstr>
      <vt:lpstr>Probabilities</vt:lpstr>
      <vt:lpstr>Bayes' Rule</vt:lpstr>
      <vt:lpstr>PowerPoint Presentation</vt:lpstr>
      <vt:lpstr>PowerPoint Presentation</vt:lpstr>
      <vt:lpstr>PowerPoint Presentation</vt:lpstr>
      <vt:lpstr>PowerPoint Presentation</vt:lpstr>
      <vt:lpstr>PowerPoint Presentation</vt:lpstr>
      <vt:lpstr>PowerPoint Presentation</vt:lpstr>
      <vt:lpstr>Bayes rule</vt:lpstr>
      <vt:lpstr>Bayes rule for Binary random variables</vt:lpstr>
      <vt:lpstr>Example: Medical Tests</vt:lpstr>
      <vt:lpstr>Example: Medical Tests</vt:lpstr>
      <vt:lpstr>Probability of being sick (hypothesis) given the positive test result (data)</vt:lpstr>
      <vt:lpstr>Step 1, find the required quantities</vt:lpstr>
      <vt:lpstr>A Forensic DNA Match</vt:lpstr>
      <vt:lpstr>Step 1, find the required quantities</vt:lpstr>
      <vt:lpstr>PowerPoint Presentation</vt:lpstr>
      <vt:lpstr>A Radical Scientific Theory</vt:lpstr>
      <vt:lpstr>But how do you get these probabilities?</vt:lpstr>
      <vt:lpstr>Is this a hill or a crater?</vt:lpstr>
      <vt:lpstr>Videos worthy to watch</vt:lpstr>
      <vt:lpstr>PowerPoint Presentation</vt:lpstr>
      <vt:lpstr>Graphical Models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More than 2 random variables</vt:lpstr>
      <vt:lpstr>Interpretation</vt:lpstr>
      <vt:lpstr>More than 3 variables</vt:lpstr>
      <vt:lpstr>Probabilities and context</vt:lpstr>
      <vt:lpstr>Creating a chain (1/2)</vt:lpstr>
      <vt:lpstr>Creating a chain (2/2)</vt:lpstr>
      <vt:lpstr>Efficient representation of joint probabilities (1/5)</vt:lpstr>
      <vt:lpstr>Efficient representation of joint probabilities (2/5)</vt:lpstr>
      <vt:lpstr>Efficient representation of joint probabilities (3/5)</vt:lpstr>
      <vt:lpstr>Efficient representation of joint probabilities (4/5)</vt:lpstr>
      <vt:lpstr>Efficient representation of joint probabilities (5/5)</vt:lpstr>
      <vt:lpstr>Example: Frozen Lake </vt:lpstr>
      <vt:lpstr>PowerPoint Presentation</vt:lpstr>
      <vt:lpstr>PowerPoint Presentation</vt:lpstr>
      <vt:lpstr>PowerPoint Presentation</vt:lpstr>
      <vt:lpstr>PowerPoint Presentation</vt:lpstr>
      <vt:lpstr>PowerPoint Presentation</vt:lpstr>
      <vt:lpstr>PowerPoint Presentation</vt:lpstr>
      <vt:lpstr>It is your turn</vt:lpstr>
      <vt:lpstr>PowerPoint Presentation</vt:lpstr>
      <vt:lpstr>PowerPoint Presentation</vt:lpstr>
      <vt:lpstr>PowerPoint Presentation</vt:lpstr>
      <vt:lpstr>It is your turn</vt:lpstr>
      <vt:lpstr>Simpson's Paradox</vt:lpstr>
      <vt:lpstr>Simpson's Paradox</vt:lpstr>
      <vt:lpstr>Simpson's Paradox</vt:lpstr>
      <vt:lpstr>Correlation Vs. Causation</vt:lpstr>
      <vt:lpstr>PowerPoint Presentation</vt:lpstr>
      <vt:lpstr>PowerPoint Presentation</vt:lpstr>
      <vt:lpstr>PowerPoint Presentation</vt:lpstr>
      <vt:lpstr>Simpson's Paradox</vt:lpstr>
      <vt:lpstr>Simpson's Paradox</vt:lpstr>
      <vt:lpstr>PowerPoint Presentation</vt:lpstr>
      <vt:lpstr>PowerPoint Presentation</vt:lpstr>
      <vt:lpstr>PowerPoint Presentation</vt:lpstr>
      <vt:lpstr>PowerPoint Presentation</vt:lpstr>
      <vt:lpstr>PowerPoint Presentation</vt:lpstr>
      <vt:lpstr>Appendix</vt:lpstr>
      <vt:lpstr>Treatment Effect</vt:lpstr>
      <vt:lpstr>Data</vt:lpstr>
      <vt:lpstr>Observed pass rates</vt:lpstr>
      <vt:lpstr>We need a model to answer the question</vt:lpstr>
      <vt:lpstr>We also need prior distributions</vt:lpstr>
      <vt:lpstr>PowerPoint Presentation</vt:lpstr>
      <vt:lpstr>Hypothesis testing</vt:lpstr>
      <vt:lpstr>Frequentist hypothesis testing</vt:lpstr>
      <vt:lpstr>Homework:</vt:lpstr>
      <vt:lpstr>Appendix</vt:lpstr>
      <vt:lpstr>PowerPoint Presentation</vt:lpstr>
      <vt:lpstr>Catastrophes and Heavy Tail Distribution</vt:lpstr>
      <vt:lpstr>T-Distribution</vt:lpstr>
      <vt:lpstr>Small Note: Gamma Function</vt:lpstr>
      <vt:lpstr>For small sample size you often use t-distribution (The first 11 minutes)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Causality</dc:title>
  <dc:creator>Mossavat,Iman S.I.</dc:creator>
  <cp:lastModifiedBy>Mossavat,Iman S.I.</cp:lastModifiedBy>
  <cp:revision>14</cp:revision>
  <dcterms:created xsi:type="dcterms:W3CDTF">2023-10-25T10:50:08Z</dcterms:created>
  <dcterms:modified xsi:type="dcterms:W3CDTF">2026-09-24T12:45:06Z</dcterms:modified>
</cp:coreProperties>
</file>